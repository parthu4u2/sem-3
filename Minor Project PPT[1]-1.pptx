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46"/>
  </p:notesMasterIdLst>
  <p:sldIdLst>
    <p:sldId id="256" r:id="rId2"/>
    <p:sldId id="257" r:id="rId3"/>
    <p:sldId id="259" r:id="rId4"/>
    <p:sldId id="260" r:id="rId5"/>
    <p:sldId id="262" r:id="rId6"/>
    <p:sldId id="263" r:id="rId7"/>
    <p:sldId id="264" r:id="rId8"/>
    <p:sldId id="265" r:id="rId9"/>
    <p:sldId id="266" r:id="rId10"/>
    <p:sldId id="267" r:id="rId11"/>
    <p:sldId id="268" r:id="rId12"/>
    <p:sldId id="269" r:id="rId13"/>
    <p:sldId id="271" r:id="rId14"/>
    <p:sldId id="272" r:id="rId15"/>
    <p:sldId id="292" r:id="rId16"/>
    <p:sldId id="275" r:id="rId17"/>
    <p:sldId id="276" r:id="rId18"/>
    <p:sldId id="278" r:id="rId19"/>
    <p:sldId id="293" r:id="rId20"/>
    <p:sldId id="294" r:id="rId21"/>
    <p:sldId id="295" r:id="rId22"/>
    <p:sldId id="296" r:id="rId23"/>
    <p:sldId id="297" r:id="rId24"/>
    <p:sldId id="279" r:id="rId25"/>
    <p:sldId id="280" r:id="rId26"/>
    <p:sldId id="298" r:id="rId27"/>
    <p:sldId id="299" r:id="rId28"/>
    <p:sldId id="300" r:id="rId29"/>
    <p:sldId id="301" r:id="rId30"/>
    <p:sldId id="283" r:id="rId31"/>
    <p:sldId id="302" r:id="rId32"/>
    <p:sldId id="303" r:id="rId33"/>
    <p:sldId id="284" r:id="rId34"/>
    <p:sldId id="304" r:id="rId35"/>
    <p:sldId id="285" r:id="rId36"/>
    <p:sldId id="286" r:id="rId37"/>
    <p:sldId id="305" r:id="rId38"/>
    <p:sldId id="306" r:id="rId39"/>
    <p:sldId id="307" r:id="rId40"/>
    <p:sldId id="287" r:id="rId41"/>
    <p:sldId id="288" r:id="rId42"/>
    <p:sldId id="289" r:id="rId43"/>
    <p:sldId id="290" r:id="rId44"/>
    <p:sldId id="291"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71" autoAdjust="0"/>
    <p:restoredTop sz="94660"/>
  </p:normalViewPr>
  <p:slideViewPr>
    <p:cSldViewPr snapToGrid="0">
      <p:cViewPr varScale="1">
        <p:scale>
          <a:sx n="82" d="100"/>
          <a:sy n="82" d="100"/>
        </p:scale>
        <p:origin x="145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presProps" Target="presProps.xml" /><Relationship Id="rId50"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viewProps" Target="viewProps.xml" /><Relationship Id="rId8"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EC80C4-677A-4F54-AC67-C50708C2FC31}" type="datetimeFigureOut">
              <a:rPr lang="en-US" smtClean="0"/>
              <a:pPr/>
              <a:t>11/22/2025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7A0F62-844B-4132-81E1-2E689FBBFC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E67A0F62-844B-4132-81E1-2E689FBBFCC9}"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11/22/2025</a:t>
            </a:r>
          </a:p>
        </p:txBody>
      </p:sp>
      <p:sp>
        <p:nvSpPr>
          <p:cNvPr id="5" name="Footer Placeholder 4"/>
          <p:cNvSpPr>
            <a:spLocks noGrp="1"/>
          </p:cNvSpPr>
          <p:nvPr>
            <p:ph type="ftr" sz="quarter" idx="11"/>
          </p:nvPr>
        </p:nvSpPr>
        <p:spPr/>
        <p:txBody>
          <a:bodyPr/>
          <a:lstStyle/>
          <a:p>
            <a:r>
              <a:rPr lang="en-US"/>
              <a:t>ONLINE FOOD ORDERING</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5334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11/22/2025</a:t>
            </a:r>
          </a:p>
        </p:txBody>
      </p:sp>
      <p:sp>
        <p:nvSpPr>
          <p:cNvPr id="5" name="Footer Placeholder 4"/>
          <p:cNvSpPr>
            <a:spLocks noGrp="1"/>
          </p:cNvSpPr>
          <p:nvPr>
            <p:ph type="ftr" sz="quarter" idx="11"/>
          </p:nvPr>
        </p:nvSpPr>
        <p:spPr/>
        <p:txBody>
          <a:bodyPr/>
          <a:lstStyle/>
          <a:p>
            <a:r>
              <a:rPr lang="en-US"/>
              <a:t>ONLINE FOOD ORDERING</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3260487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11/22/2025</a:t>
            </a:r>
          </a:p>
        </p:txBody>
      </p:sp>
      <p:sp>
        <p:nvSpPr>
          <p:cNvPr id="5" name="Footer Placeholder 4"/>
          <p:cNvSpPr>
            <a:spLocks noGrp="1"/>
          </p:cNvSpPr>
          <p:nvPr>
            <p:ph type="ftr" sz="quarter" idx="11"/>
          </p:nvPr>
        </p:nvSpPr>
        <p:spPr/>
        <p:txBody>
          <a:bodyPr/>
          <a:lstStyle/>
          <a:p>
            <a:r>
              <a:rPr lang="en-US"/>
              <a:t>ONLINE FOOD ORDERING</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9394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5"/>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11/22/2025</a:t>
            </a:r>
          </a:p>
        </p:txBody>
      </p:sp>
      <p:sp>
        <p:nvSpPr>
          <p:cNvPr id="6" name="Footer Placeholder 5"/>
          <p:cNvSpPr>
            <a:spLocks noGrp="1"/>
          </p:cNvSpPr>
          <p:nvPr>
            <p:ph type="ftr" sz="quarter" idx="11"/>
          </p:nvPr>
        </p:nvSpPr>
        <p:spPr/>
        <p:txBody>
          <a:bodyPr/>
          <a:lstStyle/>
          <a:p>
            <a:r>
              <a:rPr lang="en-US"/>
              <a:t>ONLINE FOOD ORDERING</a:t>
            </a:r>
          </a:p>
        </p:txBody>
      </p:sp>
      <p:sp>
        <p:nvSpPr>
          <p:cNvPr id="7" name="Slide Number Placeholder 6"/>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246183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5"/>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11/22/2025</a:t>
            </a:r>
          </a:p>
        </p:txBody>
      </p:sp>
      <p:sp>
        <p:nvSpPr>
          <p:cNvPr id="8" name="Footer Placeholder 7"/>
          <p:cNvSpPr>
            <a:spLocks noGrp="1"/>
          </p:cNvSpPr>
          <p:nvPr>
            <p:ph type="ftr" sz="quarter" idx="11"/>
          </p:nvPr>
        </p:nvSpPr>
        <p:spPr/>
        <p:txBody>
          <a:bodyPr/>
          <a:lstStyle/>
          <a:p>
            <a:r>
              <a:rPr lang="en-US"/>
              <a:t>ONLINE FOOD ORDERING</a:t>
            </a:r>
          </a:p>
        </p:txBody>
      </p:sp>
      <p:sp>
        <p:nvSpPr>
          <p:cNvPr id="9" name="Slide Number Placeholder 8"/>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1214648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11/22/2025</a:t>
            </a:r>
          </a:p>
        </p:txBody>
      </p:sp>
      <p:sp>
        <p:nvSpPr>
          <p:cNvPr id="4" name="Footer Placeholder 3"/>
          <p:cNvSpPr>
            <a:spLocks noGrp="1"/>
          </p:cNvSpPr>
          <p:nvPr>
            <p:ph type="ftr" sz="quarter" idx="11"/>
          </p:nvPr>
        </p:nvSpPr>
        <p:spPr/>
        <p:txBody>
          <a:bodyPr/>
          <a:lstStyle/>
          <a:p>
            <a:r>
              <a:rPr lang="en-US"/>
              <a:t>ONLINE FOOD ORDERING</a:t>
            </a:r>
          </a:p>
        </p:txBody>
      </p:sp>
      <p:sp>
        <p:nvSpPr>
          <p:cNvPr id="5" name="Slide Number Placeholder 4"/>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392330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7" name="Date Placeholder 6"/>
          <p:cNvSpPr>
            <a:spLocks noGrp="1"/>
          </p:cNvSpPr>
          <p:nvPr>
            <p:ph type="dt" sz="half" idx="10"/>
          </p:nvPr>
        </p:nvSpPr>
        <p:spPr/>
        <p:txBody>
          <a:bodyPr/>
          <a:lstStyle/>
          <a:p>
            <a:r>
              <a:rPr lang="en-US"/>
              <a:t>11/22/2025</a:t>
            </a: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ONLINE FOOD ORDERING</a:t>
            </a:r>
          </a:p>
        </p:txBody>
      </p:sp>
      <p:sp>
        <p:nvSpPr>
          <p:cNvPr id="9" name="Slide Number Placeholder 8"/>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17799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r>
              <a:rPr lang="en-US"/>
              <a:t>11/22/2025</a:t>
            </a: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r>
              <a:rPr lang="en-US"/>
              <a:t>ONLINE FOOD ORDERING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615D92F5-C6BD-4770-B93B-CCC7110BADD0}" type="slidenum">
              <a:rPr lang="en-US" smtClean="0"/>
              <a:pPr/>
              <a:t>‹#›</a:t>
            </a:fld>
            <a:endParaRPr lang="en-US"/>
          </a:p>
        </p:txBody>
      </p:sp>
    </p:spTree>
    <p:extLst>
      <p:ext uri="{BB962C8B-B14F-4D97-AF65-F5344CB8AC3E}">
        <p14:creationId xmlns:p14="http://schemas.microsoft.com/office/powerpoint/2010/main" val="20518723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11/22/2025</a:t>
            </a:r>
          </a:p>
        </p:txBody>
      </p:sp>
      <p:sp>
        <p:nvSpPr>
          <p:cNvPr id="6" name="Footer Placeholder 5"/>
          <p:cNvSpPr>
            <a:spLocks noGrp="1"/>
          </p:cNvSpPr>
          <p:nvPr>
            <p:ph type="ftr" sz="quarter" idx="11"/>
          </p:nvPr>
        </p:nvSpPr>
        <p:spPr/>
        <p:txBody>
          <a:bodyPr/>
          <a:lstStyle/>
          <a:p>
            <a:r>
              <a:rPr lang="en-US"/>
              <a:t>ONLINE FOOD ORDERING</a:t>
            </a:r>
          </a:p>
        </p:txBody>
      </p:sp>
      <p:sp>
        <p:nvSpPr>
          <p:cNvPr id="7" name="Slide Number Placeholder 6"/>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008727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11/22/2025</a:t>
            </a:r>
          </a:p>
        </p:txBody>
      </p:sp>
      <p:sp>
        <p:nvSpPr>
          <p:cNvPr id="5" name="Footer Placeholder 4"/>
          <p:cNvSpPr>
            <a:spLocks noGrp="1"/>
          </p:cNvSpPr>
          <p:nvPr>
            <p:ph type="ftr" sz="quarter" idx="11"/>
          </p:nvPr>
        </p:nvSpPr>
        <p:spPr/>
        <p:txBody>
          <a:bodyPr/>
          <a:lstStyle/>
          <a:p>
            <a:r>
              <a:rPr lang="en-US"/>
              <a:t>ONLINE FOOD ORDERING</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2997399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11/22/2025</a:t>
            </a:r>
          </a:p>
        </p:txBody>
      </p:sp>
      <p:sp>
        <p:nvSpPr>
          <p:cNvPr id="5" name="Footer Placeholder 4"/>
          <p:cNvSpPr>
            <a:spLocks noGrp="1"/>
          </p:cNvSpPr>
          <p:nvPr>
            <p:ph type="ftr" sz="quarter" idx="11"/>
          </p:nvPr>
        </p:nvSpPr>
        <p:spPr/>
        <p:txBody>
          <a:bodyPr/>
          <a:lstStyle/>
          <a:p>
            <a:r>
              <a:rPr lang="en-US"/>
              <a:t>ONLINE FOOD ORDERING</a:t>
            </a:r>
          </a:p>
        </p:txBody>
      </p:sp>
      <p:sp>
        <p:nvSpPr>
          <p:cNvPr id="6" name="Slide Number Placeholder 5"/>
          <p:cNvSpPr>
            <a:spLocks noGrp="1"/>
          </p:cNvSpPr>
          <p:nvPr>
            <p:ph type="sldNum" sz="quarter" idx="12"/>
          </p:nvPr>
        </p:nvSpPr>
        <p:spPr/>
        <p:txBody>
          <a:bodyPr/>
          <a:lstStyle/>
          <a:p>
            <a:fld id="{615D92F5-C6BD-4770-B93B-CCC7110BADD0}" type="slidenum">
              <a:rPr lang="en-US" smtClean="0"/>
              <a:pPr/>
              <a:t>‹#›</a:t>
            </a:fld>
            <a:endParaRPr lang="en-US"/>
          </a:p>
        </p:txBody>
      </p:sp>
    </p:spTree>
    <p:extLst>
      <p:ext uri="{BB962C8B-B14F-4D97-AF65-F5344CB8AC3E}">
        <p14:creationId xmlns:p14="http://schemas.microsoft.com/office/powerpoint/2010/main" val="40968791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9" name="Rectangle 8"/>
          <p:cNvSpPr/>
          <p:nvPr/>
        </p:nvSpPr>
        <p:spPr>
          <a:xfrm>
            <a:off x="0" y="6334316"/>
            <a:ext cx="9144001"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r>
              <a:rPr lang="en-US"/>
              <a:t>11/22/2025</a:t>
            </a:r>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ONLINE FOOD ORDERING</a:t>
            </a: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615D92F5-C6BD-4770-B93B-CCC7110BADD0}"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3655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image" Target="../media/image4.jp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8.jp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10.jp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3" Type="http://schemas.openxmlformats.org/officeDocument/2006/relationships/hyperlink" Target="https://scikit-learn.org/" TargetMode="External" /><Relationship Id="rId2" Type="http://schemas.openxmlformats.org/officeDocument/2006/relationships/hyperlink" Target="https://flask.palletsprojects.com/" TargetMode="External" /><Relationship Id="rId1" Type="http://schemas.openxmlformats.org/officeDocument/2006/relationships/slideLayout" Target="../slideLayouts/slideLayout7.xml" /><Relationship Id="rId5" Type="http://schemas.openxmlformats.org/officeDocument/2006/relationships/hyperlink" Target="https://open.fda.gov/apis/" TargetMode="External" /><Relationship Id="rId4" Type="http://schemas.openxmlformats.org/officeDocument/2006/relationships/hyperlink" Target="https://pandas.pydata.org/" TargetMode="External" /></Relationships>
</file>

<file path=ppt/slides/_rels/slide43.xml.rels><?xml version="1.0" encoding="UTF-8" standalone="yes"?>
<Relationships xmlns="http://schemas.openxmlformats.org/package/2006/relationships"><Relationship Id="rId3" Type="http://schemas.openxmlformats.org/officeDocument/2006/relationships/hyperlink" Target="https://pythonhosted.org/Flask-Babel/" TargetMode="External" /><Relationship Id="rId2" Type="http://schemas.openxmlformats.org/officeDocument/2006/relationships/hyperlink" Target="https://geopy.readthedocs.io/" TargetMode="External"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401216" y="-83975"/>
            <a:ext cx="8556171" cy="1211048"/>
          </a:xfrm>
        </p:spPr>
        <p:txBody>
          <a:bodyPr>
            <a:noAutofit/>
          </a:bodyPr>
          <a:lstStyle/>
          <a:p>
            <a:pPr algn="ctr"/>
            <a:r>
              <a:rPr lang="en-IN" sz="3200" dirty="0" err="1"/>
              <a:t>Diagnoguide</a:t>
            </a:r>
            <a:r>
              <a:rPr lang="en-IN" sz="3200" dirty="0"/>
              <a:t>: AI-Powered Medical Diagnosis &amp; Guidance System </a:t>
            </a:r>
            <a:endParaRPr lang="en-US" sz="3200" b="1" dirty="0">
              <a:solidFill>
                <a:srgbClr val="0070C0"/>
              </a:solidFill>
              <a:latin typeface="Cambria" pitchFamily="18" charset="0"/>
              <a:cs typeface="BrowalliaUPC" pitchFamily="34" charset="-34"/>
            </a:endParaRPr>
          </a:p>
        </p:txBody>
      </p:sp>
      <p:sp>
        <p:nvSpPr>
          <p:cNvPr id="9" name="Rectangle 5"/>
          <p:cNvSpPr>
            <a:spLocks noChangeArrowheads="1"/>
          </p:cNvSpPr>
          <p:nvPr/>
        </p:nvSpPr>
        <p:spPr bwMode="auto">
          <a:xfrm>
            <a:off x="3850343" y="1938802"/>
            <a:ext cx="4706470" cy="104644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a:solidFill>
                  <a:srgbClr val="0070C0"/>
                </a:solidFill>
                <a:latin typeface="Cambria" pitchFamily="18" charset="0"/>
                <a:ea typeface="Calibri" pitchFamily="34" charset="0"/>
                <a:cs typeface="Microsoft Sans Serif" pitchFamily="34" charset="0"/>
              </a:rPr>
              <a:t>INTERNAL GUIDE</a:t>
            </a:r>
          </a:p>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a:solidFill>
                  <a:srgbClr val="0070C0"/>
                </a:solidFill>
                <a:latin typeface="Cambria" pitchFamily="18" charset="0"/>
                <a:ea typeface="Calibri" pitchFamily="34" charset="0"/>
                <a:cs typeface="Microsoft Sans Serif" pitchFamily="34" charset="0"/>
              </a:rPr>
              <a:t>Dr. Hina Chokshi</a:t>
            </a:r>
          </a:p>
          <a:p>
            <a:pPr marL="0" marR="0" lvl="0" indent="0" algn="ctr" defTabSz="914400" rtl="0" eaLnBrk="1" fontAlgn="base" latinLnBrk="0" hangingPunct="1">
              <a:lnSpc>
                <a:spcPct val="100000"/>
              </a:lnSpc>
              <a:spcBef>
                <a:spcPct val="0"/>
              </a:spcBef>
              <a:spcAft>
                <a:spcPct val="0"/>
              </a:spcAft>
              <a:buClrTx/>
              <a:buSzTx/>
              <a:buFontTx/>
              <a:buNone/>
              <a:tabLst/>
            </a:pPr>
            <a:endParaRPr lang="en-US" sz="2200" b="1" dirty="0">
              <a:solidFill>
                <a:srgbClr val="0070C0"/>
              </a:solidFill>
              <a:latin typeface="Cambria" pitchFamily="18" charset="0"/>
              <a:ea typeface="Calibri" pitchFamily="34" charset="0"/>
              <a:cs typeface="Microsoft Sans Serif" pitchFamily="34" charset="0"/>
            </a:endParaRPr>
          </a:p>
        </p:txBody>
      </p:sp>
      <p:sp>
        <p:nvSpPr>
          <p:cNvPr id="10" name="TextBox 9"/>
          <p:cNvSpPr txBox="1"/>
          <p:nvPr/>
        </p:nvSpPr>
        <p:spPr>
          <a:xfrm>
            <a:off x="3281082" y="4635327"/>
            <a:ext cx="5459505" cy="1384995"/>
          </a:xfrm>
          <a:prstGeom prst="rect">
            <a:avLst/>
          </a:prstGeom>
          <a:noFill/>
        </p:spPr>
        <p:txBody>
          <a:bodyPr wrap="square" rtlCol="0">
            <a:spAutoFit/>
          </a:bodyPr>
          <a:lstStyle/>
          <a:p>
            <a:r>
              <a:rPr lang="en-US" b="1" dirty="0">
                <a:latin typeface="Cambria" pitchFamily="18" charset="0"/>
              </a:rPr>
              <a:t>Submitted To:</a:t>
            </a:r>
            <a:endParaRPr lang="en-US" dirty="0">
              <a:latin typeface="Cambria" pitchFamily="18" charset="0"/>
            </a:endParaRPr>
          </a:p>
          <a:p>
            <a:r>
              <a:rPr lang="en-US" sz="2200" b="1" dirty="0">
                <a:solidFill>
                  <a:schemeClr val="tx1">
                    <a:lumMod val="95000"/>
                    <a:lumOff val="5000"/>
                  </a:schemeClr>
                </a:solidFill>
                <a:latin typeface="Cambria" pitchFamily="18" charset="0"/>
              </a:rPr>
              <a:t>Parul Institute Of Computer Application </a:t>
            </a:r>
          </a:p>
          <a:p>
            <a:r>
              <a:rPr lang="en-US" sz="2200" b="1" dirty="0">
                <a:solidFill>
                  <a:schemeClr val="tx1">
                    <a:lumMod val="95000"/>
                    <a:lumOff val="5000"/>
                  </a:schemeClr>
                </a:solidFill>
                <a:latin typeface="Cambria" pitchFamily="18" charset="0"/>
              </a:rPr>
              <a:t>Faculty of IT &amp; Computer Science,</a:t>
            </a:r>
          </a:p>
          <a:p>
            <a:r>
              <a:rPr lang="en-US" sz="2200" b="1" dirty="0">
                <a:solidFill>
                  <a:schemeClr val="tx1">
                    <a:lumMod val="95000"/>
                    <a:lumOff val="5000"/>
                  </a:schemeClr>
                </a:solidFill>
                <a:latin typeface="Cambria" pitchFamily="18" charset="0"/>
              </a:rPr>
              <a:t>PARUL University</a:t>
            </a:r>
            <a:endParaRPr lang="en-US" sz="2200" b="1" dirty="0">
              <a:solidFill>
                <a:schemeClr val="accent4">
                  <a:lumMod val="75000"/>
                </a:schemeClr>
              </a:solidFill>
              <a:latin typeface="Cambria" pitchFamily="18" charset="0"/>
            </a:endParaRPr>
          </a:p>
        </p:txBody>
      </p:sp>
      <p:pic>
        <p:nvPicPr>
          <p:cNvPr id="12" name="Picture 11" descr="C:\Users\HP\Desktop\pu.jpg"/>
          <p:cNvPicPr/>
          <p:nvPr/>
        </p:nvPicPr>
        <p:blipFill>
          <a:blip r:embed="rId2" cstate="print"/>
          <a:srcRect/>
          <a:stretch>
            <a:fillRect/>
          </a:stretch>
        </p:blipFill>
        <p:spPr bwMode="auto">
          <a:xfrm>
            <a:off x="895924" y="4554071"/>
            <a:ext cx="2447911" cy="1577788"/>
          </a:xfrm>
          <a:prstGeom prst="rect">
            <a:avLst/>
          </a:prstGeom>
          <a:noFill/>
          <a:ln w="9525">
            <a:noFill/>
            <a:miter lim="800000"/>
            <a:headEnd/>
            <a:tailEnd/>
          </a:ln>
        </p:spPr>
      </p:pic>
      <p:sp>
        <p:nvSpPr>
          <p:cNvPr id="13" name="Rectangle 1"/>
          <p:cNvSpPr>
            <a:spLocks noChangeArrowheads="1"/>
          </p:cNvSpPr>
          <p:nvPr/>
        </p:nvSpPr>
        <p:spPr bwMode="auto">
          <a:xfrm>
            <a:off x="1862007" y="2692854"/>
            <a:ext cx="4706471" cy="16927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457200" algn="ctr" defTabSz="914400" rtl="0" eaLnBrk="1" fontAlgn="base" latinLnBrk="0" hangingPunct="1">
              <a:spcBef>
                <a:spcPct val="0"/>
              </a:spcBef>
              <a:spcAft>
                <a:spcPct val="0"/>
              </a:spcAft>
              <a:buClrTx/>
              <a:buSzTx/>
              <a:buFontTx/>
              <a:buNone/>
              <a:tabLst/>
            </a:pP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Developed By</a:t>
            </a:r>
          </a:p>
          <a:p>
            <a:pPr lvl="0" indent="457200" algn="ctr" fontAlgn="base">
              <a:spcBef>
                <a:spcPct val="0"/>
              </a:spcBef>
              <a:spcAft>
                <a:spcPct val="0"/>
              </a:spcAft>
            </a:pPr>
            <a:r>
              <a:rPr lang="en-US" sz="2200" b="1" dirty="0">
                <a:solidFill>
                  <a:srgbClr val="0070C0"/>
                </a:solidFill>
                <a:latin typeface="Cambria" pitchFamily="18" charset="0"/>
                <a:ea typeface="Calibri" pitchFamily="34" charset="0"/>
                <a:cs typeface="Microsoft Sans Serif" pitchFamily="34" charset="0"/>
              </a:rPr>
              <a:t>Vidhi Patel (2405102120007)</a:t>
            </a:r>
          </a:p>
          <a:p>
            <a:pPr lvl="0" indent="457200" algn="ctr" fontAlgn="base">
              <a:spcBef>
                <a:spcPct val="0"/>
              </a:spcBef>
              <a:spcAft>
                <a:spcPct val="0"/>
              </a:spcAft>
            </a:pPr>
            <a:r>
              <a:rPr lang="en-US" sz="2200" b="1" dirty="0">
                <a:solidFill>
                  <a:srgbClr val="0070C0"/>
                </a:solidFill>
                <a:latin typeface="Cambria" pitchFamily="18" charset="0"/>
                <a:ea typeface="Calibri" pitchFamily="34" charset="0"/>
                <a:cs typeface="Microsoft Sans Serif" pitchFamily="34" charset="0"/>
              </a:rPr>
              <a:t>Parth Patel</a:t>
            </a:r>
            <a:r>
              <a:rPr kumimoji="0" lang="en-US" sz="2200" b="1" u="none" strike="noStrike" cap="none" normalizeH="0" baseline="0" dirty="0">
                <a:ln>
                  <a:noFill/>
                </a:ln>
                <a:solidFill>
                  <a:srgbClr val="0070C0"/>
                </a:solidFill>
                <a:effectLst/>
                <a:latin typeface="Cambria" pitchFamily="18" charset="0"/>
                <a:ea typeface="Calibri" pitchFamily="34" charset="0"/>
                <a:cs typeface="Microsoft Sans Serif" pitchFamily="34" charset="0"/>
              </a:rPr>
              <a:t>(2405102120006)</a:t>
            </a:r>
            <a:endParaRPr kumimoji="0" lang="en-US" sz="2200" b="0" u="none" strike="noStrike" cap="none" normalizeH="0" baseline="0" dirty="0">
              <a:ln>
                <a:noFill/>
              </a:ln>
              <a:solidFill>
                <a:schemeClr val="tx1"/>
              </a:solidFill>
              <a:effectLst/>
              <a:latin typeface="Cambria" pitchFamily="18" charset="0"/>
              <a:cs typeface="Arial" pitchFamily="34" charset="0"/>
            </a:endParaRPr>
          </a:p>
          <a:p>
            <a:pPr indent="457200" algn="ctr" eaLnBrk="0" fontAlgn="base" hangingPunct="0">
              <a:spcBef>
                <a:spcPct val="0"/>
              </a:spcBef>
              <a:spcAft>
                <a:spcPct val="0"/>
              </a:spcAft>
            </a:pPr>
            <a:r>
              <a:rPr lang="en-US" sz="2000" b="1" dirty="0">
                <a:solidFill>
                  <a:srgbClr val="0070C0"/>
                </a:solidFill>
                <a:latin typeface="Cambria" pitchFamily="18" charset="0"/>
                <a:ea typeface="Calibri" pitchFamily="34" charset="0"/>
                <a:cs typeface="Microsoft Sans Serif" pitchFamily="34" charset="0"/>
              </a:rPr>
              <a:t>Divy Parekh(2405102120005)</a:t>
            </a:r>
            <a:endParaRPr lang="en-US" sz="2000" dirty="0">
              <a:latin typeface="Cambria" pitchFamily="18" charset="0"/>
              <a:cs typeface="Arial" pitchFamily="34"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1F497D"/>
                </a:solidFill>
                <a:effectLst/>
                <a:latin typeface="Cambria" pitchFamily="18" charset="0"/>
                <a:ea typeface="Calibri" pitchFamily="34" charset="0"/>
                <a:cs typeface="Microsoft Sans Serif" pitchFamily="34" charset="0"/>
              </a:rPr>
              <a:t>    	</a:t>
            </a:r>
            <a:endParaRPr kumimoji="0" lang="en-US" sz="1900" b="1" i="0" u="none" strike="noStrike" cap="none" normalizeH="0" baseline="0" dirty="0">
              <a:ln>
                <a:noFill/>
              </a:ln>
              <a:solidFill>
                <a:schemeClr val="tx1"/>
              </a:solidFill>
              <a:effectLst/>
              <a:latin typeface="Cambria" pitchFamily="18" charset="0"/>
              <a:cs typeface="Arial" pitchFamily="34" charset="0"/>
            </a:endParaRPr>
          </a:p>
        </p:txBody>
      </p:sp>
      <p:sp>
        <p:nvSpPr>
          <p:cNvPr id="3" name="TextBox 2">
            <a:extLst>
              <a:ext uri="{FF2B5EF4-FFF2-40B4-BE49-F238E27FC236}">
                <a16:creationId xmlns:a16="http://schemas.microsoft.com/office/drawing/2014/main" id="{B0E5DA05-2AFC-BB05-15CA-7A7FC14AC4C3}"/>
              </a:ext>
            </a:extLst>
          </p:cNvPr>
          <p:cNvSpPr txBox="1"/>
          <p:nvPr/>
        </p:nvSpPr>
        <p:spPr>
          <a:xfrm>
            <a:off x="322729" y="1961885"/>
            <a:ext cx="4572000" cy="707886"/>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2000" b="1" dirty="0">
                <a:solidFill>
                  <a:srgbClr val="0070C0"/>
                </a:solidFill>
                <a:latin typeface="Cambria" pitchFamily="18" charset="0"/>
                <a:ea typeface="Calibri" pitchFamily="34" charset="0"/>
                <a:cs typeface="Microsoft Sans Serif" pitchFamily="34" charset="0"/>
              </a:rPr>
              <a:t>External Guide</a:t>
            </a:r>
          </a:p>
          <a:p>
            <a:pPr algn="ctr" fontAlgn="base">
              <a:spcBef>
                <a:spcPct val="0"/>
              </a:spcBef>
              <a:spcAft>
                <a:spcPct val="0"/>
              </a:spcAft>
            </a:pPr>
            <a:r>
              <a:rPr lang="en-US" sz="2000" b="1" dirty="0">
                <a:solidFill>
                  <a:srgbClr val="0070C0"/>
                </a:solidFill>
                <a:latin typeface="Cambria" pitchFamily="18" charset="0"/>
                <a:ea typeface="Calibri" pitchFamily="34" charset="0"/>
                <a:cs typeface="Microsoft Sans Serif" pitchFamily="34" charset="0"/>
              </a:rPr>
              <a:t>Prof. Faculty Name</a:t>
            </a:r>
          </a:p>
        </p:txBody>
      </p:sp>
      <p:sp>
        <p:nvSpPr>
          <p:cNvPr id="6" name="TextBox 5">
            <a:extLst>
              <a:ext uri="{FF2B5EF4-FFF2-40B4-BE49-F238E27FC236}">
                <a16:creationId xmlns:a16="http://schemas.microsoft.com/office/drawing/2014/main" id="{0F006926-38A2-EC8D-DC17-3B153D723375}"/>
              </a:ext>
            </a:extLst>
          </p:cNvPr>
          <p:cNvSpPr txBox="1"/>
          <p:nvPr/>
        </p:nvSpPr>
        <p:spPr>
          <a:xfrm>
            <a:off x="2286000" y="1238610"/>
            <a:ext cx="4572000" cy="369332"/>
          </a:xfrm>
          <a:prstGeom prst="rect">
            <a:avLst/>
          </a:prstGeom>
          <a:noFill/>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lang="en-US" sz="1800" b="1" dirty="0">
                <a:solidFill>
                  <a:srgbClr val="0070C0"/>
                </a:solidFill>
                <a:latin typeface="Cambria" pitchFamily="18" charset="0"/>
                <a:ea typeface="Calibri" pitchFamily="34" charset="0"/>
                <a:cs typeface="Microsoft Sans Serif" pitchFamily="34" charset="0"/>
              </a:rPr>
              <a:t>Under</a:t>
            </a: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 </a:t>
            </a:r>
            <a:r>
              <a:rPr lang="en-US" sz="1800" b="1" dirty="0">
                <a:solidFill>
                  <a:srgbClr val="0070C0"/>
                </a:solidFill>
                <a:latin typeface="Cambria" pitchFamily="18" charset="0"/>
                <a:ea typeface="Calibri" pitchFamily="34" charset="0"/>
                <a:cs typeface="Microsoft Sans Serif" pitchFamily="34" charset="0"/>
              </a:rPr>
              <a:t>The</a:t>
            </a:r>
            <a:r>
              <a:rPr kumimoji="0" lang="en-US" b="1" u="none" strike="noStrike" cap="none" normalizeH="0" baseline="0" dirty="0">
                <a:ln>
                  <a:noFill/>
                </a:ln>
                <a:solidFill>
                  <a:schemeClr val="tx1"/>
                </a:solidFill>
                <a:effectLst/>
                <a:latin typeface="Cambria" pitchFamily="18" charset="0"/>
                <a:ea typeface="Calibri" pitchFamily="34" charset="0"/>
                <a:cs typeface="Microsoft Sans Serif" pitchFamily="34" charset="0"/>
              </a:rPr>
              <a:t> </a:t>
            </a:r>
            <a:r>
              <a:rPr lang="en-US" sz="1800" b="1" dirty="0">
                <a:solidFill>
                  <a:srgbClr val="0070C0"/>
                </a:solidFill>
                <a:latin typeface="Cambria" pitchFamily="18" charset="0"/>
                <a:ea typeface="Calibri" pitchFamily="34" charset="0"/>
                <a:cs typeface="Microsoft Sans Serif" pitchFamily="34" charset="0"/>
              </a:rPr>
              <a:t>Guidance Of</a:t>
            </a:r>
          </a:p>
        </p:txBody>
      </p:sp>
    </p:spTree>
    <p:extLst>
      <p:ext uri="{BB962C8B-B14F-4D97-AF65-F5344CB8AC3E}">
        <p14:creationId xmlns:p14="http://schemas.microsoft.com/office/powerpoint/2010/main" val="300849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15D92F5-C6BD-4770-B93B-CCC7110BADD0}" type="slidenum">
              <a:rPr lang="en-US" smtClean="0"/>
              <a:pPr/>
              <a:t>2</a:t>
            </a:fld>
            <a:endParaRPr lang="en-US" dirty="0"/>
          </a:p>
        </p:txBody>
      </p:sp>
      <p:sp>
        <p:nvSpPr>
          <p:cNvPr id="7" name="TextBox 6"/>
          <p:cNvSpPr txBox="1"/>
          <p:nvPr/>
        </p:nvSpPr>
        <p:spPr>
          <a:xfrm>
            <a:off x="439271" y="349624"/>
            <a:ext cx="8283388" cy="584775"/>
          </a:xfrm>
          <a:prstGeom prst="rect">
            <a:avLst/>
          </a:prstGeom>
          <a:noFill/>
        </p:spPr>
        <p:txBody>
          <a:bodyPr wrap="square" rtlCol="0">
            <a:spAutoFit/>
          </a:bodyPr>
          <a:lstStyle/>
          <a:p>
            <a:r>
              <a:rPr lang="en-US" sz="3200" b="1" dirty="0"/>
              <a:t>2. About Department of M.Sc.IT</a:t>
            </a:r>
          </a:p>
        </p:txBody>
      </p:sp>
      <p:sp>
        <p:nvSpPr>
          <p:cNvPr id="8" name="TextBox 7"/>
          <p:cNvSpPr txBox="1"/>
          <p:nvPr/>
        </p:nvSpPr>
        <p:spPr>
          <a:xfrm>
            <a:off x="439266" y="1147504"/>
            <a:ext cx="8283388" cy="4031873"/>
          </a:xfrm>
          <a:prstGeom prst="rect">
            <a:avLst/>
          </a:prstGeom>
          <a:noFill/>
        </p:spPr>
        <p:txBody>
          <a:bodyPr wrap="square" rtlCol="0">
            <a:spAutoFit/>
          </a:bodyPr>
          <a:lstStyle/>
          <a:p>
            <a:pPr algn="just"/>
            <a:r>
              <a:rPr lang="en-IN" dirty="0"/>
              <a:t>	The Department of Master of Computer Application and Master of Science in Information Technology at Parul University emphasizes on building professionals in the domain of computer applications by providing necessary environment by means of facilitating suitable blend of technical and non-technical learning experience. The department cultivates students in various curricular, co-curricular and extra-curricular activities in order to produce future system analysts, system designers, system programmers, application programmers, testing professionals, system managers, project managers, researchers and other leading positions in systems/IT department. </a:t>
            </a:r>
          </a:p>
          <a:p>
            <a:endParaRPr lang="en-US" sz="2200" dirty="0"/>
          </a:p>
          <a:p>
            <a:pPr algn="just"/>
            <a:r>
              <a:rPr lang="en-IN" dirty="0"/>
              <a:t> 	The department of MCA and M.Sc. (IT) focuses on project-based learning, and hence students are motivated to work on tiny hands-on projects in practical oriented subjects to get better exposure. Moreover, throughout their MCA studies, students are required to work on around 3 mini/major projects in individual/team to get enough confidence on software-development and thereby become industry-ready. </a:t>
            </a:r>
            <a:endParaRPr lang="en-US" sz="2200" dirty="0"/>
          </a:p>
        </p:txBody>
      </p:sp>
      <p:sp>
        <p:nvSpPr>
          <p:cNvPr id="9" name="Footer Placeholder 8"/>
          <p:cNvSpPr>
            <a:spLocks noGrp="1"/>
          </p:cNvSpPr>
          <p:nvPr>
            <p:ph type="ftr" sz="quarter" idx="11"/>
          </p:nvPr>
        </p:nvSpPr>
        <p:spPr>
          <a:xfrm>
            <a:off x="2080727" y="6459786"/>
            <a:ext cx="4767942" cy="365125"/>
          </a:xfrm>
        </p:spPr>
        <p:txBody>
          <a:bodyPr/>
          <a:lstStyle/>
          <a:p>
            <a:r>
              <a:rPr lang="en-IN" dirty="0" err="1"/>
              <a:t>Diagnoguide</a:t>
            </a:r>
            <a:r>
              <a:rPr lang="en-IN" dirty="0"/>
              <a:t>: AI-Powered Medical Diagnosis &amp; Guidance System </a:t>
            </a:r>
            <a:endParaRPr lang="en-US" dirty="0"/>
          </a:p>
        </p:txBody>
      </p:sp>
      <p:sp>
        <p:nvSpPr>
          <p:cNvPr id="2" name="Date Placeholder 1">
            <a:extLst>
              <a:ext uri="{FF2B5EF4-FFF2-40B4-BE49-F238E27FC236}">
                <a16:creationId xmlns:a16="http://schemas.microsoft.com/office/drawing/2014/main" id="{6DCAF435-FCCA-FF45-1360-D82A87FAC8A0}"/>
              </a:ext>
            </a:extLst>
          </p:cNvPr>
          <p:cNvSpPr>
            <a:spLocks noGrp="1"/>
          </p:cNvSpPr>
          <p:nvPr>
            <p:ph type="dt" sz="half" idx="10"/>
          </p:nvPr>
        </p:nvSpPr>
        <p:spPr/>
        <p:txBody>
          <a:bodyPr/>
          <a:lstStyle/>
          <a:p>
            <a:r>
              <a:rPr lang="en-US"/>
              <a:t>11/22/2025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E68BC-3C81-A6B8-114A-0BE4977B172D}"/>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30F7D021-8301-671D-E2A9-3B0F364BB6E5}"/>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18165CFD-CCDC-1BCA-E7C5-357C20EDFA5B}"/>
              </a:ext>
            </a:extLst>
          </p:cNvPr>
          <p:cNvSpPr>
            <a:spLocks noGrp="1"/>
          </p:cNvSpPr>
          <p:nvPr>
            <p:ph type="sldNum" sz="quarter" idx="12"/>
          </p:nvPr>
        </p:nvSpPr>
        <p:spPr/>
        <p:txBody>
          <a:bodyPr/>
          <a:lstStyle/>
          <a:p>
            <a:fld id="{615D92F5-C6BD-4770-B93B-CCC7110BADD0}" type="slidenum">
              <a:rPr lang="en-US" smtClean="0"/>
              <a:pPr/>
              <a:t>3</a:t>
            </a:fld>
            <a:endParaRPr lang="en-US"/>
          </a:p>
        </p:txBody>
      </p:sp>
      <p:sp>
        <p:nvSpPr>
          <p:cNvPr id="7" name="TextBox 6">
            <a:extLst>
              <a:ext uri="{FF2B5EF4-FFF2-40B4-BE49-F238E27FC236}">
                <a16:creationId xmlns:a16="http://schemas.microsoft.com/office/drawing/2014/main" id="{B1944D54-4094-2F97-31A0-885A5CD036A7}"/>
              </a:ext>
            </a:extLst>
          </p:cNvPr>
          <p:cNvSpPr txBox="1"/>
          <p:nvPr/>
        </p:nvSpPr>
        <p:spPr>
          <a:xfrm>
            <a:off x="439271" y="349624"/>
            <a:ext cx="8283388" cy="584775"/>
          </a:xfrm>
          <a:prstGeom prst="rect">
            <a:avLst/>
          </a:prstGeom>
          <a:noFill/>
        </p:spPr>
        <p:txBody>
          <a:bodyPr wrap="square" rtlCol="0">
            <a:spAutoFit/>
          </a:bodyPr>
          <a:lstStyle/>
          <a:p>
            <a:r>
              <a:rPr lang="en-US" sz="3200" b="1" dirty="0"/>
              <a:t>3. Project Profile</a:t>
            </a:r>
          </a:p>
        </p:txBody>
      </p:sp>
      <p:sp>
        <p:nvSpPr>
          <p:cNvPr id="9" name="TextBox 8">
            <a:extLst>
              <a:ext uri="{FF2B5EF4-FFF2-40B4-BE49-F238E27FC236}">
                <a16:creationId xmlns:a16="http://schemas.microsoft.com/office/drawing/2014/main" id="{DF80627F-56BE-0A0B-B40A-2CA7F9181886}"/>
              </a:ext>
            </a:extLst>
          </p:cNvPr>
          <p:cNvSpPr txBox="1"/>
          <p:nvPr/>
        </p:nvSpPr>
        <p:spPr>
          <a:xfrm>
            <a:off x="439266" y="1147504"/>
            <a:ext cx="8283388" cy="4524315"/>
          </a:xfrm>
          <a:prstGeom prst="rect">
            <a:avLst/>
          </a:prstGeom>
          <a:noFill/>
        </p:spPr>
        <p:txBody>
          <a:bodyPr wrap="square" rtlCol="0">
            <a:spAutoFit/>
          </a:bodyPr>
          <a:lstStyle/>
          <a:p>
            <a:pPr algn="just"/>
            <a:r>
              <a:rPr lang="en-IN" b="1" dirty="0"/>
              <a:t>3.1 Project Definition </a:t>
            </a:r>
          </a:p>
          <a:p>
            <a:pPr algn="just"/>
            <a:r>
              <a:rPr lang="en-US" dirty="0"/>
              <a:t>The project is a web-based multilingual Disease Prediction System where users enter symptoms to get accurate AI-based disease predictions. It provides medical guidance, suggested medications, and a downloadable digital prescription. The system also uses Google Maps to show nearby hospitals, making it easy for users to get quick medical help. The goal is to offer a simple, accessible tool for early diagnosis and timely treatment</a:t>
            </a:r>
            <a:r>
              <a:rPr lang="en-IN" dirty="0"/>
              <a:t>timely treatment.</a:t>
            </a:r>
          </a:p>
          <a:p>
            <a:pPr algn="just"/>
            <a:endParaRPr lang="en-IN" b="1" dirty="0"/>
          </a:p>
          <a:p>
            <a:pPr algn="just"/>
            <a:r>
              <a:rPr lang="en-IN" b="1" dirty="0"/>
              <a:t>3.2 Project Description</a:t>
            </a:r>
          </a:p>
          <a:p>
            <a:pPr algn="just"/>
            <a:r>
              <a:rPr lang="en-US" dirty="0"/>
              <a:t>The project is a web-based, multilingual Disease Prediction System that identifies possible diseases based on user-entered symptoms using machine learning models. After predicting the condition, the system provides essential medical guidance, basic medication suggestions with a safety disclaimer, and generates a downloadable PDF prescription. It also integrates Google Maps to help users locate nearby hospitals or clinics for quick medical assistance. The multilingual interface ensures accessibility for users from diverse linguistic backgrounds</a:t>
            </a:r>
            <a:endParaRPr lang="en-IN" dirty="0"/>
          </a:p>
        </p:txBody>
      </p:sp>
    </p:spTree>
    <p:extLst>
      <p:ext uri="{BB962C8B-B14F-4D97-AF65-F5344CB8AC3E}">
        <p14:creationId xmlns:p14="http://schemas.microsoft.com/office/powerpoint/2010/main" val="2596172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D364B8-DDF0-AD3A-834B-8759F4C7641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08DF1BC8-8B4D-944D-0C6B-2A8C3F323662}"/>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3883F5AB-9FBD-6ECA-2178-DD28DC277BF6}"/>
              </a:ext>
            </a:extLst>
          </p:cNvPr>
          <p:cNvSpPr>
            <a:spLocks noGrp="1"/>
          </p:cNvSpPr>
          <p:nvPr>
            <p:ph type="sldNum" sz="quarter" idx="12"/>
          </p:nvPr>
        </p:nvSpPr>
        <p:spPr/>
        <p:txBody>
          <a:bodyPr/>
          <a:lstStyle/>
          <a:p>
            <a:fld id="{615D92F5-C6BD-4770-B93B-CCC7110BADD0}" type="slidenum">
              <a:rPr lang="en-US" smtClean="0"/>
              <a:pPr/>
              <a:t>4</a:t>
            </a:fld>
            <a:endParaRPr lang="en-US"/>
          </a:p>
        </p:txBody>
      </p:sp>
      <p:sp>
        <p:nvSpPr>
          <p:cNvPr id="6" name="TextBox 5">
            <a:extLst>
              <a:ext uri="{FF2B5EF4-FFF2-40B4-BE49-F238E27FC236}">
                <a16:creationId xmlns:a16="http://schemas.microsoft.com/office/drawing/2014/main" id="{5FF80653-2B2C-443E-BC37-ED04D38568D9}"/>
              </a:ext>
            </a:extLst>
          </p:cNvPr>
          <p:cNvSpPr txBox="1"/>
          <p:nvPr/>
        </p:nvSpPr>
        <p:spPr>
          <a:xfrm>
            <a:off x="439271" y="349624"/>
            <a:ext cx="8283388" cy="584775"/>
          </a:xfrm>
          <a:prstGeom prst="rect">
            <a:avLst/>
          </a:prstGeom>
          <a:noFill/>
        </p:spPr>
        <p:txBody>
          <a:bodyPr wrap="square" rtlCol="0">
            <a:spAutoFit/>
          </a:bodyPr>
          <a:lstStyle/>
          <a:p>
            <a:r>
              <a:rPr lang="en-US" sz="3200" b="1" dirty="0"/>
              <a:t>3. Project Profile</a:t>
            </a:r>
          </a:p>
        </p:txBody>
      </p:sp>
      <p:sp>
        <p:nvSpPr>
          <p:cNvPr id="14" name="Rectangle 5">
            <a:extLst>
              <a:ext uri="{FF2B5EF4-FFF2-40B4-BE49-F238E27FC236}">
                <a16:creationId xmlns:a16="http://schemas.microsoft.com/office/drawing/2014/main" id="{E28F27A2-6A60-9090-C681-5F34AD1C1385}"/>
              </a:ext>
            </a:extLst>
          </p:cNvPr>
          <p:cNvSpPr>
            <a:spLocks noChangeArrowheads="1"/>
          </p:cNvSpPr>
          <p:nvPr/>
        </p:nvSpPr>
        <p:spPr bwMode="auto">
          <a:xfrm>
            <a:off x="439271" y="1461036"/>
            <a:ext cx="815171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t>3.3 Scope </a:t>
            </a:r>
          </a:p>
          <a:p>
            <a:pPr algn="just"/>
            <a:r>
              <a:rPr lang="en-US" dirty="0"/>
              <a:t>This is a globally accessible web application that works on any internet-enabled device through a responsive interface. It is designed for individuals seeking quick, preliminary health advice, allowing them to check symptoms and get instant guidance at any time.</a:t>
            </a:r>
          </a:p>
          <a:p>
            <a:endParaRPr lang="en-IN" b="1" dirty="0"/>
          </a:p>
          <a:p>
            <a:r>
              <a:rPr lang="en-IN" b="1" dirty="0"/>
              <a:t>3.4 Objectives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To predict possible diseases based on user-entered symptoms.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To offer quick and accessible preliminary medical guidance.</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To provide basic medication suggestions with safety disclaimers.</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To help users locate nearby hospitals through Google Maps integration.</a:t>
            </a:r>
          </a:p>
          <a:p>
            <a:pPr marL="742950" lvl="1" indent="-285750" algn="just" eaLnBrk="0" fontAlgn="base" hangingPunct="0">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latin typeface="Arial" panose="020B0604020202020204" pitchFamily="34" charset="0"/>
              </a:rPr>
              <a:t> </a:t>
            </a:r>
            <a:r>
              <a:rPr lang="en-US" dirty="0"/>
              <a:t>To generate a downloadable digital prescription for user reference.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2146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57FE46-B7A6-8E04-25B2-F72C22B66C3E}"/>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E2C52D7E-596C-F626-18B0-66E4714C3006}"/>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D7C613AC-6799-D096-9C13-868009C922DF}"/>
              </a:ext>
            </a:extLst>
          </p:cNvPr>
          <p:cNvSpPr>
            <a:spLocks noGrp="1"/>
          </p:cNvSpPr>
          <p:nvPr>
            <p:ph type="sldNum" sz="quarter" idx="12"/>
          </p:nvPr>
        </p:nvSpPr>
        <p:spPr/>
        <p:txBody>
          <a:bodyPr/>
          <a:lstStyle/>
          <a:p>
            <a:fld id="{615D92F5-C6BD-4770-B93B-CCC7110BADD0}" type="slidenum">
              <a:rPr lang="en-US" smtClean="0"/>
              <a:pPr/>
              <a:t>5</a:t>
            </a:fld>
            <a:endParaRPr lang="en-US"/>
          </a:p>
        </p:txBody>
      </p:sp>
      <p:sp>
        <p:nvSpPr>
          <p:cNvPr id="5" name="TextBox 4">
            <a:extLst>
              <a:ext uri="{FF2B5EF4-FFF2-40B4-BE49-F238E27FC236}">
                <a16:creationId xmlns:a16="http://schemas.microsoft.com/office/drawing/2014/main" id="{11B59F34-DA01-B111-241E-30A756B8B53B}"/>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4. Existing System &amp; Problem</a:t>
            </a:r>
          </a:p>
        </p:txBody>
      </p:sp>
      <p:sp>
        <p:nvSpPr>
          <p:cNvPr id="6" name="Rectangle 5">
            <a:extLst>
              <a:ext uri="{FF2B5EF4-FFF2-40B4-BE49-F238E27FC236}">
                <a16:creationId xmlns:a16="http://schemas.microsoft.com/office/drawing/2014/main" id="{08F69804-41B8-DEE5-E9A9-135904256515}"/>
              </a:ext>
            </a:extLst>
          </p:cNvPr>
          <p:cNvSpPr>
            <a:spLocks noChangeArrowheads="1"/>
          </p:cNvSpPr>
          <p:nvPr/>
        </p:nvSpPr>
        <p:spPr bwMode="auto">
          <a:xfrm>
            <a:off x="439271" y="1154594"/>
            <a:ext cx="815171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4.1 Current Issues </a:t>
            </a:r>
          </a:p>
          <a:p>
            <a:endParaRPr lang="en-IN" b="1" dirty="0"/>
          </a:p>
          <a:p>
            <a:pPr marL="285750" indent="-285750">
              <a:buFont typeface="Arial" panose="020B0604020202020204" pitchFamily="34" charset="0"/>
              <a:buChar char="•"/>
            </a:pPr>
            <a:r>
              <a:rPr lang="en-US" dirty="0"/>
              <a:t>Lack of centralized platform for early disease prediction</a:t>
            </a:r>
          </a:p>
          <a:p>
            <a:pPr marL="285750" indent="-285750">
              <a:buFont typeface="Arial" panose="020B0604020202020204" pitchFamily="34" charset="0"/>
              <a:buChar char="•"/>
            </a:pPr>
            <a:r>
              <a:rPr lang="en-US" dirty="0"/>
              <a:t>Existing systems lack accuracy &amp; personalization</a:t>
            </a:r>
          </a:p>
          <a:p>
            <a:pPr marL="285750" indent="-285750">
              <a:buFont typeface="Arial" panose="020B0604020202020204" pitchFamily="34" charset="0"/>
              <a:buChar char="•"/>
            </a:pPr>
            <a:r>
              <a:rPr lang="en-US" dirty="0"/>
              <a:t>Users face information overload while searching online</a:t>
            </a:r>
          </a:p>
          <a:p>
            <a:pPr marL="285750" indent="-285750">
              <a:buFont typeface="Arial" panose="020B0604020202020204" pitchFamily="34" charset="0"/>
              <a:buChar char="•"/>
            </a:pPr>
            <a:r>
              <a:rPr lang="en-US" dirty="0"/>
              <a:t>Limited multilingual solutions for rural users</a:t>
            </a:r>
          </a:p>
          <a:p>
            <a:pPr lvl="0" fontAlgn="base"/>
            <a:endParaRPr lang="en-IN" dirty="0"/>
          </a:p>
          <a:p>
            <a:r>
              <a:rPr lang="en-IN" b="1" dirty="0"/>
              <a:t>4.2 Need for New System </a:t>
            </a:r>
          </a:p>
          <a:p>
            <a:endParaRPr lang="en-IN" b="1" dirty="0"/>
          </a:p>
          <a:p>
            <a:pPr marL="285750" indent="-285750">
              <a:buFont typeface="Arial" panose="020B0604020202020204" pitchFamily="34" charset="0"/>
              <a:buChar char="•"/>
            </a:pPr>
            <a:r>
              <a:rPr lang="en-US" dirty="0"/>
              <a:t>AI‑driven predictions improve accuracy</a:t>
            </a:r>
          </a:p>
          <a:p>
            <a:pPr marL="285750" indent="-285750">
              <a:buFont typeface="Arial" panose="020B0604020202020204" pitchFamily="34" charset="0"/>
              <a:buChar char="•"/>
            </a:pPr>
            <a:r>
              <a:rPr lang="en-US" dirty="0"/>
              <a:t>Provides quick preliminary guidance</a:t>
            </a:r>
          </a:p>
          <a:p>
            <a:pPr marL="285750" indent="-285750">
              <a:buFont typeface="Arial" panose="020B0604020202020204" pitchFamily="34" charset="0"/>
              <a:buChar char="•"/>
            </a:pPr>
            <a:r>
              <a:rPr lang="en-US" dirty="0"/>
              <a:t>Multilingual accessibility for wider audience</a:t>
            </a:r>
          </a:p>
          <a:p>
            <a:pPr marL="285750" indent="-285750">
              <a:buFont typeface="Arial" panose="020B0604020202020204" pitchFamily="34" charset="0"/>
              <a:buChar char="•"/>
            </a:pPr>
            <a:r>
              <a:rPr lang="en-US" dirty="0"/>
              <a:t>Hospitals locator helps in emergency situations</a:t>
            </a:r>
          </a:p>
          <a:p>
            <a:pPr marL="285750" indent="-285750">
              <a:buFont typeface="Arial" panose="020B0604020202020204" pitchFamily="34" charset="0"/>
              <a:buChar char="•"/>
            </a:pPr>
            <a:r>
              <a:rPr lang="en-US" dirty="0"/>
              <a:t>Improves self‑awareness &amp; early medical action</a:t>
            </a:r>
            <a:r>
              <a:rPr lang="en-IN" dirty="0"/>
              <a:t>. </a:t>
            </a:r>
          </a:p>
        </p:txBody>
      </p:sp>
    </p:spTree>
    <p:extLst>
      <p:ext uri="{BB962C8B-B14F-4D97-AF65-F5344CB8AC3E}">
        <p14:creationId xmlns:p14="http://schemas.microsoft.com/office/powerpoint/2010/main" val="12977444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A1FD7B-496E-E273-EA2F-B037928842F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C2FF53F3-1BBD-4BAE-AF16-EF71F00A8EC5}"/>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3A9DB79D-66A6-4CE2-CF33-73AE7BFCEE37}"/>
              </a:ext>
            </a:extLst>
          </p:cNvPr>
          <p:cNvSpPr>
            <a:spLocks noGrp="1"/>
          </p:cNvSpPr>
          <p:nvPr>
            <p:ph type="sldNum" sz="quarter" idx="12"/>
          </p:nvPr>
        </p:nvSpPr>
        <p:spPr/>
        <p:txBody>
          <a:bodyPr/>
          <a:lstStyle/>
          <a:p>
            <a:fld id="{615D92F5-C6BD-4770-B93B-CCC7110BADD0}" type="slidenum">
              <a:rPr lang="en-US" smtClean="0"/>
              <a:pPr/>
              <a:t>6</a:t>
            </a:fld>
            <a:endParaRPr lang="en-US"/>
          </a:p>
        </p:txBody>
      </p:sp>
      <p:sp>
        <p:nvSpPr>
          <p:cNvPr id="5" name="TextBox 4">
            <a:extLst>
              <a:ext uri="{FF2B5EF4-FFF2-40B4-BE49-F238E27FC236}">
                <a16:creationId xmlns:a16="http://schemas.microsoft.com/office/drawing/2014/main" id="{83FF8F75-6C3F-F964-1AE1-40E72C1508E6}"/>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5. Proposed System</a:t>
            </a:r>
          </a:p>
        </p:txBody>
      </p:sp>
      <p:sp>
        <p:nvSpPr>
          <p:cNvPr id="6" name="Rectangle 5">
            <a:extLst>
              <a:ext uri="{FF2B5EF4-FFF2-40B4-BE49-F238E27FC236}">
                <a16:creationId xmlns:a16="http://schemas.microsoft.com/office/drawing/2014/main" id="{A7992A15-EBC2-161A-57B6-EC7CD76BBAA5}"/>
              </a:ext>
            </a:extLst>
          </p:cNvPr>
          <p:cNvSpPr>
            <a:spLocks noChangeArrowheads="1"/>
          </p:cNvSpPr>
          <p:nvPr/>
        </p:nvSpPr>
        <p:spPr bwMode="auto">
          <a:xfrm>
            <a:off x="421341" y="934399"/>
            <a:ext cx="815171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r>
              <a:rPr lang="en-IN" b="1" dirty="0"/>
              <a:t>5.1 Features </a:t>
            </a:r>
          </a:p>
          <a:p>
            <a:pPr marL="285750" indent="-285750">
              <a:buFont typeface="Arial" panose="020B0604020202020204" pitchFamily="34" charset="0"/>
              <a:buChar char="•"/>
            </a:pPr>
            <a:r>
              <a:rPr lang="en-US" dirty="0"/>
              <a:t>ML-based disease prediction</a:t>
            </a:r>
          </a:p>
          <a:p>
            <a:pPr marL="285750" indent="-285750">
              <a:buFont typeface="Arial" panose="020B0604020202020204" pitchFamily="34" charset="0"/>
              <a:buChar char="•"/>
            </a:pPr>
            <a:r>
              <a:rPr lang="en-US" dirty="0"/>
              <a:t>Multilingual support</a:t>
            </a:r>
          </a:p>
          <a:p>
            <a:pPr marL="285750" indent="-285750">
              <a:buFont typeface="Arial" panose="020B0604020202020204" pitchFamily="34" charset="0"/>
              <a:buChar char="•"/>
            </a:pPr>
            <a:r>
              <a:rPr lang="en-US" dirty="0"/>
              <a:t>Basic medical guidance</a:t>
            </a:r>
          </a:p>
          <a:p>
            <a:pPr marL="285750" indent="-285750">
              <a:buFont typeface="Arial" panose="020B0604020202020204" pitchFamily="34" charset="0"/>
              <a:buChar char="•"/>
            </a:pPr>
            <a:r>
              <a:rPr lang="en-US" dirty="0"/>
              <a:t>Medication suggestions</a:t>
            </a:r>
          </a:p>
          <a:p>
            <a:pPr marL="285750" indent="-285750">
              <a:buFont typeface="Arial" panose="020B0604020202020204" pitchFamily="34" charset="0"/>
              <a:buChar char="•"/>
            </a:pPr>
            <a:r>
              <a:rPr lang="en-US" dirty="0"/>
              <a:t>PDF prescription download</a:t>
            </a:r>
          </a:p>
          <a:p>
            <a:pPr marL="285750" indent="-285750">
              <a:buFont typeface="Arial" panose="020B0604020202020204" pitchFamily="34" charset="0"/>
              <a:buChar char="•"/>
            </a:pPr>
            <a:r>
              <a:rPr lang="en-US" dirty="0"/>
              <a:t>Nearby hospital locator</a:t>
            </a:r>
          </a:p>
          <a:p>
            <a:pPr marL="285750" indent="-285750">
              <a:buFont typeface="Arial" panose="020B0604020202020204" pitchFamily="34" charset="0"/>
              <a:buChar char="•"/>
            </a:pPr>
            <a:r>
              <a:rPr lang="en-US" dirty="0"/>
              <a:t>Responsive, user-friendly interface</a:t>
            </a:r>
          </a:p>
        </p:txBody>
      </p:sp>
      <p:sp>
        <p:nvSpPr>
          <p:cNvPr id="32" name="Rectangle 31">
            <a:extLst>
              <a:ext uri="{FF2B5EF4-FFF2-40B4-BE49-F238E27FC236}">
                <a16:creationId xmlns:a16="http://schemas.microsoft.com/office/drawing/2014/main" id="{5E3C683A-ACCB-9C71-350B-9C8A5BA62D45}"/>
              </a:ext>
            </a:extLst>
          </p:cNvPr>
          <p:cNvSpPr>
            <a:spLocks noChangeArrowheads="1"/>
          </p:cNvSpPr>
          <p:nvPr/>
        </p:nvSpPr>
        <p:spPr bwMode="auto">
          <a:xfrm>
            <a:off x="421341" y="3140435"/>
            <a:ext cx="8151712" cy="2957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lnSpc>
                <a:spcPct val="150000"/>
              </a:lnSpc>
            </a:pPr>
            <a:r>
              <a:rPr lang="en-IN" b="1" dirty="0"/>
              <a:t>5.2 Outcomes</a:t>
            </a:r>
          </a:p>
          <a:p>
            <a:pPr marL="285750" lvl="0" indent="-285750" fontAlgn="base">
              <a:lnSpc>
                <a:spcPct val="150000"/>
              </a:lnSpc>
              <a:buFont typeface="Arial" panose="020B0604020202020204" pitchFamily="34" charset="0"/>
              <a:buChar char="•"/>
            </a:pPr>
            <a:r>
              <a:rPr lang="en-US" dirty="0"/>
              <a:t>Quick preliminary disease assessment for users</a:t>
            </a:r>
          </a:p>
          <a:p>
            <a:pPr marL="285750" lvl="0" indent="-285750" fontAlgn="base">
              <a:lnSpc>
                <a:spcPct val="150000"/>
              </a:lnSpc>
              <a:buFont typeface="Arial" panose="020B0604020202020204" pitchFamily="34" charset="0"/>
              <a:buChar char="•"/>
            </a:pPr>
            <a:r>
              <a:rPr lang="en-US" dirty="0"/>
              <a:t>Improved accessibility through multilingual support</a:t>
            </a:r>
          </a:p>
          <a:p>
            <a:pPr marL="285750" lvl="0" indent="-285750" fontAlgn="base">
              <a:lnSpc>
                <a:spcPct val="150000"/>
              </a:lnSpc>
              <a:buFont typeface="Arial" panose="020B0604020202020204" pitchFamily="34" charset="0"/>
              <a:buChar char="•"/>
            </a:pPr>
            <a:r>
              <a:rPr lang="en-US" dirty="0"/>
              <a:t>Faster decision-making with instant medical guidance</a:t>
            </a:r>
          </a:p>
          <a:p>
            <a:pPr marL="285750" lvl="0" indent="-285750" fontAlgn="base">
              <a:lnSpc>
                <a:spcPct val="150000"/>
              </a:lnSpc>
              <a:buFont typeface="Arial" panose="020B0604020202020204" pitchFamily="34" charset="0"/>
              <a:buChar char="•"/>
            </a:pPr>
            <a:r>
              <a:rPr lang="en-US" dirty="0"/>
              <a:t>Easy access to nearby hospitals for timely help</a:t>
            </a:r>
          </a:p>
          <a:p>
            <a:pPr marL="285750" lvl="0" indent="-285750" fontAlgn="base">
              <a:lnSpc>
                <a:spcPct val="150000"/>
              </a:lnSpc>
              <a:buFont typeface="Arial" panose="020B0604020202020204" pitchFamily="34" charset="0"/>
              <a:buChar char="•"/>
            </a:pPr>
            <a:r>
              <a:rPr lang="en-IN" dirty="0"/>
              <a:t>Convenient downloadable digital prescription</a:t>
            </a:r>
          </a:p>
          <a:p>
            <a:pPr marL="285750" lvl="0" indent="-285750" fontAlgn="base">
              <a:lnSpc>
                <a:spcPct val="150000"/>
              </a:lnSpc>
              <a:buFont typeface="Arial" panose="020B0604020202020204" pitchFamily="34" charset="0"/>
              <a:buChar char="•"/>
            </a:pPr>
            <a:r>
              <a:rPr lang="en-US" dirty="0"/>
              <a:t>Enhanced user awareness about symptoms and health conditions</a:t>
            </a:r>
            <a:endParaRPr lang="en-IN" b="1" dirty="0"/>
          </a:p>
        </p:txBody>
      </p:sp>
    </p:spTree>
    <p:extLst>
      <p:ext uri="{BB962C8B-B14F-4D97-AF65-F5344CB8AC3E}">
        <p14:creationId xmlns:p14="http://schemas.microsoft.com/office/powerpoint/2010/main" val="1578020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2BE247-A9A8-8822-0976-7F080D3C3876}"/>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DEAE7368-5D71-32C6-2A16-BB57BBB43B72}"/>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A48F1D1A-CB75-CD69-609C-B64CDA57D8BD}"/>
              </a:ext>
            </a:extLst>
          </p:cNvPr>
          <p:cNvSpPr>
            <a:spLocks noGrp="1"/>
          </p:cNvSpPr>
          <p:nvPr>
            <p:ph type="sldNum" sz="quarter" idx="12"/>
          </p:nvPr>
        </p:nvSpPr>
        <p:spPr/>
        <p:txBody>
          <a:bodyPr/>
          <a:lstStyle/>
          <a:p>
            <a:fld id="{615D92F5-C6BD-4770-B93B-CCC7110BADD0}" type="slidenum">
              <a:rPr lang="en-US" smtClean="0"/>
              <a:pPr/>
              <a:t>7</a:t>
            </a:fld>
            <a:endParaRPr lang="en-US"/>
          </a:p>
        </p:txBody>
      </p:sp>
      <p:sp>
        <p:nvSpPr>
          <p:cNvPr id="6" name="TextBox 5">
            <a:extLst>
              <a:ext uri="{FF2B5EF4-FFF2-40B4-BE49-F238E27FC236}">
                <a16:creationId xmlns:a16="http://schemas.microsoft.com/office/drawing/2014/main" id="{693EC8E0-B0E0-E226-C1B9-643BF57D0E6C}"/>
              </a:ext>
            </a:extLst>
          </p:cNvPr>
          <p:cNvSpPr txBox="1"/>
          <p:nvPr/>
        </p:nvSpPr>
        <p:spPr>
          <a:xfrm>
            <a:off x="439271" y="349624"/>
            <a:ext cx="8283388" cy="1354217"/>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Proposed System</a:t>
            </a:r>
          </a:p>
          <a:p>
            <a:pPr fontAlgn="ctr">
              <a:buNone/>
            </a:pPr>
            <a:endParaRPr lang="en-IN" sz="3200" b="1" dirty="0">
              <a:solidFill>
                <a:srgbClr val="000000"/>
              </a:solidFill>
              <a:latin typeface="Calibri" panose="020F0502020204030204" pitchFamily="34" charset="0"/>
            </a:endParaRPr>
          </a:p>
          <a:p>
            <a:pPr fontAlgn="ctr">
              <a:buNone/>
            </a:pPr>
            <a:r>
              <a:rPr lang="en-IN" b="1" dirty="0">
                <a:solidFill>
                  <a:srgbClr val="000000"/>
                </a:solidFill>
                <a:latin typeface="Calibri" panose="020F0502020204030204" pitchFamily="34" charset="0"/>
              </a:rPr>
              <a:t>    5.3 Project Plan</a:t>
            </a:r>
          </a:p>
        </p:txBody>
      </p:sp>
      <p:graphicFrame>
        <p:nvGraphicFramePr>
          <p:cNvPr id="71" name="Table 70">
            <a:extLst>
              <a:ext uri="{FF2B5EF4-FFF2-40B4-BE49-F238E27FC236}">
                <a16:creationId xmlns:a16="http://schemas.microsoft.com/office/drawing/2014/main" id="{31D84DCB-933C-6CDD-FFEF-DC8AA034DADC}"/>
              </a:ext>
            </a:extLst>
          </p:cNvPr>
          <p:cNvGraphicFramePr>
            <a:graphicFrameLocks noGrp="1"/>
          </p:cNvGraphicFramePr>
          <p:nvPr>
            <p:extLst>
              <p:ext uri="{D42A27DB-BD31-4B8C-83A1-F6EECF244321}">
                <p14:modId xmlns:p14="http://schemas.microsoft.com/office/powerpoint/2010/main" val="2115035507"/>
              </p:ext>
            </p:extLst>
          </p:nvPr>
        </p:nvGraphicFramePr>
        <p:xfrm>
          <a:off x="1026367" y="1866121"/>
          <a:ext cx="5924939" cy="3965511"/>
        </p:xfrm>
        <a:graphic>
          <a:graphicData uri="http://schemas.openxmlformats.org/drawingml/2006/table">
            <a:tbl>
              <a:tblPr firstRow="1" firstCol="1" bandRow="1">
                <a:tableStyleId>{5C22544A-7EE6-4342-B048-85BDC9FD1C3A}</a:tableStyleId>
              </a:tblPr>
              <a:tblGrid>
                <a:gridCol w="3661697">
                  <a:extLst>
                    <a:ext uri="{9D8B030D-6E8A-4147-A177-3AD203B41FA5}">
                      <a16:colId xmlns:a16="http://schemas.microsoft.com/office/drawing/2014/main" val="2788565091"/>
                    </a:ext>
                  </a:extLst>
                </a:gridCol>
                <a:gridCol w="2263242">
                  <a:extLst>
                    <a:ext uri="{9D8B030D-6E8A-4147-A177-3AD203B41FA5}">
                      <a16:colId xmlns:a16="http://schemas.microsoft.com/office/drawing/2014/main" val="278602804"/>
                    </a:ext>
                  </a:extLst>
                </a:gridCol>
              </a:tblGrid>
              <a:tr h="455779">
                <a:tc>
                  <a:txBody>
                    <a:bodyPr/>
                    <a:lstStyle/>
                    <a:p>
                      <a:pPr marR="13335" algn="ctr">
                        <a:lnSpc>
                          <a:spcPct val="107000"/>
                        </a:lnSpc>
                        <a:spcAft>
                          <a:spcPts val="800"/>
                        </a:spcAft>
                        <a:buNone/>
                      </a:pPr>
                      <a:r>
                        <a:rPr lang="en-IN" sz="1800" dirty="0">
                          <a:effectLst/>
                        </a:rPr>
                        <a:t>Task </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a:lnSpc>
                          <a:spcPct val="107000"/>
                        </a:lnSpc>
                        <a:spcAft>
                          <a:spcPts val="800"/>
                        </a:spcAft>
                        <a:buNone/>
                        <a:tabLst>
                          <a:tab pos="799465" algn="ctr"/>
                        </a:tabLst>
                      </a:pPr>
                      <a:r>
                        <a:rPr lang="en-IN" sz="1800">
                          <a:effectLst/>
                        </a:rPr>
                        <a:t> 	Planned Dates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3968080593"/>
                  </a:ext>
                </a:extLst>
              </a:tr>
              <a:tr h="452309">
                <a:tc>
                  <a:txBody>
                    <a:bodyPr/>
                    <a:lstStyle/>
                    <a:p>
                      <a:pPr>
                        <a:lnSpc>
                          <a:spcPct val="107000"/>
                        </a:lnSpc>
                        <a:spcAft>
                          <a:spcPts val="800"/>
                        </a:spcAft>
                        <a:buNone/>
                      </a:pPr>
                      <a:r>
                        <a:rPr lang="en-IN" sz="1800">
                          <a:effectLst/>
                        </a:rPr>
                        <a:t>Project Definition &amp; Approval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nSpc>
                          <a:spcPct val="107000"/>
                        </a:lnSpc>
                        <a:spcAft>
                          <a:spcPts val="800"/>
                        </a:spcAft>
                        <a:buNone/>
                      </a:pPr>
                      <a:r>
                        <a:rPr lang="en-IN" sz="1800">
                          <a:effectLst/>
                        </a:rPr>
                        <a:t> 19</a:t>
                      </a:r>
                      <a:r>
                        <a:rPr lang="en-IN" sz="1800" baseline="30000">
                          <a:effectLst/>
                        </a:rPr>
                        <a:t>th</a:t>
                      </a:r>
                      <a:r>
                        <a:rPr lang="en-IN" sz="1800">
                          <a:effectLst/>
                        </a:rPr>
                        <a:t> July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771955862"/>
                  </a:ext>
                </a:extLst>
              </a:tr>
              <a:tr h="455779">
                <a:tc>
                  <a:txBody>
                    <a:bodyPr/>
                    <a:lstStyle/>
                    <a:p>
                      <a:pPr>
                        <a:lnSpc>
                          <a:spcPct val="107000"/>
                        </a:lnSpc>
                        <a:spcAft>
                          <a:spcPts val="800"/>
                        </a:spcAft>
                        <a:buNone/>
                      </a:pPr>
                      <a:r>
                        <a:rPr lang="en-IN" sz="1800">
                          <a:effectLst/>
                        </a:rPr>
                        <a:t>Project Profile Submission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nSpc>
                          <a:spcPct val="107000"/>
                        </a:lnSpc>
                        <a:spcAft>
                          <a:spcPts val="800"/>
                        </a:spcAft>
                        <a:buNone/>
                      </a:pPr>
                      <a:r>
                        <a:rPr lang="en-IN" sz="1800" dirty="0">
                          <a:effectLst/>
                        </a:rPr>
                        <a:t> 19</a:t>
                      </a:r>
                      <a:r>
                        <a:rPr lang="en-IN" sz="1800" baseline="30000" dirty="0">
                          <a:effectLst/>
                        </a:rPr>
                        <a:t>th </a:t>
                      </a:r>
                      <a:r>
                        <a:rPr lang="en-IN" sz="1800" dirty="0">
                          <a:effectLst/>
                        </a:rPr>
                        <a:t>July </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1534196701"/>
                  </a:ext>
                </a:extLst>
              </a:tr>
              <a:tr h="452309">
                <a:tc>
                  <a:txBody>
                    <a:bodyPr/>
                    <a:lstStyle/>
                    <a:p>
                      <a:pPr>
                        <a:lnSpc>
                          <a:spcPct val="107000"/>
                        </a:lnSpc>
                        <a:spcAft>
                          <a:spcPts val="800"/>
                        </a:spcAft>
                        <a:buNone/>
                      </a:pPr>
                      <a:r>
                        <a:rPr lang="en-IN" sz="1800">
                          <a:effectLst/>
                        </a:rPr>
                        <a:t>Requirement Analysis &amp; Design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nSpc>
                          <a:spcPct val="107000"/>
                        </a:lnSpc>
                        <a:spcAft>
                          <a:spcPts val="800"/>
                        </a:spcAft>
                        <a:buNone/>
                      </a:pPr>
                      <a:r>
                        <a:rPr lang="en-IN" sz="1800" dirty="0">
                          <a:effectLst/>
                        </a:rPr>
                        <a:t> 18</a:t>
                      </a:r>
                      <a:r>
                        <a:rPr lang="en-IN" sz="1800" baseline="30000" dirty="0">
                          <a:effectLst/>
                        </a:rPr>
                        <a:t>th</a:t>
                      </a:r>
                      <a:r>
                        <a:rPr lang="en-IN" sz="1800" dirty="0">
                          <a:effectLst/>
                        </a:rPr>
                        <a:t> August </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1265811337"/>
                  </a:ext>
                </a:extLst>
              </a:tr>
              <a:tr h="788938">
                <a:tc>
                  <a:txBody>
                    <a:bodyPr/>
                    <a:lstStyle/>
                    <a:p>
                      <a:pPr>
                        <a:lnSpc>
                          <a:spcPct val="107000"/>
                        </a:lnSpc>
                        <a:spcAft>
                          <a:spcPts val="800"/>
                        </a:spcAft>
                        <a:buNone/>
                      </a:pPr>
                      <a:r>
                        <a:rPr lang="en-IN" sz="1800">
                          <a:effectLst/>
                        </a:rPr>
                        <a:t>Implementation &amp; UI Development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gn="just">
                        <a:lnSpc>
                          <a:spcPct val="107000"/>
                        </a:lnSpc>
                        <a:spcAft>
                          <a:spcPts val="800"/>
                        </a:spcAft>
                        <a:buNone/>
                      </a:pPr>
                      <a:r>
                        <a:rPr lang="en-IN" sz="1800">
                          <a:effectLst/>
                        </a:rPr>
                        <a:t> 18</a:t>
                      </a:r>
                      <a:r>
                        <a:rPr lang="en-IN" sz="1800" baseline="30000">
                          <a:effectLst/>
                        </a:rPr>
                        <a:t>th</a:t>
                      </a:r>
                      <a:r>
                        <a:rPr lang="en-IN" sz="1800">
                          <a:effectLst/>
                        </a:rPr>
                        <a:t>-23</a:t>
                      </a:r>
                      <a:r>
                        <a:rPr lang="en-IN" sz="1800" baseline="30000">
                          <a:effectLst/>
                        </a:rPr>
                        <a:t>rd</a:t>
                      </a:r>
                      <a:r>
                        <a:rPr lang="en-IN" sz="1800">
                          <a:effectLst/>
                        </a:rPr>
                        <a:t> Aug 2025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nchor="ctr"/>
                </a:tc>
                <a:extLst>
                  <a:ext uri="{0D108BD9-81ED-4DB2-BD59-A6C34878D82A}">
                    <a16:rowId xmlns:a16="http://schemas.microsoft.com/office/drawing/2014/main" val="2709174272"/>
                  </a:ext>
                </a:extLst>
              </a:tr>
              <a:tr h="452309">
                <a:tc>
                  <a:txBody>
                    <a:bodyPr/>
                    <a:lstStyle/>
                    <a:p>
                      <a:pPr>
                        <a:lnSpc>
                          <a:spcPct val="107000"/>
                        </a:lnSpc>
                        <a:spcAft>
                          <a:spcPts val="800"/>
                        </a:spcAft>
                        <a:buNone/>
                      </a:pPr>
                      <a:r>
                        <a:rPr lang="en-IN" sz="1800">
                          <a:effectLst/>
                        </a:rPr>
                        <a:t>Backend &amp; Database Integration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gn="just">
                        <a:lnSpc>
                          <a:spcPct val="107000"/>
                        </a:lnSpc>
                        <a:spcAft>
                          <a:spcPts val="800"/>
                        </a:spcAft>
                        <a:buNone/>
                      </a:pPr>
                      <a:r>
                        <a:rPr lang="en-IN" sz="1800" dirty="0">
                          <a:effectLst/>
                        </a:rPr>
                        <a:t> 23</a:t>
                      </a:r>
                      <a:r>
                        <a:rPr lang="en-IN" sz="1800" baseline="30000" dirty="0">
                          <a:effectLst/>
                        </a:rPr>
                        <a:t>rd</a:t>
                      </a:r>
                      <a:r>
                        <a:rPr lang="en-IN" sz="1800" dirty="0">
                          <a:effectLst/>
                        </a:rPr>
                        <a:t> – 25</a:t>
                      </a:r>
                      <a:r>
                        <a:rPr lang="en-IN" sz="1800" baseline="30000" dirty="0">
                          <a:effectLst/>
                        </a:rPr>
                        <a:t>th</a:t>
                      </a:r>
                      <a:r>
                        <a:rPr lang="en-IN" sz="1800" dirty="0">
                          <a:effectLst/>
                        </a:rPr>
                        <a:t> Aug 2025</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1699896410"/>
                  </a:ext>
                </a:extLst>
              </a:tr>
              <a:tr h="491639">
                <a:tc>
                  <a:txBody>
                    <a:bodyPr/>
                    <a:lstStyle/>
                    <a:p>
                      <a:pPr>
                        <a:lnSpc>
                          <a:spcPct val="107000"/>
                        </a:lnSpc>
                        <a:spcAft>
                          <a:spcPts val="800"/>
                        </a:spcAft>
                        <a:buNone/>
                      </a:pPr>
                      <a:r>
                        <a:rPr lang="en-IN" sz="1800">
                          <a:effectLst/>
                        </a:rPr>
                        <a:t>Testing &amp; Debugging </a:t>
                      </a:r>
                      <a:endParaRPr lang="en-IN"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nSpc>
                          <a:spcPct val="107000"/>
                        </a:lnSpc>
                        <a:spcAft>
                          <a:spcPts val="800"/>
                        </a:spcAft>
                        <a:buNone/>
                      </a:pPr>
                      <a:r>
                        <a:rPr lang="en-IN" sz="1800" dirty="0">
                          <a:effectLst/>
                        </a:rPr>
                        <a:t>27</a:t>
                      </a:r>
                      <a:r>
                        <a:rPr lang="en-IN" sz="1800" baseline="30000" dirty="0">
                          <a:effectLst/>
                        </a:rPr>
                        <a:t>th</a:t>
                      </a:r>
                      <a:r>
                        <a:rPr lang="en-IN" sz="1800" dirty="0">
                          <a:effectLst/>
                        </a:rPr>
                        <a:t> Aug 2025 </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2670666056"/>
                  </a:ext>
                </a:extLst>
              </a:tr>
              <a:tr h="416449">
                <a:tc>
                  <a:txBody>
                    <a:bodyPr/>
                    <a:lstStyle/>
                    <a:p>
                      <a:pPr>
                        <a:lnSpc>
                          <a:spcPct val="107000"/>
                        </a:lnSpc>
                        <a:spcAft>
                          <a:spcPts val="800"/>
                        </a:spcAft>
                        <a:buNone/>
                      </a:pPr>
                      <a:r>
                        <a:rPr lang="en-IN" sz="1800" dirty="0">
                          <a:effectLst/>
                        </a:rPr>
                        <a:t>Final Report, PPT, Submission </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tc>
                  <a:txBody>
                    <a:bodyPr/>
                    <a:lstStyle/>
                    <a:p>
                      <a:pPr marL="12700">
                        <a:lnSpc>
                          <a:spcPct val="107000"/>
                        </a:lnSpc>
                        <a:spcAft>
                          <a:spcPts val="800"/>
                        </a:spcAft>
                        <a:buNone/>
                      </a:pPr>
                      <a:r>
                        <a:rPr lang="en-IN" sz="1800" dirty="0">
                          <a:effectLst/>
                        </a:rPr>
                        <a:t> 27</a:t>
                      </a:r>
                      <a:r>
                        <a:rPr lang="en-IN" sz="1800" baseline="30000" dirty="0">
                          <a:effectLst/>
                        </a:rPr>
                        <a:t>th</a:t>
                      </a:r>
                      <a:r>
                        <a:rPr lang="en-IN" sz="1800" dirty="0">
                          <a:effectLst/>
                        </a:rPr>
                        <a:t> Aug 2025 </a:t>
                      </a:r>
                      <a:endParaRPr lang="en-IN"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65" marR="12065" marT="50800" marB="0"/>
                </a:tc>
                <a:extLst>
                  <a:ext uri="{0D108BD9-81ED-4DB2-BD59-A6C34878D82A}">
                    <a16:rowId xmlns:a16="http://schemas.microsoft.com/office/drawing/2014/main" val="570185433"/>
                  </a:ext>
                </a:extLst>
              </a:tr>
            </a:tbl>
          </a:graphicData>
        </a:graphic>
      </p:graphicFrame>
    </p:spTree>
    <p:extLst>
      <p:ext uri="{BB962C8B-B14F-4D97-AF65-F5344CB8AC3E}">
        <p14:creationId xmlns:p14="http://schemas.microsoft.com/office/powerpoint/2010/main" val="98204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F906CD-6137-4C3A-CA78-B0A120B02141}"/>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283155D5-B1BB-2F36-AA8C-ED65969F3732}"/>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BF727518-E461-FE5C-B573-EF99F337E881}"/>
              </a:ext>
            </a:extLst>
          </p:cNvPr>
          <p:cNvSpPr>
            <a:spLocks noGrp="1"/>
          </p:cNvSpPr>
          <p:nvPr>
            <p:ph type="sldNum" sz="quarter" idx="12"/>
          </p:nvPr>
        </p:nvSpPr>
        <p:spPr/>
        <p:txBody>
          <a:bodyPr/>
          <a:lstStyle/>
          <a:p>
            <a:fld id="{615D92F5-C6BD-4770-B93B-CCC7110BADD0}" type="slidenum">
              <a:rPr lang="en-US" smtClean="0"/>
              <a:pPr/>
              <a:t>8</a:t>
            </a:fld>
            <a:endParaRPr lang="en-US"/>
          </a:p>
        </p:txBody>
      </p:sp>
      <p:sp>
        <p:nvSpPr>
          <p:cNvPr id="5" name="Rectangle 4">
            <a:extLst>
              <a:ext uri="{FF2B5EF4-FFF2-40B4-BE49-F238E27FC236}">
                <a16:creationId xmlns:a16="http://schemas.microsoft.com/office/drawing/2014/main" id="{602CDF1D-8A9C-71B1-A103-23D87AA69714}"/>
              </a:ext>
            </a:extLst>
          </p:cNvPr>
          <p:cNvSpPr>
            <a:spLocks noChangeArrowheads="1"/>
          </p:cNvSpPr>
          <p:nvPr/>
        </p:nvSpPr>
        <p:spPr bwMode="auto">
          <a:xfrm>
            <a:off x="439271" y="1166842"/>
            <a:ext cx="81517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6.1 Hardware Requirements</a:t>
            </a:r>
          </a:p>
          <a:p>
            <a:r>
              <a:rPr lang="en-IN" b="1" dirty="0"/>
              <a:t> </a:t>
            </a:r>
          </a:p>
          <a:p>
            <a:r>
              <a:rPr lang="en-IN" b="1" dirty="0"/>
              <a:t>Client-Side:</a:t>
            </a:r>
            <a:endParaRPr lang="en-IN" dirty="0"/>
          </a:p>
          <a:p>
            <a:pPr marL="285750" indent="-285750">
              <a:buFont typeface="Arial" panose="020B0604020202020204" pitchFamily="34" charset="0"/>
              <a:buChar char="•"/>
            </a:pPr>
            <a:r>
              <a:rPr lang="en-IN" dirty="0"/>
              <a:t>Any device with a modern web browser</a:t>
            </a:r>
          </a:p>
          <a:p>
            <a:pPr marL="285750" indent="-285750">
              <a:buFont typeface="Arial" panose="020B0604020202020204" pitchFamily="34" charset="0"/>
              <a:buChar char="•"/>
            </a:pPr>
            <a:r>
              <a:rPr lang="en-IN" dirty="0"/>
              <a:t>Min 2.0 GHz Dual-Core CPU, 2 GB RAM (Recommended: 4 GB)</a:t>
            </a:r>
          </a:p>
          <a:p>
            <a:pPr marL="285750" indent="-285750">
              <a:buFont typeface="Arial" panose="020B0604020202020204" pitchFamily="34" charset="0"/>
              <a:buChar char="•"/>
            </a:pPr>
            <a:r>
              <a:rPr lang="en-IN" dirty="0"/>
              <a:t>Minimal storage, stable internet connection</a:t>
            </a:r>
          </a:p>
          <a:p>
            <a:pPr marL="285750" indent="-285750">
              <a:buFont typeface="Arial" panose="020B0604020202020204" pitchFamily="34" charset="0"/>
              <a:buChar char="•"/>
            </a:pPr>
            <a:r>
              <a:rPr lang="en-IN" dirty="0"/>
              <a:t>Display: 1366×768 or higher</a:t>
            </a:r>
          </a:p>
          <a:p>
            <a:endParaRPr lang="en-IN" dirty="0"/>
          </a:p>
          <a:p>
            <a:r>
              <a:rPr lang="en-IN" b="1" dirty="0"/>
              <a:t>Server-Side:</a:t>
            </a:r>
            <a:endParaRPr lang="en-IN" dirty="0"/>
          </a:p>
          <a:p>
            <a:pPr marL="285750" indent="-285750">
              <a:buFont typeface="Arial" panose="020B0604020202020204" pitchFamily="34" charset="0"/>
              <a:buChar char="•"/>
            </a:pPr>
            <a:r>
              <a:rPr lang="en-IN" dirty="0"/>
              <a:t>Quad-Core 2.5 GHz+ CPU</a:t>
            </a:r>
          </a:p>
          <a:p>
            <a:pPr marL="285750" indent="-285750">
              <a:buFont typeface="Arial" panose="020B0604020202020204" pitchFamily="34" charset="0"/>
              <a:buChar char="•"/>
            </a:pPr>
            <a:r>
              <a:rPr lang="en-IN" dirty="0"/>
              <a:t>4 GB RAM (Recommended: 8 GB+)</a:t>
            </a:r>
          </a:p>
          <a:p>
            <a:pPr marL="285750" indent="-285750">
              <a:buFont typeface="Arial" panose="020B0604020202020204" pitchFamily="34" charset="0"/>
              <a:buChar char="•"/>
            </a:pPr>
            <a:r>
              <a:rPr lang="en-IN" dirty="0"/>
              <a:t>10 GB storage for datasets and logs</a:t>
            </a:r>
          </a:p>
          <a:p>
            <a:pPr marL="285750" indent="-285750">
              <a:buFont typeface="Arial" panose="020B0604020202020204" pitchFamily="34" charset="0"/>
              <a:buChar char="•"/>
            </a:pPr>
            <a:r>
              <a:rPr lang="en-IN" dirty="0"/>
              <a:t>Supports Python Flask &amp; API integrations</a:t>
            </a:r>
          </a:p>
          <a:p>
            <a:pPr marL="285750" indent="-285750">
              <a:buFont typeface="Arial" panose="020B0604020202020204" pitchFamily="34" charset="0"/>
              <a:buChar char="•"/>
            </a:pPr>
            <a:r>
              <a:rPr lang="en-IN" dirty="0"/>
              <a:t>High-speed network</a:t>
            </a:r>
          </a:p>
          <a:p>
            <a:endParaRPr lang="en-IN" dirty="0"/>
          </a:p>
          <a:p>
            <a:r>
              <a:rPr lang="en-IN" dirty="0"/>
              <a:t> </a:t>
            </a:r>
          </a:p>
        </p:txBody>
      </p:sp>
      <p:sp>
        <p:nvSpPr>
          <p:cNvPr id="6" name="TextBox 5">
            <a:extLst>
              <a:ext uri="{FF2B5EF4-FFF2-40B4-BE49-F238E27FC236}">
                <a16:creationId xmlns:a16="http://schemas.microsoft.com/office/drawing/2014/main" id="{1CD78F9F-CE5F-3829-017B-36E367B80A9A}"/>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6. Tools &amp; Technology</a:t>
            </a:r>
          </a:p>
        </p:txBody>
      </p:sp>
    </p:spTree>
    <p:extLst>
      <p:ext uri="{BB962C8B-B14F-4D97-AF65-F5344CB8AC3E}">
        <p14:creationId xmlns:p14="http://schemas.microsoft.com/office/powerpoint/2010/main" val="2548788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6B574B-968A-A093-838B-B4C94F175E7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AC2C4C62-720C-3F20-7D23-57F87A9E55B1}"/>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DD2A7FA7-E498-1857-1D53-BBA716A958D2}"/>
              </a:ext>
            </a:extLst>
          </p:cNvPr>
          <p:cNvSpPr>
            <a:spLocks noGrp="1"/>
          </p:cNvSpPr>
          <p:nvPr>
            <p:ph type="sldNum" sz="quarter" idx="12"/>
          </p:nvPr>
        </p:nvSpPr>
        <p:spPr/>
        <p:txBody>
          <a:bodyPr/>
          <a:lstStyle/>
          <a:p>
            <a:fld id="{615D92F5-C6BD-4770-B93B-CCC7110BADD0}" type="slidenum">
              <a:rPr lang="en-US" smtClean="0"/>
              <a:pPr/>
              <a:t>9</a:t>
            </a:fld>
            <a:endParaRPr lang="en-US"/>
          </a:p>
        </p:txBody>
      </p:sp>
      <p:sp>
        <p:nvSpPr>
          <p:cNvPr id="5" name="TextBox 4">
            <a:extLst>
              <a:ext uri="{FF2B5EF4-FFF2-40B4-BE49-F238E27FC236}">
                <a16:creationId xmlns:a16="http://schemas.microsoft.com/office/drawing/2014/main" id="{B1B8DFC7-E353-DB96-B4F4-9FB8B6ADAB10}"/>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6. Tools &amp; Technology</a:t>
            </a:r>
          </a:p>
        </p:txBody>
      </p:sp>
      <p:sp>
        <p:nvSpPr>
          <p:cNvPr id="6" name="Rectangle 5">
            <a:extLst>
              <a:ext uri="{FF2B5EF4-FFF2-40B4-BE49-F238E27FC236}">
                <a16:creationId xmlns:a16="http://schemas.microsoft.com/office/drawing/2014/main" id="{ECBD39D6-FC14-E1D0-652A-080AEAD2E5C2}"/>
              </a:ext>
            </a:extLst>
          </p:cNvPr>
          <p:cNvSpPr>
            <a:spLocks noChangeArrowheads="1"/>
          </p:cNvSpPr>
          <p:nvPr/>
        </p:nvSpPr>
        <p:spPr bwMode="auto">
          <a:xfrm>
            <a:off x="439271" y="1187962"/>
            <a:ext cx="8151712"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6.2 Software Requirements</a:t>
            </a:r>
          </a:p>
          <a:p>
            <a:r>
              <a:rPr lang="en-IN" b="1" dirty="0"/>
              <a:t> </a:t>
            </a:r>
          </a:p>
          <a:p>
            <a:r>
              <a:rPr lang="en-IN" b="1" dirty="0"/>
              <a:t>Server / Development:</a:t>
            </a:r>
            <a:endParaRPr lang="en-IN" dirty="0"/>
          </a:p>
          <a:p>
            <a:pPr marL="285750" indent="-285750">
              <a:buFont typeface="Arial" panose="020B0604020202020204" pitchFamily="34" charset="0"/>
              <a:buChar char="•"/>
            </a:pPr>
            <a:r>
              <a:rPr lang="en-IN" dirty="0"/>
              <a:t>OS: Windows 10/11, macOS, or Ubuntu 20.04+</a:t>
            </a:r>
          </a:p>
          <a:p>
            <a:pPr marL="285750" indent="-285750">
              <a:buFont typeface="Arial" panose="020B0604020202020204" pitchFamily="34" charset="0"/>
              <a:buChar char="•"/>
            </a:pPr>
            <a:r>
              <a:rPr lang="en-IN" dirty="0"/>
              <a:t>Python 3.6+ (Flask, pandas, scikit-learn, Flask-Babel, requests)</a:t>
            </a:r>
          </a:p>
          <a:p>
            <a:pPr marL="285750" indent="-285750">
              <a:buFont typeface="Arial" panose="020B0604020202020204" pitchFamily="34" charset="0"/>
              <a:buChar char="•"/>
            </a:pPr>
            <a:r>
              <a:rPr lang="en-IN" dirty="0"/>
              <a:t>Optional DB: SQLite / MySQL</a:t>
            </a:r>
          </a:p>
          <a:p>
            <a:pPr marL="285750" indent="-285750">
              <a:buFont typeface="Arial" panose="020B0604020202020204" pitchFamily="34" charset="0"/>
              <a:buChar char="•"/>
            </a:pPr>
            <a:r>
              <a:rPr lang="en-IN" dirty="0"/>
              <a:t>Web Server: </a:t>
            </a:r>
            <a:r>
              <a:rPr lang="en-IN" dirty="0" err="1"/>
              <a:t>Gunicorn</a:t>
            </a:r>
            <a:r>
              <a:rPr lang="en-IN" dirty="0"/>
              <a:t> / </a:t>
            </a:r>
            <a:r>
              <a:rPr lang="en-IN" dirty="0" err="1"/>
              <a:t>uWSGI</a:t>
            </a:r>
            <a:r>
              <a:rPr lang="en-IN" dirty="0"/>
              <a:t> with Nginx</a:t>
            </a:r>
          </a:p>
          <a:p>
            <a:pPr marL="285750" indent="-285750">
              <a:buFont typeface="Arial" panose="020B0604020202020204" pitchFamily="34" charset="0"/>
              <a:buChar char="•"/>
            </a:pPr>
            <a:r>
              <a:rPr lang="en-IN" dirty="0"/>
              <a:t>APIs: Google Maps API</a:t>
            </a:r>
          </a:p>
          <a:p>
            <a:endParaRPr lang="en-IN" dirty="0"/>
          </a:p>
          <a:p>
            <a:r>
              <a:rPr lang="en-IN" b="1" dirty="0"/>
              <a:t>Client-Side:</a:t>
            </a:r>
            <a:endParaRPr lang="en-IN" dirty="0"/>
          </a:p>
          <a:p>
            <a:pPr marL="285750" indent="-285750">
              <a:buFont typeface="Arial" panose="020B0604020202020204" pitchFamily="34" charset="0"/>
              <a:buChar char="•"/>
            </a:pPr>
            <a:r>
              <a:rPr lang="en-IN" dirty="0"/>
              <a:t>HTML5, CSS3, JavaScript</a:t>
            </a:r>
          </a:p>
          <a:p>
            <a:pPr marL="285750" indent="-285750">
              <a:buFont typeface="Arial" panose="020B0604020202020204" pitchFamily="34" charset="0"/>
              <a:buChar char="•"/>
            </a:pPr>
            <a:r>
              <a:rPr lang="en-IN" dirty="0"/>
              <a:t>Latest Chrome, Firefox, Edge</a:t>
            </a:r>
          </a:p>
          <a:p>
            <a:pPr marL="285750" indent="-285750">
              <a:buFont typeface="Arial" panose="020B0604020202020204" pitchFamily="34" charset="0"/>
              <a:buChar char="•"/>
            </a:pPr>
            <a:r>
              <a:rPr lang="en-IN" dirty="0"/>
              <a:t>Latest versions of Google Chrome, Mozilla Firefox, Microsoft Edge, or Safari.</a:t>
            </a:r>
          </a:p>
        </p:txBody>
      </p:sp>
    </p:spTree>
    <p:extLst>
      <p:ext uri="{BB962C8B-B14F-4D97-AF65-F5344CB8AC3E}">
        <p14:creationId xmlns:p14="http://schemas.microsoft.com/office/powerpoint/2010/main" val="2800232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0A41E-A9F6-F949-678E-6F2C42B19AC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544073D9-0921-6411-3591-A0B4A1714AB8}"/>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6FAB27EF-B8B5-4F57-9473-F30A3C09C7D9}"/>
              </a:ext>
            </a:extLst>
          </p:cNvPr>
          <p:cNvSpPr>
            <a:spLocks noGrp="1"/>
          </p:cNvSpPr>
          <p:nvPr>
            <p:ph type="sldNum" sz="quarter" idx="12"/>
          </p:nvPr>
        </p:nvSpPr>
        <p:spPr/>
        <p:txBody>
          <a:bodyPr/>
          <a:lstStyle/>
          <a:p>
            <a:fld id="{615D92F5-C6BD-4770-B93B-CCC7110BADD0}" type="slidenum">
              <a:rPr lang="en-US" smtClean="0"/>
              <a:pPr/>
              <a:t>10</a:t>
            </a:fld>
            <a:endParaRPr lang="en-US"/>
          </a:p>
        </p:txBody>
      </p:sp>
      <p:sp>
        <p:nvSpPr>
          <p:cNvPr id="5" name="TextBox 4">
            <a:extLst>
              <a:ext uri="{FF2B5EF4-FFF2-40B4-BE49-F238E27FC236}">
                <a16:creationId xmlns:a16="http://schemas.microsoft.com/office/drawing/2014/main" id="{CB54ED69-56E4-100F-8313-E0333ABD6BDE}"/>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7. Requirement Analysis</a:t>
            </a:r>
          </a:p>
        </p:txBody>
      </p:sp>
      <p:sp>
        <p:nvSpPr>
          <p:cNvPr id="6" name="Rectangle 5">
            <a:extLst>
              <a:ext uri="{FF2B5EF4-FFF2-40B4-BE49-F238E27FC236}">
                <a16:creationId xmlns:a16="http://schemas.microsoft.com/office/drawing/2014/main" id="{3AA1BCE9-CA89-803C-757E-50D5C20BB0E1}"/>
              </a:ext>
            </a:extLst>
          </p:cNvPr>
          <p:cNvSpPr>
            <a:spLocks noChangeArrowheads="1"/>
          </p:cNvSpPr>
          <p:nvPr/>
        </p:nvSpPr>
        <p:spPr bwMode="auto">
          <a:xfrm>
            <a:off x="439271" y="892560"/>
            <a:ext cx="815171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7.1 Feasibility Study </a:t>
            </a:r>
          </a:p>
          <a:p>
            <a:pPr algn="just"/>
            <a:r>
              <a:rPr lang="en-IN" dirty="0"/>
              <a:t>The </a:t>
            </a:r>
            <a:r>
              <a:rPr lang="en-IN" dirty="0" err="1"/>
              <a:t>DiagnoAI</a:t>
            </a:r>
            <a:r>
              <a:rPr lang="en-IN" dirty="0"/>
              <a:t> System has been carefully </a:t>
            </a:r>
            <a:r>
              <a:rPr lang="en-IN" dirty="0" err="1"/>
              <a:t>analyzed</a:t>
            </a:r>
            <a:r>
              <a:rPr lang="en-IN" dirty="0"/>
              <a:t> for feasibility across technical, operational, and economic dimensions. The findings indicate that the project is highly feasible and can be implemented effectively using available resources and technology.</a:t>
            </a:r>
          </a:p>
          <a:p>
            <a:r>
              <a:rPr lang="en-IN" dirty="0"/>
              <a:t> </a:t>
            </a:r>
          </a:p>
          <a:p>
            <a:r>
              <a:rPr lang="en-IN" b="1" dirty="0"/>
              <a:t>7.2 Modules </a:t>
            </a:r>
          </a:p>
          <a:p>
            <a:pPr marL="285750" lvl="0" indent="-285750" fontAlgn="base">
              <a:buFont typeface="Arial" panose="020B0604020202020204" pitchFamily="34" charset="0"/>
              <a:buChar char="•"/>
            </a:pPr>
            <a:r>
              <a:rPr lang="en-IN" dirty="0"/>
              <a:t>User Interface</a:t>
            </a:r>
          </a:p>
          <a:p>
            <a:pPr marL="285750" lvl="0" indent="-285750" fontAlgn="base">
              <a:buFont typeface="Arial" panose="020B0604020202020204" pitchFamily="34" charset="0"/>
              <a:buChar char="•"/>
            </a:pPr>
            <a:r>
              <a:rPr lang="en-IN" dirty="0"/>
              <a:t>Disease Prediction </a:t>
            </a:r>
          </a:p>
          <a:p>
            <a:pPr marL="285750" lvl="0" indent="-285750" fontAlgn="base">
              <a:buFont typeface="Arial" panose="020B0604020202020204" pitchFamily="34" charset="0"/>
              <a:buChar char="•"/>
            </a:pPr>
            <a:r>
              <a:rPr lang="en-IN" dirty="0"/>
              <a:t>Medical Guidance</a:t>
            </a:r>
          </a:p>
          <a:p>
            <a:pPr marL="285750" lvl="0" indent="-285750" fontAlgn="base">
              <a:buFont typeface="Arial" panose="020B0604020202020204" pitchFamily="34" charset="0"/>
              <a:buChar char="•"/>
            </a:pPr>
            <a:r>
              <a:rPr lang="en-IN" dirty="0"/>
              <a:t>Medication Suggestions </a:t>
            </a:r>
          </a:p>
          <a:p>
            <a:pPr marL="285750" lvl="0" indent="-285750" fontAlgn="base">
              <a:buFont typeface="Arial" panose="020B0604020202020204" pitchFamily="34" charset="0"/>
              <a:buChar char="•"/>
            </a:pPr>
            <a:r>
              <a:rPr lang="en-IN" dirty="0"/>
              <a:t>PDF Prescription</a:t>
            </a:r>
          </a:p>
          <a:p>
            <a:pPr marL="285750" lvl="0" indent="-285750" fontAlgn="base">
              <a:buFont typeface="Arial" panose="020B0604020202020204" pitchFamily="34" charset="0"/>
              <a:buChar char="•"/>
            </a:pPr>
            <a:r>
              <a:rPr lang="en-IN" dirty="0"/>
              <a:t>Hospital Locator</a:t>
            </a:r>
          </a:p>
          <a:p>
            <a:pPr marL="285750" lvl="0" indent="-285750" fontAlgn="base">
              <a:buFont typeface="Arial" panose="020B0604020202020204" pitchFamily="34" charset="0"/>
              <a:buChar char="•"/>
            </a:pPr>
            <a:r>
              <a:rPr lang="en-IN" dirty="0"/>
              <a:t>Multilingual Support</a:t>
            </a:r>
          </a:p>
          <a:p>
            <a:r>
              <a:rPr lang="en-IN" b="1" dirty="0"/>
              <a:t> </a:t>
            </a:r>
          </a:p>
          <a:p>
            <a:r>
              <a:rPr lang="en-IN" b="1" dirty="0"/>
              <a:t>7.3 Users of the System</a:t>
            </a:r>
          </a:p>
          <a:p>
            <a:pPr algn="just"/>
            <a:r>
              <a:rPr lang="en-US" b="1" dirty="0"/>
              <a:t>General Users: </a:t>
            </a:r>
            <a:r>
              <a:rPr lang="en-US" dirty="0"/>
              <a:t>Get symptom-based predictions, guidance, prescription, and hospital info.</a:t>
            </a:r>
          </a:p>
          <a:p>
            <a:r>
              <a:rPr lang="en-US" b="1" dirty="0"/>
              <a:t>Administrators: </a:t>
            </a:r>
            <a:r>
              <a:rPr lang="en-US" dirty="0"/>
              <a:t>Update data, maintain system, and ensure accuracy.</a:t>
            </a:r>
          </a:p>
        </p:txBody>
      </p:sp>
    </p:spTree>
    <p:extLst>
      <p:ext uri="{BB962C8B-B14F-4D97-AF65-F5344CB8AC3E}">
        <p14:creationId xmlns:p14="http://schemas.microsoft.com/office/powerpoint/2010/main" val="534573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130D26-A1AB-5826-995C-49EE7FF6CDCD}"/>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985281D9-B331-D31F-5BDB-488755411C03}"/>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B61DD701-5E63-4E5E-3001-7ECC64D16C83}"/>
              </a:ext>
            </a:extLst>
          </p:cNvPr>
          <p:cNvSpPr>
            <a:spLocks noGrp="1"/>
          </p:cNvSpPr>
          <p:nvPr>
            <p:ph type="sldNum" sz="quarter" idx="12"/>
          </p:nvPr>
        </p:nvSpPr>
        <p:spPr/>
        <p:txBody>
          <a:bodyPr/>
          <a:lstStyle/>
          <a:p>
            <a:fld id="{615D92F5-C6BD-4770-B93B-CCC7110BADD0}" type="slidenum">
              <a:rPr lang="en-US" smtClean="0"/>
              <a:pPr/>
              <a:t>11</a:t>
            </a:fld>
            <a:endParaRPr lang="en-US"/>
          </a:p>
        </p:txBody>
      </p:sp>
      <p:sp>
        <p:nvSpPr>
          <p:cNvPr id="5" name="TextBox 4">
            <a:extLst>
              <a:ext uri="{FF2B5EF4-FFF2-40B4-BE49-F238E27FC236}">
                <a16:creationId xmlns:a16="http://schemas.microsoft.com/office/drawing/2014/main" id="{38FAB1DF-4DDD-1AAF-BA7A-D0E37352AEC5}"/>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7. Requirement Analysis</a:t>
            </a:r>
          </a:p>
        </p:txBody>
      </p:sp>
      <p:sp>
        <p:nvSpPr>
          <p:cNvPr id="6" name="Rectangle 5">
            <a:extLst>
              <a:ext uri="{FF2B5EF4-FFF2-40B4-BE49-F238E27FC236}">
                <a16:creationId xmlns:a16="http://schemas.microsoft.com/office/drawing/2014/main" id="{AE5885DA-27ED-7C29-9D61-A317FB676584}"/>
              </a:ext>
            </a:extLst>
          </p:cNvPr>
          <p:cNvSpPr>
            <a:spLocks noChangeArrowheads="1"/>
          </p:cNvSpPr>
          <p:nvPr/>
        </p:nvSpPr>
        <p:spPr bwMode="auto">
          <a:xfrm>
            <a:off x="439271" y="1305341"/>
            <a:ext cx="815171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7.4 Use Cases </a:t>
            </a:r>
            <a:endParaRPr lang="en-IN" dirty="0"/>
          </a:p>
          <a:p>
            <a:endParaRPr lang="en-IN" b="1" dirty="0"/>
          </a:p>
          <a:p>
            <a:r>
              <a:rPr lang="en-IN" b="1" dirty="0"/>
              <a:t>UC1: Input Symptoms</a:t>
            </a:r>
            <a:br>
              <a:rPr lang="en-IN" dirty="0"/>
            </a:br>
            <a:r>
              <a:rPr lang="en-IN" dirty="0"/>
              <a:t>User enters/selects symptoms → system collects data.</a:t>
            </a:r>
          </a:p>
          <a:p>
            <a:r>
              <a:rPr lang="en-IN" b="1" dirty="0"/>
              <a:t>UC2: Predict Disease</a:t>
            </a:r>
            <a:br>
              <a:rPr lang="en-IN" dirty="0"/>
            </a:br>
            <a:r>
              <a:rPr lang="en-IN" dirty="0"/>
              <a:t>System processes input → ML model predicts disease with confidence score.</a:t>
            </a:r>
          </a:p>
          <a:p>
            <a:r>
              <a:rPr lang="en-IN" b="1" dirty="0"/>
              <a:t>UC3: View Precautions</a:t>
            </a:r>
            <a:br>
              <a:rPr lang="en-IN" dirty="0"/>
            </a:br>
            <a:r>
              <a:rPr lang="en-IN" dirty="0"/>
              <a:t>User selects disease → system shows precautions.</a:t>
            </a:r>
          </a:p>
          <a:p>
            <a:r>
              <a:rPr lang="en-IN" b="1" dirty="0"/>
              <a:t>UC4: Medication Advice</a:t>
            </a:r>
            <a:br>
              <a:rPr lang="en-IN" dirty="0"/>
            </a:br>
            <a:r>
              <a:rPr lang="en-IN" dirty="0"/>
              <a:t>User enters details → system suggests basic medications + PDF prescription.</a:t>
            </a:r>
          </a:p>
          <a:p>
            <a:r>
              <a:rPr lang="en-IN" b="1" dirty="0"/>
              <a:t>UC5: Find Nearby Hospitals</a:t>
            </a:r>
            <a:br>
              <a:rPr lang="en-IN" dirty="0"/>
            </a:br>
            <a:r>
              <a:rPr lang="en-IN" dirty="0"/>
              <a:t>User clicks hospital search → system shows nearby hospitals via Google Maps.</a:t>
            </a:r>
          </a:p>
          <a:p>
            <a:r>
              <a:rPr lang="en-IN" b="1" dirty="0"/>
              <a:t>UC6: Change Language</a:t>
            </a:r>
            <a:br>
              <a:rPr lang="en-IN" dirty="0"/>
            </a:br>
            <a:r>
              <a:rPr lang="en-IN" dirty="0"/>
              <a:t>User selects language → interface updates automatically.</a:t>
            </a:r>
          </a:p>
          <a:p>
            <a:pPr lvl="1"/>
            <a:endParaRPr lang="en-IN" b="1" dirty="0"/>
          </a:p>
        </p:txBody>
      </p:sp>
    </p:spTree>
    <p:extLst>
      <p:ext uri="{BB962C8B-B14F-4D97-AF65-F5344CB8AC3E}">
        <p14:creationId xmlns:p14="http://schemas.microsoft.com/office/powerpoint/2010/main" val="385547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53DADB-7F15-3F9C-6DF8-2902CDA52768}"/>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E2983EC5-F8DA-C6EA-8134-74B929D9143F}"/>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64545307-A08F-387A-994F-35AEB18A9166}"/>
              </a:ext>
            </a:extLst>
          </p:cNvPr>
          <p:cNvSpPr>
            <a:spLocks noGrp="1"/>
          </p:cNvSpPr>
          <p:nvPr>
            <p:ph type="sldNum" sz="quarter" idx="12"/>
          </p:nvPr>
        </p:nvSpPr>
        <p:spPr/>
        <p:txBody>
          <a:bodyPr/>
          <a:lstStyle/>
          <a:p>
            <a:fld id="{615D92F5-C6BD-4770-B93B-CCC7110BADD0}" type="slidenum">
              <a:rPr lang="en-US" smtClean="0"/>
              <a:pPr/>
              <a:t>12</a:t>
            </a:fld>
            <a:endParaRPr lang="en-US"/>
          </a:p>
        </p:txBody>
      </p:sp>
      <p:sp>
        <p:nvSpPr>
          <p:cNvPr id="5" name="TextBox 4">
            <a:extLst>
              <a:ext uri="{FF2B5EF4-FFF2-40B4-BE49-F238E27FC236}">
                <a16:creationId xmlns:a16="http://schemas.microsoft.com/office/drawing/2014/main" id="{C79342BD-89A6-6F52-1CF2-304C4F9F5932}"/>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7. Requirement Analysis</a:t>
            </a:r>
          </a:p>
        </p:txBody>
      </p:sp>
      <p:pic>
        <p:nvPicPr>
          <p:cNvPr id="7" name="Picture 6">
            <a:extLst>
              <a:ext uri="{FF2B5EF4-FFF2-40B4-BE49-F238E27FC236}">
                <a16:creationId xmlns:a16="http://schemas.microsoft.com/office/drawing/2014/main" id="{A6AE8E51-395D-2C88-1519-85FCBD78AF6E}"/>
              </a:ext>
            </a:extLst>
          </p:cNvPr>
          <p:cNvPicPr>
            <a:picLocks noChangeAspect="1"/>
          </p:cNvPicPr>
          <p:nvPr/>
        </p:nvPicPr>
        <p:blipFill rotWithShape="1">
          <a:blip r:embed="rId2">
            <a:extLst>
              <a:ext uri="{28A0092B-C50C-407E-A947-70E740481C1C}">
                <a14:useLocalDpi xmlns:a14="http://schemas.microsoft.com/office/drawing/2010/main" val="0"/>
              </a:ext>
            </a:extLst>
          </a:blip>
          <a:srcRect l="7876" t="2529" r="18983" b="52980"/>
          <a:stretch>
            <a:fillRect/>
          </a:stretch>
        </p:blipFill>
        <p:spPr bwMode="auto">
          <a:xfrm>
            <a:off x="822961" y="934399"/>
            <a:ext cx="7899698" cy="517703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91336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80C099-5238-903A-A37E-88CA8FEB7304}"/>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6AEFFF42-EC2C-7CB4-01CA-75F67CC27D59}"/>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DDF33980-15E2-0519-2DBF-C615DD11E445}"/>
              </a:ext>
            </a:extLst>
          </p:cNvPr>
          <p:cNvSpPr>
            <a:spLocks noGrp="1"/>
          </p:cNvSpPr>
          <p:nvPr>
            <p:ph type="sldNum" sz="quarter" idx="12"/>
          </p:nvPr>
        </p:nvSpPr>
        <p:spPr/>
        <p:txBody>
          <a:bodyPr/>
          <a:lstStyle/>
          <a:p>
            <a:fld id="{615D92F5-C6BD-4770-B93B-CCC7110BADD0}" type="slidenum">
              <a:rPr lang="en-US" smtClean="0"/>
              <a:pPr/>
              <a:t>13</a:t>
            </a:fld>
            <a:endParaRPr lang="en-US"/>
          </a:p>
        </p:txBody>
      </p:sp>
      <p:sp>
        <p:nvSpPr>
          <p:cNvPr id="5" name="TextBox 4">
            <a:extLst>
              <a:ext uri="{FF2B5EF4-FFF2-40B4-BE49-F238E27FC236}">
                <a16:creationId xmlns:a16="http://schemas.microsoft.com/office/drawing/2014/main" id="{607FF3A3-65DE-7C35-BA4F-8576BA427263}"/>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8. System Design</a:t>
            </a:r>
          </a:p>
        </p:txBody>
      </p:sp>
      <p:sp>
        <p:nvSpPr>
          <p:cNvPr id="6" name="Rectangle 5">
            <a:extLst>
              <a:ext uri="{FF2B5EF4-FFF2-40B4-BE49-F238E27FC236}">
                <a16:creationId xmlns:a16="http://schemas.microsoft.com/office/drawing/2014/main" id="{07E1FE45-E028-00F4-A22B-5C54FBCE64A9}"/>
              </a:ext>
            </a:extLst>
          </p:cNvPr>
          <p:cNvSpPr>
            <a:spLocks noChangeArrowheads="1"/>
          </p:cNvSpPr>
          <p:nvPr/>
        </p:nvSpPr>
        <p:spPr bwMode="auto">
          <a:xfrm>
            <a:off x="439271" y="898144"/>
            <a:ext cx="815171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t>8.1 Entity Relationship Diagram </a:t>
            </a:r>
            <a:endParaRPr lang="en-IN" dirty="0"/>
          </a:p>
          <a:p>
            <a:pPr algn="just"/>
            <a:r>
              <a:rPr lang="en-IN" b="1" dirty="0"/>
              <a:t> </a:t>
            </a:r>
            <a:r>
              <a:rPr lang="en-US" dirty="0"/>
              <a:t>The ER diagram shows a hospital system where a </a:t>
            </a:r>
            <a:r>
              <a:rPr lang="en-US" b="1" dirty="0"/>
              <a:t>Patient</a:t>
            </a:r>
            <a:r>
              <a:rPr lang="en-US" dirty="0"/>
              <a:t> has basic details and can have multiple </a:t>
            </a:r>
            <a:r>
              <a:rPr lang="en-US" b="1" dirty="0"/>
              <a:t>Medical Records</a:t>
            </a:r>
            <a:r>
              <a:rPr lang="en-US" dirty="0"/>
              <a:t>, each storing examination information. Patients are </a:t>
            </a:r>
            <a:r>
              <a:rPr lang="en-US" i="1" dirty="0"/>
              <a:t>admitted to</a:t>
            </a:r>
            <a:r>
              <a:rPr lang="en-US" dirty="0"/>
              <a:t> a </a:t>
            </a:r>
            <a:r>
              <a:rPr lang="en-US" b="1" dirty="0"/>
              <a:t>Hospital</a:t>
            </a:r>
            <a:r>
              <a:rPr lang="en-US" dirty="0"/>
              <a:t>, which includes hospital details and employs multiple </a:t>
            </a:r>
            <a:r>
              <a:rPr lang="en-US" b="1" dirty="0"/>
              <a:t>Doctors</a:t>
            </a:r>
            <a:r>
              <a:rPr lang="en-US" dirty="0"/>
              <a:t> with their own attributes. The diagram highlights how patients, hospitals, doctors, and medical records are connected for efficient data management.</a:t>
            </a: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endParaRPr lang="en-IN" dirty="0"/>
          </a:p>
          <a:p>
            <a:pPr algn="ctr"/>
            <a:endParaRPr lang="en-IN" dirty="0"/>
          </a:p>
          <a:p>
            <a:pPr algn="ctr"/>
            <a:endParaRPr lang="en-IN" dirty="0"/>
          </a:p>
          <a:p>
            <a:pPr algn="ctr"/>
            <a:r>
              <a:rPr lang="en-IN" dirty="0"/>
              <a:t>ER Diagram</a:t>
            </a:r>
          </a:p>
        </p:txBody>
      </p:sp>
      <p:pic>
        <p:nvPicPr>
          <p:cNvPr id="7" name="Picture 6" descr="Simple Er Diagram For Hospital Management System Er Diagram">
            <a:extLst>
              <a:ext uri="{FF2B5EF4-FFF2-40B4-BE49-F238E27FC236}">
                <a16:creationId xmlns:a16="http://schemas.microsoft.com/office/drawing/2014/main" id="{855A1124-54F9-EF45-A5D5-B0003C0BD472}"/>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13782" b="1490"/>
          <a:stretch>
            <a:fillRect/>
          </a:stretch>
        </p:blipFill>
        <p:spPr bwMode="auto">
          <a:xfrm>
            <a:off x="1022090" y="2620642"/>
            <a:ext cx="6986073" cy="3021721"/>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555796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AE266C-9799-6E46-988A-CC0635CE8ABA}"/>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DD2A52CE-AA50-B960-F69D-84FD8CD5E9D7}"/>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F5E155A0-99F1-7FCF-EBF7-FA6A541C5298}"/>
              </a:ext>
            </a:extLst>
          </p:cNvPr>
          <p:cNvSpPr>
            <a:spLocks noGrp="1"/>
          </p:cNvSpPr>
          <p:nvPr>
            <p:ph type="sldNum" sz="quarter" idx="12"/>
          </p:nvPr>
        </p:nvSpPr>
        <p:spPr/>
        <p:txBody>
          <a:bodyPr/>
          <a:lstStyle/>
          <a:p>
            <a:fld id="{615D92F5-C6BD-4770-B93B-CCC7110BADD0}" type="slidenum">
              <a:rPr lang="en-US" smtClean="0"/>
              <a:pPr/>
              <a:t>14</a:t>
            </a:fld>
            <a:endParaRPr lang="en-US"/>
          </a:p>
        </p:txBody>
      </p:sp>
      <p:sp>
        <p:nvSpPr>
          <p:cNvPr id="5" name="TextBox 4">
            <a:extLst>
              <a:ext uri="{FF2B5EF4-FFF2-40B4-BE49-F238E27FC236}">
                <a16:creationId xmlns:a16="http://schemas.microsoft.com/office/drawing/2014/main" id="{F87325E7-E155-8DD1-0959-43CAC5BE992A}"/>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8. System Design</a:t>
            </a:r>
          </a:p>
        </p:txBody>
      </p:sp>
      <p:sp>
        <p:nvSpPr>
          <p:cNvPr id="6" name="Rectangle 5">
            <a:extLst>
              <a:ext uri="{FF2B5EF4-FFF2-40B4-BE49-F238E27FC236}">
                <a16:creationId xmlns:a16="http://schemas.microsoft.com/office/drawing/2014/main" id="{FDDA745D-3A98-0D6C-CADE-5503A6E6D386}"/>
              </a:ext>
            </a:extLst>
          </p:cNvPr>
          <p:cNvSpPr>
            <a:spLocks noChangeArrowheads="1"/>
          </p:cNvSpPr>
          <p:nvPr/>
        </p:nvSpPr>
        <p:spPr bwMode="auto">
          <a:xfrm>
            <a:off x="439271" y="776527"/>
            <a:ext cx="815171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n-IN" b="1" dirty="0"/>
          </a:p>
          <a:p>
            <a:r>
              <a:rPr lang="en-IN" b="1" dirty="0"/>
              <a:t>8.2 Data Dictionary</a:t>
            </a:r>
            <a:endParaRPr lang="en-IN" dirty="0"/>
          </a:p>
          <a:p>
            <a:pPr algn="just"/>
            <a:r>
              <a:rPr lang="en-IN" b="1" dirty="0"/>
              <a:t> </a:t>
            </a:r>
            <a:r>
              <a:rPr lang="en-US" dirty="0"/>
              <a:t>The Data Dictionary defines key data elements used in the system, including symptom inputs, user details, predicted diseases, precautions, medications, and hospital information. It provides field names, types, and descriptions to ensure consistent data handling across all modules.</a:t>
            </a:r>
          </a:p>
        </p:txBody>
      </p:sp>
      <p:graphicFrame>
        <p:nvGraphicFramePr>
          <p:cNvPr id="7" name="Table 6">
            <a:extLst>
              <a:ext uri="{FF2B5EF4-FFF2-40B4-BE49-F238E27FC236}">
                <a16:creationId xmlns:a16="http://schemas.microsoft.com/office/drawing/2014/main" id="{3E087EAB-A83B-353E-C98A-7E0223F86FD0}"/>
              </a:ext>
            </a:extLst>
          </p:cNvPr>
          <p:cNvGraphicFramePr>
            <a:graphicFrameLocks noGrp="1"/>
          </p:cNvGraphicFramePr>
          <p:nvPr>
            <p:extLst>
              <p:ext uri="{D42A27DB-BD31-4B8C-83A1-F6EECF244321}">
                <p14:modId xmlns:p14="http://schemas.microsoft.com/office/powerpoint/2010/main" val="618408931"/>
              </p:ext>
            </p:extLst>
          </p:nvPr>
        </p:nvGraphicFramePr>
        <p:xfrm>
          <a:off x="514378" y="2990599"/>
          <a:ext cx="3339165" cy="2333919"/>
        </p:xfrm>
        <a:graphic>
          <a:graphicData uri="http://schemas.openxmlformats.org/drawingml/2006/table">
            <a:tbl>
              <a:tblPr firstRow="1" firstCol="1" bandRow="1">
                <a:tableStyleId>{5C22544A-7EE6-4342-B048-85BDC9FD1C3A}</a:tableStyleId>
              </a:tblPr>
              <a:tblGrid>
                <a:gridCol w="1113055">
                  <a:extLst>
                    <a:ext uri="{9D8B030D-6E8A-4147-A177-3AD203B41FA5}">
                      <a16:colId xmlns:a16="http://schemas.microsoft.com/office/drawing/2014/main" val="381291436"/>
                    </a:ext>
                  </a:extLst>
                </a:gridCol>
                <a:gridCol w="1113055">
                  <a:extLst>
                    <a:ext uri="{9D8B030D-6E8A-4147-A177-3AD203B41FA5}">
                      <a16:colId xmlns:a16="http://schemas.microsoft.com/office/drawing/2014/main" val="2093230736"/>
                    </a:ext>
                  </a:extLst>
                </a:gridCol>
                <a:gridCol w="1113055">
                  <a:extLst>
                    <a:ext uri="{9D8B030D-6E8A-4147-A177-3AD203B41FA5}">
                      <a16:colId xmlns:a16="http://schemas.microsoft.com/office/drawing/2014/main" val="3969180699"/>
                    </a:ext>
                  </a:extLst>
                </a:gridCol>
              </a:tblGrid>
              <a:tr h="284789">
                <a:tc>
                  <a:txBody>
                    <a:bodyPr/>
                    <a:lstStyle/>
                    <a:p>
                      <a:pPr>
                        <a:lnSpc>
                          <a:spcPct val="107000"/>
                        </a:lnSpc>
                        <a:spcAft>
                          <a:spcPts val="800"/>
                        </a:spcAft>
                        <a:buNone/>
                      </a:pPr>
                      <a:r>
                        <a:rPr lang="en-IN" sz="1100" kern="100" dirty="0">
                          <a:effectLst/>
                        </a:rPr>
                        <a:t>Field Name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Data Type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44374174"/>
                  </a:ext>
                </a:extLst>
              </a:tr>
              <a:tr h="284789">
                <a:tc>
                  <a:txBody>
                    <a:bodyPr/>
                    <a:lstStyle/>
                    <a:p>
                      <a:pPr>
                        <a:lnSpc>
                          <a:spcPct val="107000"/>
                        </a:lnSpc>
                        <a:spcAft>
                          <a:spcPts val="800"/>
                        </a:spcAft>
                        <a:buNone/>
                      </a:pPr>
                      <a:r>
                        <a:rPr lang="en-IN" sz="1100" kern="100" dirty="0" err="1">
                          <a:effectLst/>
                        </a:rPr>
                        <a:t>userId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INT (PK)</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Unique user identifier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69331925"/>
                  </a:ext>
                </a:extLst>
              </a:tr>
              <a:tr h="284789">
                <a:tc>
                  <a:txBody>
                    <a:bodyPr/>
                    <a:lstStyle/>
                    <a:p>
                      <a:pPr>
                        <a:lnSpc>
                          <a:spcPct val="107000"/>
                        </a:lnSpc>
                        <a:spcAft>
                          <a:spcPts val="800"/>
                        </a:spcAft>
                        <a:buNone/>
                      </a:pPr>
                      <a:r>
                        <a:rPr lang="en-IN" sz="1100" kern="100" dirty="0" err="1">
                          <a:effectLst/>
                        </a:rPr>
                        <a:t>firstName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VARCHAR(30)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First name of the user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38312188"/>
                  </a:ext>
                </a:extLst>
              </a:tr>
              <a:tr h="284789">
                <a:tc>
                  <a:txBody>
                    <a:bodyPr/>
                    <a:lstStyle/>
                    <a:p>
                      <a:pPr>
                        <a:lnSpc>
                          <a:spcPct val="107000"/>
                        </a:lnSpc>
                        <a:spcAft>
                          <a:spcPts val="800"/>
                        </a:spcAft>
                        <a:buNone/>
                      </a:pPr>
                      <a:r>
                        <a:rPr lang="en-IN" sz="1100" kern="100" dirty="0" err="1">
                          <a:effectLst/>
                        </a:rPr>
                        <a:t>lastName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VARCHAR(30)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Last name of the user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042876107"/>
                  </a:ext>
                </a:extLst>
              </a:tr>
              <a:tr h="284789">
                <a:tc>
                  <a:txBody>
                    <a:bodyPr/>
                    <a:lstStyle/>
                    <a:p>
                      <a:pPr>
                        <a:lnSpc>
                          <a:spcPct val="107000"/>
                        </a:lnSpc>
                        <a:spcAft>
                          <a:spcPts val="800"/>
                        </a:spcAft>
                        <a:buNone/>
                      </a:pPr>
                      <a:r>
                        <a:rPr lang="en-IN" sz="1100" kern="100" dirty="0" err="1">
                          <a:effectLst/>
                        </a:rPr>
                        <a:t>emailId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VARCHAR(50)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User email (unique)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62245017"/>
                  </a:ext>
                </a:extLst>
              </a:tr>
              <a:tr h="284789">
                <a:tc>
                  <a:txBody>
                    <a:bodyPr/>
                    <a:lstStyle/>
                    <a:p>
                      <a:pPr>
                        <a:lnSpc>
                          <a:spcPct val="107000"/>
                        </a:lnSpc>
                        <a:spcAft>
                          <a:spcPts val="800"/>
                        </a:spcAft>
                        <a:buNone/>
                      </a:pPr>
                      <a:r>
                        <a:rPr lang="en-IN" sz="1100" kern="100" dirty="0" err="1">
                          <a:effectLst/>
                        </a:rPr>
                        <a:t>contactNo</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VARCHAR(15)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Contact number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19705001"/>
                  </a:ext>
                </a:extLst>
              </a:tr>
              <a:tr h="284789">
                <a:tc>
                  <a:txBody>
                    <a:bodyPr/>
                    <a:lstStyle/>
                    <a:p>
                      <a:pPr>
                        <a:lnSpc>
                          <a:spcPct val="107000"/>
                        </a:lnSpc>
                        <a:spcAft>
                          <a:spcPts val="800"/>
                        </a:spcAft>
                        <a:buNone/>
                      </a:pPr>
                      <a:r>
                        <a:rPr lang="en-IN" sz="1100" kern="100" dirty="0">
                          <a:effectLst/>
                        </a:rPr>
                        <a:t>Age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Age of the user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95916115"/>
                  </a:ext>
                </a:extLst>
              </a:tr>
            </a:tbl>
          </a:graphicData>
        </a:graphic>
      </p:graphicFrame>
      <p:sp>
        <p:nvSpPr>
          <p:cNvPr id="8" name="TextBox 7">
            <a:extLst>
              <a:ext uri="{FF2B5EF4-FFF2-40B4-BE49-F238E27FC236}">
                <a16:creationId xmlns:a16="http://schemas.microsoft.com/office/drawing/2014/main" id="{2259FD72-BC04-720D-F2E1-57D15C04C73F}"/>
              </a:ext>
            </a:extLst>
          </p:cNvPr>
          <p:cNvSpPr txBox="1"/>
          <p:nvPr/>
        </p:nvSpPr>
        <p:spPr>
          <a:xfrm>
            <a:off x="439271" y="2634590"/>
            <a:ext cx="1768626" cy="646331"/>
          </a:xfrm>
          <a:prstGeom prst="rect">
            <a:avLst/>
          </a:prstGeom>
          <a:noFill/>
        </p:spPr>
        <p:txBody>
          <a:bodyPr wrap="none" rtlCol="0">
            <a:spAutoFit/>
          </a:bodyPr>
          <a:lstStyle/>
          <a:p>
            <a:r>
              <a:rPr lang="en-IN" b="1" dirty="0"/>
              <a:t>8.2.1 User Table</a:t>
            </a:r>
            <a:endParaRPr lang="en-IN" dirty="0"/>
          </a:p>
          <a:p>
            <a:endParaRPr lang="en-IN" dirty="0"/>
          </a:p>
        </p:txBody>
      </p:sp>
      <p:sp>
        <p:nvSpPr>
          <p:cNvPr id="9" name="TextBox 8">
            <a:extLst>
              <a:ext uri="{FF2B5EF4-FFF2-40B4-BE49-F238E27FC236}">
                <a16:creationId xmlns:a16="http://schemas.microsoft.com/office/drawing/2014/main" id="{61DB5D73-979E-DBA0-F6D2-908972925C17}"/>
              </a:ext>
            </a:extLst>
          </p:cNvPr>
          <p:cNvSpPr txBox="1"/>
          <p:nvPr/>
        </p:nvSpPr>
        <p:spPr>
          <a:xfrm>
            <a:off x="4164115" y="2634590"/>
            <a:ext cx="2607252" cy="646331"/>
          </a:xfrm>
          <a:prstGeom prst="rect">
            <a:avLst/>
          </a:prstGeom>
          <a:noFill/>
        </p:spPr>
        <p:txBody>
          <a:bodyPr wrap="none" rtlCol="0">
            <a:spAutoFit/>
          </a:bodyPr>
          <a:lstStyle/>
          <a:p>
            <a:r>
              <a:rPr lang="en-IN" b="1" dirty="0"/>
              <a:t>8.2.2 </a:t>
            </a:r>
            <a:r>
              <a:rPr lang="en-IN" b="1" dirty="0" err="1"/>
              <a:t>PatientDetails</a:t>
            </a:r>
            <a:r>
              <a:rPr lang="en-IN" b="1" dirty="0"/>
              <a:t> Table</a:t>
            </a:r>
            <a:endParaRPr lang="en-IN" dirty="0"/>
          </a:p>
          <a:p>
            <a:endParaRPr lang="en-IN" dirty="0"/>
          </a:p>
        </p:txBody>
      </p:sp>
      <p:graphicFrame>
        <p:nvGraphicFramePr>
          <p:cNvPr id="12" name="Table 11">
            <a:extLst>
              <a:ext uri="{FF2B5EF4-FFF2-40B4-BE49-F238E27FC236}">
                <a16:creationId xmlns:a16="http://schemas.microsoft.com/office/drawing/2014/main" id="{5E66BF3C-B383-F606-8E6E-1F9C2F543BD3}"/>
              </a:ext>
            </a:extLst>
          </p:cNvPr>
          <p:cNvGraphicFramePr>
            <a:graphicFrameLocks noGrp="1"/>
          </p:cNvGraphicFramePr>
          <p:nvPr>
            <p:extLst>
              <p:ext uri="{D42A27DB-BD31-4B8C-83A1-F6EECF244321}">
                <p14:modId xmlns:p14="http://schemas.microsoft.com/office/powerpoint/2010/main" val="2803096933"/>
              </p:ext>
            </p:extLst>
          </p:nvPr>
        </p:nvGraphicFramePr>
        <p:xfrm>
          <a:off x="4245429" y="2990599"/>
          <a:ext cx="4273419" cy="2305876"/>
        </p:xfrm>
        <a:graphic>
          <a:graphicData uri="http://schemas.openxmlformats.org/drawingml/2006/table">
            <a:tbl>
              <a:tblPr firstRow="1" firstCol="1" bandRow="1">
                <a:tableStyleId>{5C22544A-7EE6-4342-B048-85BDC9FD1C3A}</a:tableStyleId>
              </a:tblPr>
              <a:tblGrid>
                <a:gridCol w="1424473">
                  <a:extLst>
                    <a:ext uri="{9D8B030D-6E8A-4147-A177-3AD203B41FA5}">
                      <a16:colId xmlns:a16="http://schemas.microsoft.com/office/drawing/2014/main" val="872311385"/>
                    </a:ext>
                  </a:extLst>
                </a:gridCol>
                <a:gridCol w="1424473">
                  <a:extLst>
                    <a:ext uri="{9D8B030D-6E8A-4147-A177-3AD203B41FA5}">
                      <a16:colId xmlns:a16="http://schemas.microsoft.com/office/drawing/2014/main" val="4147885996"/>
                    </a:ext>
                  </a:extLst>
                </a:gridCol>
                <a:gridCol w="1424473">
                  <a:extLst>
                    <a:ext uri="{9D8B030D-6E8A-4147-A177-3AD203B41FA5}">
                      <a16:colId xmlns:a16="http://schemas.microsoft.com/office/drawing/2014/main" val="4219278771"/>
                    </a:ext>
                  </a:extLst>
                </a:gridCol>
              </a:tblGrid>
              <a:tr h="211872">
                <a:tc>
                  <a:txBody>
                    <a:bodyPr/>
                    <a:lstStyle/>
                    <a:p>
                      <a:pPr>
                        <a:lnSpc>
                          <a:spcPct val="107000"/>
                        </a:lnSpc>
                        <a:spcAft>
                          <a:spcPts val="800"/>
                        </a:spcAft>
                        <a:buNone/>
                      </a:pPr>
                      <a:r>
                        <a:rPr lang="en-IN"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Data 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08527935"/>
                  </a:ext>
                </a:extLst>
              </a:tr>
              <a:tr h="411386">
                <a:tc>
                  <a:txBody>
                    <a:bodyPr/>
                    <a:lstStyle/>
                    <a:p>
                      <a:pPr>
                        <a:lnSpc>
                          <a:spcPct val="107000"/>
                        </a:lnSpc>
                        <a:spcAft>
                          <a:spcPts val="800"/>
                        </a:spcAft>
                        <a:buNone/>
                      </a:pPr>
                      <a:r>
                        <a:rPr lang="en-IN" sz="1100" kern="100">
                          <a:effectLst/>
                        </a:rPr>
                        <a:t>patientId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 (PK)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Unique ID for patient details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9844288"/>
                  </a:ext>
                </a:extLst>
              </a:tr>
              <a:tr h="211872">
                <a:tc>
                  <a:txBody>
                    <a:bodyPr/>
                    <a:lstStyle/>
                    <a:p>
                      <a:pPr>
                        <a:lnSpc>
                          <a:spcPct val="107000"/>
                        </a:lnSpc>
                        <a:spcAft>
                          <a:spcPts val="800"/>
                        </a:spcAft>
                        <a:buNone/>
                      </a:pPr>
                      <a:r>
                        <a:rPr lang="en-IN" sz="1100" kern="100" dirty="0" err="1">
                          <a:effectLst/>
                        </a:rPr>
                        <a:t>userId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 (FK)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Linked to User table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95841688"/>
                  </a:ext>
                </a:extLst>
              </a:tr>
              <a:tr h="211872">
                <a:tc>
                  <a:txBody>
                    <a:bodyPr/>
                    <a:lstStyle/>
                    <a:p>
                      <a:pPr>
                        <a:lnSpc>
                          <a:spcPct val="107000"/>
                        </a:lnSpc>
                        <a:spcAft>
                          <a:spcPts val="800"/>
                        </a:spcAft>
                        <a:buNone/>
                      </a:pPr>
                      <a:r>
                        <a:rPr lang="en-IN" sz="1100" kern="100" dirty="0">
                          <a:effectLst/>
                        </a:rPr>
                        <a:t>name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VARCHAR(50)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Patient full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54981324"/>
                  </a:ext>
                </a:extLst>
              </a:tr>
              <a:tr h="211872">
                <a:tc>
                  <a:txBody>
                    <a:bodyPr/>
                    <a:lstStyle/>
                    <a:p>
                      <a:pPr>
                        <a:lnSpc>
                          <a:spcPct val="107000"/>
                        </a:lnSpc>
                        <a:spcAft>
                          <a:spcPts val="800"/>
                        </a:spcAft>
                        <a:buNone/>
                      </a:pPr>
                      <a:r>
                        <a:rPr lang="en-IN" sz="1100" kern="100" dirty="0">
                          <a:effectLst/>
                        </a:rPr>
                        <a:t>height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DECIMAL(5,2)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Height in cm/m</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03746866"/>
                  </a:ext>
                </a:extLst>
              </a:tr>
              <a:tr h="211872">
                <a:tc>
                  <a:txBody>
                    <a:bodyPr/>
                    <a:lstStyle/>
                    <a:p>
                      <a:pPr>
                        <a:lnSpc>
                          <a:spcPct val="107000"/>
                        </a:lnSpc>
                        <a:spcAft>
                          <a:spcPts val="800"/>
                        </a:spcAft>
                        <a:buNone/>
                      </a:pPr>
                      <a:r>
                        <a:rPr lang="en-IN" sz="1100" kern="100">
                          <a:effectLst/>
                        </a:rPr>
                        <a:t>weight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DECIMAL(5,2)</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Weight in kg</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87385621"/>
                  </a:ext>
                </a:extLst>
              </a:tr>
              <a:tr h="211872">
                <a:tc>
                  <a:txBody>
                    <a:bodyPr/>
                    <a:lstStyle/>
                    <a:p>
                      <a:pPr>
                        <a:lnSpc>
                          <a:spcPct val="107000"/>
                        </a:lnSpc>
                        <a:spcAft>
                          <a:spcPts val="800"/>
                        </a:spcAft>
                        <a:buNone/>
                      </a:pPr>
                      <a:r>
                        <a:rPr lang="en-IN" sz="1100" kern="100" dirty="0">
                          <a:effectLst/>
                        </a:rPr>
                        <a:t>smoke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BOOLEAN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Smoking habit (Yes/No)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14094852"/>
                  </a:ext>
                </a:extLst>
              </a:tr>
              <a:tr h="211872">
                <a:tc>
                  <a:txBody>
                    <a:bodyPr/>
                    <a:lstStyle/>
                    <a:p>
                      <a:pPr>
                        <a:lnSpc>
                          <a:spcPct val="107000"/>
                        </a:lnSpc>
                        <a:spcAft>
                          <a:spcPts val="800"/>
                        </a:spcAft>
                        <a:buNone/>
                      </a:pPr>
                      <a:r>
                        <a:rPr lang="en-IN" sz="1100" kern="100">
                          <a:effectLst/>
                        </a:rPr>
                        <a:t>drink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BOOLEAN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Drinking habit (Yes/No)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813297095"/>
                  </a:ext>
                </a:extLst>
              </a:tr>
              <a:tr h="411386">
                <a:tc>
                  <a:txBody>
                    <a:bodyPr/>
                    <a:lstStyle/>
                    <a:p>
                      <a:pPr>
                        <a:lnSpc>
                          <a:spcPct val="107000"/>
                        </a:lnSpc>
                        <a:spcAft>
                          <a:spcPts val="800"/>
                        </a:spcAft>
                        <a:buNone/>
                      </a:pPr>
                      <a:r>
                        <a:rPr lang="en-IN" sz="1100" kern="100">
                          <a:effectLst/>
                        </a:rPr>
                        <a:t>pregnant</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BOOLEAN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Pregnancy status (Yes/No)</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58081895"/>
                  </a:ext>
                </a:extLst>
              </a:tr>
            </a:tbl>
          </a:graphicData>
        </a:graphic>
      </p:graphicFrame>
    </p:spTree>
    <p:extLst>
      <p:ext uri="{BB962C8B-B14F-4D97-AF65-F5344CB8AC3E}">
        <p14:creationId xmlns:p14="http://schemas.microsoft.com/office/powerpoint/2010/main" val="838764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8C86D0-17C3-61FF-FD19-2229F019AF1D}"/>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14C94F95-11FE-B86B-B1C2-09EC8466F41C}"/>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E9532A3D-83F6-5597-3EFE-F8B5B6AF84CE}"/>
              </a:ext>
            </a:extLst>
          </p:cNvPr>
          <p:cNvSpPr>
            <a:spLocks noGrp="1"/>
          </p:cNvSpPr>
          <p:nvPr>
            <p:ph type="sldNum" sz="quarter" idx="12"/>
          </p:nvPr>
        </p:nvSpPr>
        <p:spPr/>
        <p:txBody>
          <a:bodyPr/>
          <a:lstStyle/>
          <a:p>
            <a:fld id="{615D92F5-C6BD-4770-B93B-CCC7110BADD0}" type="slidenum">
              <a:rPr lang="en-US" smtClean="0"/>
              <a:pPr/>
              <a:t>15</a:t>
            </a:fld>
            <a:endParaRPr lang="en-US"/>
          </a:p>
        </p:txBody>
      </p:sp>
      <p:sp>
        <p:nvSpPr>
          <p:cNvPr id="6" name="TextBox 5">
            <a:extLst>
              <a:ext uri="{FF2B5EF4-FFF2-40B4-BE49-F238E27FC236}">
                <a16:creationId xmlns:a16="http://schemas.microsoft.com/office/drawing/2014/main" id="{D8B70913-E6AE-08D6-3F32-6483110B1641}"/>
              </a:ext>
            </a:extLst>
          </p:cNvPr>
          <p:cNvSpPr txBox="1"/>
          <p:nvPr/>
        </p:nvSpPr>
        <p:spPr>
          <a:xfrm>
            <a:off x="822961" y="210371"/>
            <a:ext cx="4572000" cy="584775"/>
          </a:xfrm>
          <a:prstGeom prst="rect">
            <a:avLst/>
          </a:prstGeom>
          <a:noFill/>
        </p:spPr>
        <p:txBody>
          <a:bodyPr wrap="square">
            <a:spAutoFit/>
          </a:bodyPr>
          <a:lstStyle/>
          <a:p>
            <a:pPr fontAlgn="ctr">
              <a:buNone/>
            </a:pPr>
            <a:r>
              <a:rPr lang="en-IN" sz="3200" b="1" dirty="0">
                <a:solidFill>
                  <a:srgbClr val="000000"/>
                </a:solidFill>
                <a:latin typeface="Calibri" panose="020F0502020204030204" pitchFamily="34" charset="0"/>
              </a:rPr>
              <a:t>8. System Design</a:t>
            </a:r>
          </a:p>
        </p:txBody>
      </p:sp>
      <p:sp>
        <p:nvSpPr>
          <p:cNvPr id="7" name="TextBox 6">
            <a:extLst>
              <a:ext uri="{FF2B5EF4-FFF2-40B4-BE49-F238E27FC236}">
                <a16:creationId xmlns:a16="http://schemas.microsoft.com/office/drawing/2014/main" id="{B043E479-F468-B316-23E0-8A41AA0F1BA5}"/>
              </a:ext>
            </a:extLst>
          </p:cNvPr>
          <p:cNvSpPr txBox="1"/>
          <p:nvPr/>
        </p:nvSpPr>
        <p:spPr>
          <a:xfrm>
            <a:off x="822961" y="961053"/>
            <a:ext cx="2334485" cy="646331"/>
          </a:xfrm>
          <a:prstGeom prst="rect">
            <a:avLst/>
          </a:prstGeom>
          <a:noFill/>
        </p:spPr>
        <p:txBody>
          <a:bodyPr wrap="none" rtlCol="0">
            <a:spAutoFit/>
          </a:bodyPr>
          <a:lstStyle/>
          <a:p>
            <a:r>
              <a:rPr lang="en-IN" b="1" dirty="0"/>
              <a:t>8.2.3 Symptoms Table</a:t>
            </a:r>
            <a:endParaRPr lang="en-IN" dirty="0"/>
          </a:p>
          <a:p>
            <a:endParaRPr lang="en-IN" dirty="0"/>
          </a:p>
        </p:txBody>
      </p:sp>
      <p:graphicFrame>
        <p:nvGraphicFramePr>
          <p:cNvPr id="10" name="Table 9">
            <a:extLst>
              <a:ext uri="{FF2B5EF4-FFF2-40B4-BE49-F238E27FC236}">
                <a16:creationId xmlns:a16="http://schemas.microsoft.com/office/drawing/2014/main" id="{D0A96263-B21F-7D31-8459-F62185B46350}"/>
              </a:ext>
            </a:extLst>
          </p:cNvPr>
          <p:cNvGraphicFramePr>
            <a:graphicFrameLocks noGrp="1"/>
          </p:cNvGraphicFramePr>
          <p:nvPr>
            <p:extLst>
              <p:ext uri="{D42A27DB-BD31-4B8C-83A1-F6EECF244321}">
                <p14:modId xmlns:p14="http://schemas.microsoft.com/office/powerpoint/2010/main" val="3076068486"/>
              </p:ext>
            </p:extLst>
          </p:nvPr>
        </p:nvGraphicFramePr>
        <p:xfrm>
          <a:off x="865562" y="1461212"/>
          <a:ext cx="2754714" cy="1853552"/>
        </p:xfrm>
        <a:graphic>
          <a:graphicData uri="http://schemas.openxmlformats.org/drawingml/2006/table">
            <a:tbl>
              <a:tblPr firstRow="1" firstCol="1" bandRow="1">
                <a:tableStyleId>{5C22544A-7EE6-4342-B048-85BDC9FD1C3A}</a:tableStyleId>
              </a:tblPr>
              <a:tblGrid>
                <a:gridCol w="918238">
                  <a:extLst>
                    <a:ext uri="{9D8B030D-6E8A-4147-A177-3AD203B41FA5}">
                      <a16:colId xmlns:a16="http://schemas.microsoft.com/office/drawing/2014/main" val="2972616077"/>
                    </a:ext>
                  </a:extLst>
                </a:gridCol>
                <a:gridCol w="918238">
                  <a:extLst>
                    <a:ext uri="{9D8B030D-6E8A-4147-A177-3AD203B41FA5}">
                      <a16:colId xmlns:a16="http://schemas.microsoft.com/office/drawing/2014/main" val="1918845166"/>
                    </a:ext>
                  </a:extLst>
                </a:gridCol>
                <a:gridCol w="918238">
                  <a:extLst>
                    <a:ext uri="{9D8B030D-6E8A-4147-A177-3AD203B41FA5}">
                      <a16:colId xmlns:a16="http://schemas.microsoft.com/office/drawing/2014/main" val="1740013936"/>
                    </a:ext>
                  </a:extLst>
                </a:gridCol>
              </a:tblGrid>
              <a:tr h="265824">
                <a:tc>
                  <a:txBody>
                    <a:bodyPr/>
                    <a:lstStyle/>
                    <a:p>
                      <a:pPr>
                        <a:lnSpc>
                          <a:spcPct val="107000"/>
                        </a:lnSpc>
                        <a:spcAft>
                          <a:spcPts val="800"/>
                        </a:spcAft>
                        <a:buNone/>
                      </a:pPr>
                      <a:r>
                        <a:rPr lang="en-IN"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Data 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65359385"/>
                  </a:ext>
                </a:extLst>
              </a:tr>
              <a:tr h="593896">
                <a:tc>
                  <a:txBody>
                    <a:bodyPr/>
                    <a:lstStyle/>
                    <a:p>
                      <a:pPr>
                        <a:lnSpc>
                          <a:spcPct val="107000"/>
                        </a:lnSpc>
                        <a:spcAft>
                          <a:spcPts val="800"/>
                        </a:spcAft>
                        <a:buNone/>
                      </a:pPr>
                      <a:r>
                        <a:rPr lang="en-IN" sz="1100" kern="100">
                          <a:effectLst/>
                        </a:rPr>
                        <a:t>symptomId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 (PK)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Unique symptom identifier</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0860661"/>
                  </a:ext>
                </a:extLst>
              </a:tr>
              <a:tr h="593896">
                <a:tc>
                  <a:txBody>
                    <a:bodyPr/>
                    <a:lstStyle/>
                    <a:p>
                      <a:pPr>
                        <a:lnSpc>
                          <a:spcPct val="107000"/>
                        </a:lnSpc>
                        <a:spcAft>
                          <a:spcPts val="800"/>
                        </a:spcAft>
                        <a:buNone/>
                      </a:pPr>
                      <a:r>
                        <a:rPr lang="en-IN" sz="1100" kern="100">
                          <a:effectLst/>
                        </a:rPr>
                        <a:t>symptomName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VARCHAR(50)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Symptom name (e.g., cough, fever)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29159633"/>
                  </a:ext>
                </a:extLst>
              </a:tr>
              <a:tr h="399936">
                <a:tc>
                  <a:txBody>
                    <a:bodyPr/>
                    <a:lstStyle/>
                    <a:p>
                      <a:pPr>
                        <a:lnSpc>
                          <a:spcPct val="107000"/>
                        </a:lnSpc>
                        <a:spcAft>
                          <a:spcPts val="800"/>
                        </a:spcAft>
                        <a:buNone/>
                      </a:pPr>
                      <a:r>
                        <a:rPr lang="en-IN"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VARCHAR(200)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Short description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94080333"/>
                  </a:ext>
                </a:extLst>
              </a:tr>
            </a:tbl>
          </a:graphicData>
        </a:graphic>
      </p:graphicFrame>
      <p:sp>
        <p:nvSpPr>
          <p:cNvPr id="12" name="TextBox 11">
            <a:extLst>
              <a:ext uri="{FF2B5EF4-FFF2-40B4-BE49-F238E27FC236}">
                <a16:creationId xmlns:a16="http://schemas.microsoft.com/office/drawing/2014/main" id="{D4942FB6-7E5C-EE29-FA54-1C8E0699518B}"/>
              </a:ext>
            </a:extLst>
          </p:cNvPr>
          <p:cNvSpPr txBox="1"/>
          <p:nvPr/>
        </p:nvSpPr>
        <p:spPr>
          <a:xfrm>
            <a:off x="4234275" y="908666"/>
            <a:ext cx="3191069" cy="375552"/>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Calibri" panose="020F0502020204030204" pitchFamily="34" charset="0"/>
              </a:rPr>
              <a:t>8.2.4 Prediction Table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EA6EAC3B-11F3-43C6-59E6-8577AF42C856}"/>
              </a:ext>
            </a:extLst>
          </p:cNvPr>
          <p:cNvGraphicFramePr>
            <a:graphicFrameLocks noGrp="1"/>
          </p:cNvGraphicFramePr>
          <p:nvPr>
            <p:extLst>
              <p:ext uri="{D42A27DB-BD31-4B8C-83A1-F6EECF244321}">
                <p14:modId xmlns:p14="http://schemas.microsoft.com/office/powerpoint/2010/main" val="3469947522"/>
              </p:ext>
            </p:extLst>
          </p:nvPr>
        </p:nvGraphicFramePr>
        <p:xfrm>
          <a:off x="3846080" y="1461212"/>
          <a:ext cx="4794066" cy="1853553"/>
        </p:xfrm>
        <a:graphic>
          <a:graphicData uri="http://schemas.openxmlformats.org/drawingml/2006/table">
            <a:tbl>
              <a:tblPr firstRow="1" firstCol="1" bandRow="1">
                <a:tableStyleId>{5C22544A-7EE6-4342-B048-85BDC9FD1C3A}</a:tableStyleId>
              </a:tblPr>
              <a:tblGrid>
                <a:gridCol w="1598022">
                  <a:extLst>
                    <a:ext uri="{9D8B030D-6E8A-4147-A177-3AD203B41FA5}">
                      <a16:colId xmlns:a16="http://schemas.microsoft.com/office/drawing/2014/main" val="3798931912"/>
                    </a:ext>
                  </a:extLst>
                </a:gridCol>
                <a:gridCol w="1598022">
                  <a:extLst>
                    <a:ext uri="{9D8B030D-6E8A-4147-A177-3AD203B41FA5}">
                      <a16:colId xmlns:a16="http://schemas.microsoft.com/office/drawing/2014/main" val="2015618382"/>
                    </a:ext>
                  </a:extLst>
                </a:gridCol>
                <a:gridCol w="1598022">
                  <a:extLst>
                    <a:ext uri="{9D8B030D-6E8A-4147-A177-3AD203B41FA5}">
                      <a16:colId xmlns:a16="http://schemas.microsoft.com/office/drawing/2014/main" val="609567310"/>
                    </a:ext>
                  </a:extLst>
                </a:gridCol>
              </a:tblGrid>
              <a:tr h="296733">
                <a:tc>
                  <a:txBody>
                    <a:bodyPr/>
                    <a:lstStyle/>
                    <a:p>
                      <a:pPr>
                        <a:lnSpc>
                          <a:spcPct val="107000"/>
                        </a:lnSpc>
                        <a:spcAft>
                          <a:spcPts val="800"/>
                        </a:spcAft>
                        <a:buNone/>
                      </a:pPr>
                      <a:r>
                        <a:rPr lang="en-IN"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Data Type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65866000"/>
                  </a:ext>
                </a:extLst>
              </a:tr>
              <a:tr h="296733">
                <a:tc>
                  <a:txBody>
                    <a:bodyPr/>
                    <a:lstStyle/>
                    <a:p>
                      <a:pPr>
                        <a:lnSpc>
                          <a:spcPct val="107000"/>
                        </a:lnSpc>
                        <a:spcAft>
                          <a:spcPts val="800"/>
                        </a:spcAft>
                        <a:buNone/>
                      </a:pPr>
                      <a:r>
                        <a:rPr lang="en-IN" sz="1100" kern="100">
                          <a:effectLst/>
                        </a:rPr>
                        <a:t>predictionId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 (PK)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Unique prediction result 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24380215"/>
                  </a:ext>
                </a:extLst>
              </a:tr>
              <a:tr h="296733">
                <a:tc>
                  <a:txBody>
                    <a:bodyPr/>
                    <a:lstStyle/>
                    <a:p>
                      <a:pPr>
                        <a:lnSpc>
                          <a:spcPct val="107000"/>
                        </a:lnSpc>
                        <a:spcAft>
                          <a:spcPts val="800"/>
                        </a:spcAft>
                        <a:buNone/>
                      </a:pPr>
                      <a:r>
                        <a:rPr lang="en-IN" sz="1100" kern="100">
                          <a:effectLst/>
                        </a:rPr>
                        <a:t>patientId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 (FK)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Linked to PatientDetails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52224441"/>
                  </a:ext>
                </a:extLst>
              </a:tr>
              <a:tr h="296733">
                <a:tc>
                  <a:txBody>
                    <a:bodyPr/>
                    <a:lstStyle/>
                    <a:p>
                      <a:pPr>
                        <a:lnSpc>
                          <a:spcPct val="107000"/>
                        </a:lnSpc>
                        <a:spcAft>
                          <a:spcPts val="800"/>
                        </a:spcAft>
                        <a:buNone/>
                      </a:pPr>
                      <a:r>
                        <a:rPr lang="en-IN" sz="1100" kern="100">
                          <a:effectLst/>
                        </a:rPr>
                        <a:t>resultDiagnosis</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VARCHAR(200)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Predicted illness/condition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77990565"/>
                  </a:ext>
                </a:extLst>
              </a:tr>
              <a:tr h="296733">
                <a:tc>
                  <a:txBody>
                    <a:bodyPr/>
                    <a:lstStyle/>
                    <a:p>
                      <a:pPr>
                        <a:lnSpc>
                          <a:spcPct val="107000"/>
                        </a:lnSpc>
                        <a:spcAft>
                          <a:spcPts val="800"/>
                        </a:spcAft>
                        <a:buNone/>
                      </a:pPr>
                      <a:r>
                        <a:rPr lang="en-IN" sz="1100" kern="100">
                          <a:effectLst/>
                        </a:rPr>
                        <a:t>prescription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VARCHAR(200)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Suggested treatment/medicine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2272025"/>
                  </a:ext>
                </a:extLst>
              </a:tr>
              <a:tr h="296733">
                <a:tc>
                  <a:txBody>
                    <a:bodyPr/>
                    <a:lstStyle/>
                    <a:p>
                      <a:pPr>
                        <a:lnSpc>
                          <a:spcPct val="107000"/>
                        </a:lnSpc>
                        <a:spcAft>
                          <a:spcPts val="800"/>
                        </a:spcAft>
                        <a:buNone/>
                      </a:pPr>
                      <a:r>
                        <a:rPr lang="en-IN" sz="1100" kern="100">
                          <a:effectLst/>
                        </a:rPr>
                        <a:t>rulesApplied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Rules/algorithms used</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59946800"/>
                  </a:ext>
                </a:extLst>
              </a:tr>
            </a:tbl>
          </a:graphicData>
        </a:graphic>
      </p:graphicFrame>
      <p:sp>
        <p:nvSpPr>
          <p:cNvPr id="15" name="TextBox 14">
            <a:extLst>
              <a:ext uri="{FF2B5EF4-FFF2-40B4-BE49-F238E27FC236}">
                <a16:creationId xmlns:a16="http://schemas.microsoft.com/office/drawing/2014/main" id="{0A7869DC-1FA4-0142-F246-DC2647E8255F}"/>
              </a:ext>
            </a:extLst>
          </p:cNvPr>
          <p:cNvSpPr txBox="1"/>
          <p:nvPr/>
        </p:nvSpPr>
        <p:spPr>
          <a:xfrm>
            <a:off x="871446" y="3654328"/>
            <a:ext cx="2198325" cy="375552"/>
          </a:xfrm>
          <a:prstGeom prst="rect">
            <a:avLst/>
          </a:prstGeom>
          <a:noFill/>
        </p:spPr>
        <p:txBody>
          <a:bodyPr wrap="square">
            <a:spAutoFit/>
          </a:bodyPr>
          <a:lstStyle/>
          <a:p>
            <a:pPr>
              <a:lnSpc>
                <a:spcPct val="107000"/>
              </a:lnSpc>
              <a:spcAft>
                <a:spcPts val="800"/>
              </a:spcAft>
              <a:buNone/>
            </a:pPr>
            <a:r>
              <a:rPr lang="en-IN" sz="1800" b="1" kern="100" dirty="0">
                <a:effectLst/>
                <a:latin typeface="Calibri" panose="020F0502020204030204" pitchFamily="34" charset="0"/>
                <a:ea typeface="Calibri" panose="020F0502020204030204" pitchFamily="34" charset="0"/>
                <a:cs typeface="Calibri" panose="020F0502020204030204" pitchFamily="34" charset="0"/>
              </a:rPr>
              <a:t>8.2.5</a:t>
            </a:r>
            <a:r>
              <a:rPr lang="en-IN" b="1" kern="100" dirty="0">
                <a:latin typeface="Calibri" panose="020F0502020204030204" pitchFamily="34" charset="0"/>
                <a:ea typeface="Calibri" panose="020F0502020204030204" pitchFamily="34" charset="0"/>
                <a:cs typeface="Calibri" panose="020F0502020204030204" pitchFamily="34" charset="0"/>
              </a:rPr>
              <a:t> </a:t>
            </a:r>
            <a:r>
              <a:rPr lang="en-IN" sz="1800" b="1" kern="100" dirty="0">
                <a:effectLst/>
                <a:latin typeface="Calibri" panose="020F0502020204030204" pitchFamily="34" charset="0"/>
                <a:ea typeface="Calibri" panose="020F0502020204030204" pitchFamily="34" charset="0"/>
                <a:cs typeface="Calibri" panose="020F0502020204030204" pitchFamily="34" charset="0"/>
              </a:rPr>
              <a:t>Hospital Table</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6" name="Table 15">
            <a:extLst>
              <a:ext uri="{FF2B5EF4-FFF2-40B4-BE49-F238E27FC236}">
                <a16:creationId xmlns:a16="http://schemas.microsoft.com/office/drawing/2014/main" id="{4B0A1435-7F82-A86F-39D1-BD960E6F82E4}"/>
              </a:ext>
            </a:extLst>
          </p:cNvPr>
          <p:cNvGraphicFramePr>
            <a:graphicFrameLocks noGrp="1"/>
          </p:cNvGraphicFramePr>
          <p:nvPr>
            <p:extLst>
              <p:ext uri="{D42A27DB-BD31-4B8C-83A1-F6EECF244321}">
                <p14:modId xmlns:p14="http://schemas.microsoft.com/office/powerpoint/2010/main" val="3436227341"/>
              </p:ext>
            </p:extLst>
          </p:nvPr>
        </p:nvGraphicFramePr>
        <p:xfrm>
          <a:off x="865563" y="4180904"/>
          <a:ext cx="5404608" cy="1768431"/>
        </p:xfrm>
        <a:graphic>
          <a:graphicData uri="http://schemas.openxmlformats.org/drawingml/2006/table">
            <a:tbl>
              <a:tblPr firstRow="1" firstCol="1" bandRow="1">
                <a:tableStyleId>{5C22544A-7EE6-4342-B048-85BDC9FD1C3A}</a:tableStyleId>
              </a:tblPr>
              <a:tblGrid>
                <a:gridCol w="1801536">
                  <a:extLst>
                    <a:ext uri="{9D8B030D-6E8A-4147-A177-3AD203B41FA5}">
                      <a16:colId xmlns:a16="http://schemas.microsoft.com/office/drawing/2014/main" val="3372974629"/>
                    </a:ext>
                  </a:extLst>
                </a:gridCol>
                <a:gridCol w="1801536">
                  <a:extLst>
                    <a:ext uri="{9D8B030D-6E8A-4147-A177-3AD203B41FA5}">
                      <a16:colId xmlns:a16="http://schemas.microsoft.com/office/drawing/2014/main" val="1883561092"/>
                    </a:ext>
                  </a:extLst>
                </a:gridCol>
                <a:gridCol w="1801536">
                  <a:extLst>
                    <a:ext uri="{9D8B030D-6E8A-4147-A177-3AD203B41FA5}">
                      <a16:colId xmlns:a16="http://schemas.microsoft.com/office/drawing/2014/main" val="454770169"/>
                    </a:ext>
                  </a:extLst>
                </a:gridCol>
              </a:tblGrid>
              <a:tr h="254756">
                <a:tc>
                  <a:txBody>
                    <a:bodyPr/>
                    <a:lstStyle/>
                    <a:p>
                      <a:pPr>
                        <a:lnSpc>
                          <a:spcPct val="107000"/>
                        </a:lnSpc>
                        <a:spcAft>
                          <a:spcPts val="800"/>
                        </a:spcAft>
                        <a:buNone/>
                      </a:pPr>
                      <a:r>
                        <a:rPr lang="en-IN" sz="1100" kern="100">
                          <a:effectLst/>
                        </a:rPr>
                        <a:t>Field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Data Type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Description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69535845"/>
                  </a:ext>
                </a:extLst>
              </a:tr>
              <a:tr h="254756">
                <a:tc>
                  <a:txBody>
                    <a:bodyPr/>
                    <a:lstStyle/>
                    <a:p>
                      <a:pPr>
                        <a:lnSpc>
                          <a:spcPct val="107000"/>
                        </a:lnSpc>
                        <a:spcAft>
                          <a:spcPts val="800"/>
                        </a:spcAft>
                        <a:buNone/>
                      </a:pPr>
                      <a:r>
                        <a:rPr lang="en-IN" sz="1100" kern="100">
                          <a:effectLst/>
                        </a:rPr>
                        <a:t>hospitalId</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INT (PK)</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Unique hospital identifier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00310499"/>
                  </a:ext>
                </a:extLst>
              </a:tr>
              <a:tr h="254756">
                <a:tc>
                  <a:txBody>
                    <a:bodyPr/>
                    <a:lstStyle/>
                    <a:p>
                      <a:pPr>
                        <a:lnSpc>
                          <a:spcPct val="107000"/>
                        </a:lnSpc>
                        <a:spcAft>
                          <a:spcPts val="800"/>
                        </a:spcAft>
                        <a:buNone/>
                      </a:pPr>
                      <a:r>
                        <a:rPr lang="en-IN" sz="1100" kern="100">
                          <a:effectLst/>
                        </a:rPr>
                        <a:t>hospitalName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Hospital name</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25850108"/>
                  </a:ext>
                </a:extLst>
              </a:tr>
              <a:tr h="254756">
                <a:tc>
                  <a:txBody>
                    <a:bodyPr/>
                    <a:lstStyle/>
                    <a:p>
                      <a:pPr>
                        <a:lnSpc>
                          <a:spcPct val="107000"/>
                        </a:lnSpc>
                        <a:spcAft>
                          <a:spcPts val="800"/>
                        </a:spcAft>
                        <a:buNone/>
                      </a:pPr>
                      <a:r>
                        <a:rPr lang="en-IN" sz="1100" kern="100">
                          <a:effectLst/>
                        </a:rPr>
                        <a:t>location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Address/Location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99316259"/>
                  </a:ext>
                </a:extLst>
              </a:tr>
              <a:tr h="254756">
                <a:tc>
                  <a:txBody>
                    <a:bodyPr/>
                    <a:lstStyle/>
                    <a:p>
                      <a:pPr>
                        <a:lnSpc>
                          <a:spcPct val="107000"/>
                        </a:lnSpc>
                        <a:spcAft>
                          <a:spcPts val="800"/>
                        </a:spcAft>
                        <a:buNone/>
                      </a:pPr>
                      <a:r>
                        <a:rPr lang="en-IN" sz="1100" kern="100">
                          <a:effectLst/>
                        </a:rPr>
                        <a:t>contactNo</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VARCHAR(15)</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Hospital contact number</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526038381"/>
                  </a:ext>
                </a:extLst>
              </a:tr>
              <a:tr h="494651">
                <a:tc>
                  <a:txBody>
                    <a:bodyPr/>
                    <a:lstStyle/>
                    <a:p>
                      <a:pPr>
                        <a:lnSpc>
                          <a:spcPct val="107000"/>
                        </a:lnSpc>
                        <a:spcAft>
                          <a:spcPts val="800"/>
                        </a:spcAft>
                        <a:buNone/>
                      </a:pPr>
                      <a:r>
                        <a:rPr lang="en-IN" sz="1100" kern="100">
                          <a:effectLst/>
                        </a:rPr>
                        <a:t>specialization</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a:effectLst/>
                        </a:rPr>
                        <a:t>VARCHAR(100)</a:t>
                      </a: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100" kern="100" dirty="0">
                          <a:effectLst/>
                        </a:rPr>
                        <a:t>Type of hospital (Cardiology, General, etc.)</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67889107"/>
                  </a:ext>
                </a:extLst>
              </a:tr>
            </a:tbl>
          </a:graphicData>
        </a:graphic>
      </p:graphicFrame>
    </p:spTree>
    <p:extLst>
      <p:ext uri="{BB962C8B-B14F-4D97-AF65-F5344CB8AC3E}">
        <p14:creationId xmlns:p14="http://schemas.microsoft.com/office/powerpoint/2010/main" val="121207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A9B2EC-15D8-A60C-8948-B38B91DB6273}"/>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37F5F6CE-F2D6-586B-E122-50B83324B4DD}"/>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471E6581-089E-5593-52F7-C256BCBDF68C}"/>
              </a:ext>
            </a:extLst>
          </p:cNvPr>
          <p:cNvSpPr>
            <a:spLocks noGrp="1"/>
          </p:cNvSpPr>
          <p:nvPr>
            <p:ph type="sldNum" sz="quarter" idx="12"/>
          </p:nvPr>
        </p:nvSpPr>
        <p:spPr/>
        <p:txBody>
          <a:bodyPr/>
          <a:lstStyle/>
          <a:p>
            <a:fld id="{615D92F5-C6BD-4770-B93B-CCC7110BADD0}" type="slidenum">
              <a:rPr lang="en-US" smtClean="0"/>
              <a:pPr/>
              <a:t>16</a:t>
            </a:fld>
            <a:endParaRPr lang="en-US"/>
          </a:p>
        </p:txBody>
      </p:sp>
      <p:sp>
        <p:nvSpPr>
          <p:cNvPr id="5" name="TextBox 4">
            <a:extLst>
              <a:ext uri="{FF2B5EF4-FFF2-40B4-BE49-F238E27FC236}">
                <a16:creationId xmlns:a16="http://schemas.microsoft.com/office/drawing/2014/main" id="{CC723D42-8CA0-1FE8-9BDF-1DB8C07F2D5C}"/>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8. System Design</a:t>
            </a:r>
          </a:p>
        </p:txBody>
      </p:sp>
      <p:sp>
        <p:nvSpPr>
          <p:cNvPr id="6" name="Rectangle 5">
            <a:extLst>
              <a:ext uri="{FF2B5EF4-FFF2-40B4-BE49-F238E27FC236}">
                <a16:creationId xmlns:a16="http://schemas.microsoft.com/office/drawing/2014/main" id="{6E674A1F-4E08-99DA-DD97-2F5A01A82359}"/>
              </a:ext>
            </a:extLst>
          </p:cNvPr>
          <p:cNvSpPr>
            <a:spLocks noChangeArrowheads="1"/>
          </p:cNvSpPr>
          <p:nvPr/>
        </p:nvSpPr>
        <p:spPr bwMode="auto">
          <a:xfrm>
            <a:off x="439271" y="1024391"/>
            <a:ext cx="81517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1. User Table</a:t>
            </a:r>
            <a:br>
              <a:rPr lang="en-US" dirty="0"/>
            </a:br>
            <a:r>
              <a:rPr lang="en-US" dirty="0"/>
              <a:t>Stores basic user information including name, email, contact, and age. Each user is uniquely identified by </a:t>
            </a:r>
            <a:r>
              <a:rPr lang="en-US" dirty="0" err="1"/>
              <a:t>userId</a:t>
            </a:r>
            <a:r>
              <a:rPr lang="en-US" dirty="0"/>
              <a:t>.</a:t>
            </a:r>
          </a:p>
          <a:p>
            <a:r>
              <a:rPr lang="en-US" b="1" dirty="0"/>
              <a:t>2. </a:t>
            </a:r>
            <a:r>
              <a:rPr lang="en-US" b="1" dirty="0" err="1"/>
              <a:t>PatientDetails</a:t>
            </a:r>
            <a:r>
              <a:rPr lang="en-US" b="1" dirty="0"/>
              <a:t> Table</a:t>
            </a:r>
            <a:br>
              <a:rPr lang="en-US" dirty="0"/>
            </a:br>
            <a:r>
              <a:rPr lang="en-US" dirty="0"/>
              <a:t>Contains detailed health-related data of a user such as height, weight, smoking/drinking habits, and pregnancy status, linked to the User table via </a:t>
            </a:r>
            <a:r>
              <a:rPr lang="en-US" dirty="0" err="1"/>
              <a:t>userId</a:t>
            </a:r>
            <a:r>
              <a:rPr lang="en-US" dirty="0"/>
              <a:t>.</a:t>
            </a:r>
          </a:p>
          <a:p>
            <a:r>
              <a:rPr lang="en-US" b="1" dirty="0"/>
              <a:t>3. Symptoms Table</a:t>
            </a:r>
            <a:br>
              <a:rPr lang="en-US" dirty="0"/>
            </a:br>
            <a:r>
              <a:rPr lang="en-US" dirty="0"/>
              <a:t>Maintains a list of symptoms with unique IDs and short descriptions for each symptom.</a:t>
            </a:r>
          </a:p>
          <a:p>
            <a:r>
              <a:rPr lang="en-US" b="1" dirty="0"/>
              <a:t>4. Prediction Table</a:t>
            </a:r>
            <a:br>
              <a:rPr lang="en-US" dirty="0"/>
            </a:br>
            <a:r>
              <a:rPr lang="en-US" dirty="0"/>
              <a:t>Stores diagnosed results generated by the system, including predicted disease, suggested prescription, and rules/algorithms applied. Linked to patient records through </a:t>
            </a:r>
            <a:r>
              <a:rPr lang="en-US" dirty="0" err="1"/>
              <a:t>patientId</a:t>
            </a:r>
            <a:r>
              <a:rPr lang="en-US" dirty="0"/>
              <a:t>.</a:t>
            </a:r>
          </a:p>
          <a:p>
            <a:r>
              <a:rPr lang="en-US" b="1" dirty="0"/>
              <a:t>5. Hospital Table</a:t>
            </a:r>
            <a:br>
              <a:rPr lang="en-US" dirty="0"/>
            </a:br>
            <a:r>
              <a:rPr lang="en-US" dirty="0"/>
              <a:t>Contains information about hospitals, including name, location, contact number, and specialization for recommending nearby medical facilities.</a:t>
            </a:r>
          </a:p>
        </p:txBody>
      </p:sp>
    </p:spTree>
    <p:extLst>
      <p:ext uri="{BB962C8B-B14F-4D97-AF65-F5344CB8AC3E}">
        <p14:creationId xmlns:p14="http://schemas.microsoft.com/office/powerpoint/2010/main" val="2116219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C2FF6E-B430-33CE-592B-2ECA057E19E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EA1DC253-978B-412E-F242-9E1279D170BE}"/>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CB96289F-E608-1DEC-7924-DD53BA87091D}"/>
              </a:ext>
            </a:extLst>
          </p:cNvPr>
          <p:cNvSpPr>
            <a:spLocks noGrp="1"/>
          </p:cNvSpPr>
          <p:nvPr>
            <p:ph type="sldNum" sz="quarter" idx="12"/>
          </p:nvPr>
        </p:nvSpPr>
        <p:spPr/>
        <p:txBody>
          <a:bodyPr/>
          <a:lstStyle/>
          <a:p>
            <a:fld id="{615D92F5-C6BD-4770-B93B-CCC7110BADD0}" type="slidenum">
              <a:rPr lang="en-US" smtClean="0"/>
              <a:pPr/>
              <a:t>17</a:t>
            </a:fld>
            <a:endParaRPr lang="en-US"/>
          </a:p>
        </p:txBody>
      </p:sp>
      <p:sp>
        <p:nvSpPr>
          <p:cNvPr id="5" name="TextBox 4">
            <a:extLst>
              <a:ext uri="{FF2B5EF4-FFF2-40B4-BE49-F238E27FC236}">
                <a16:creationId xmlns:a16="http://schemas.microsoft.com/office/drawing/2014/main" id="{C027967C-51AF-B441-CF0E-DEEEE32B0BA2}"/>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761339E8-2D69-A159-4697-95AFFA25DFFF}"/>
              </a:ext>
            </a:extLst>
          </p:cNvPr>
          <p:cNvSpPr>
            <a:spLocks noChangeArrowheads="1"/>
          </p:cNvSpPr>
          <p:nvPr/>
        </p:nvSpPr>
        <p:spPr bwMode="auto">
          <a:xfrm>
            <a:off x="439271" y="1014559"/>
            <a:ext cx="81517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9.1 Welcome</a:t>
            </a:r>
          </a:p>
          <a:p>
            <a:r>
              <a:rPr lang="en-US" dirty="0"/>
              <a:t>	</a:t>
            </a:r>
            <a:endParaRPr lang="en-IN" dirty="0"/>
          </a:p>
        </p:txBody>
      </p:sp>
      <p:pic>
        <p:nvPicPr>
          <p:cNvPr id="9" name="Picture 8">
            <a:extLst>
              <a:ext uri="{FF2B5EF4-FFF2-40B4-BE49-F238E27FC236}">
                <a16:creationId xmlns:a16="http://schemas.microsoft.com/office/drawing/2014/main" id="{E44AF1FC-D0CA-87C8-0C43-B3E97EE11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71" y="1431009"/>
            <a:ext cx="8265458" cy="3995981"/>
          </a:xfrm>
          <a:prstGeom prst="rect">
            <a:avLst/>
          </a:prstGeom>
        </p:spPr>
      </p:pic>
    </p:spTree>
    <p:extLst>
      <p:ext uri="{BB962C8B-B14F-4D97-AF65-F5344CB8AC3E}">
        <p14:creationId xmlns:p14="http://schemas.microsoft.com/office/powerpoint/2010/main" val="31756092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527DB3-DC41-D8A2-BBD1-73631AA8D077}"/>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D6A93257-B6A9-D9F1-ED29-6BD3DDC5F337}"/>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2FA567D5-B215-096B-CC0A-4ABED0190E0E}"/>
              </a:ext>
            </a:extLst>
          </p:cNvPr>
          <p:cNvSpPr>
            <a:spLocks noGrp="1"/>
          </p:cNvSpPr>
          <p:nvPr>
            <p:ph type="sldNum" sz="quarter" idx="12"/>
          </p:nvPr>
        </p:nvSpPr>
        <p:spPr/>
        <p:txBody>
          <a:bodyPr/>
          <a:lstStyle/>
          <a:p>
            <a:fld id="{615D92F5-C6BD-4770-B93B-CCC7110BADD0}" type="slidenum">
              <a:rPr lang="en-US" smtClean="0"/>
              <a:pPr/>
              <a:t>18</a:t>
            </a:fld>
            <a:endParaRPr lang="en-US"/>
          </a:p>
        </p:txBody>
      </p:sp>
      <p:sp>
        <p:nvSpPr>
          <p:cNvPr id="5" name="TextBox 4">
            <a:extLst>
              <a:ext uri="{FF2B5EF4-FFF2-40B4-BE49-F238E27FC236}">
                <a16:creationId xmlns:a16="http://schemas.microsoft.com/office/drawing/2014/main" id="{B2B841B2-DE0A-621A-F29E-2E092317A67D}"/>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8" name="TextBox 7">
            <a:extLst>
              <a:ext uri="{FF2B5EF4-FFF2-40B4-BE49-F238E27FC236}">
                <a16:creationId xmlns:a16="http://schemas.microsoft.com/office/drawing/2014/main" id="{EA2931A5-D854-8AC1-8A5B-BC722DC05A5A}"/>
              </a:ext>
            </a:extLst>
          </p:cNvPr>
          <p:cNvSpPr txBox="1"/>
          <p:nvPr/>
        </p:nvSpPr>
        <p:spPr>
          <a:xfrm>
            <a:off x="439271" y="954398"/>
            <a:ext cx="4572000" cy="369332"/>
          </a:xfrm>
          <a:prstGeom prst="rect">
            <a:avLst/>
          </a:prstGeom>
          <a:noFill/>
        </p:spPr>
        <p:txBody>
          <a:bodyPr wrap="square">
            <a:spAutoFit/>
          </a:bodyPr>
          <a:lstStyle/>
          <a:p>
            <a:r>
              <a:rPr lang="en-US" b="1" dirty="0"/>
              <a:t>9.2 </a:t>
            </a:r>
            <a:r>
              <a:rPr lang="en-IN" b="1" dirty="0"/>
              <a:t>User Details Form</a:t>
            </a:r>
            <a:endParaRPr lang="en-US" b="1" dirty="0"/>
          </a:p>
        </p:txBody>
      </p:sp>
      <p:pic>
        <p:nvPicPr>
          <p:cNvPr id="12" name="Picture 11">
            <a:extLst>
              <a:ext uri="{FF2B5EF4-FFF2-40B4-BE49-F238E27FC236}">
                <a16:creationId xmlns:a16="http://schemas.microsoft.com/office/drawing/2014/main" id="{3C76896A-BEC2-9CD3-511E-AA8C373D47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71" y="1373078"/>
            <a:ext cx="8490858" cy="4258697"/>
          </a:xfrm>
          <a:prstGeom prst="rect">
            <a:avLst/>
          </a:prstGeom>
        </p:spPr>
      </p:pic>
    </p:spTree>
    <p:extLst>
      <p:ext uri="{BB962C8B-B14F-4D97-AF65-F5344CB8AC3E}">
        <p14:creationId xmlns:p14="http://schemas.microsoft.com/office/powerpoint/2010/main" val="678088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D35AD-4E25-F532-6204-6903383B2747}"/>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9B275B16-5672-5DEC-CDE3-B70D2387C424}"/>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58DDA33F-18D1-D74A-73AA-DA8E020EEC61}"/>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B60FFA91-4731-11FA-1658-C7E2463E9301}"/>
              </a:ext>
            </a:extLst>
          </p:cNvPr>
          <p:cNvSpPr>
            <a:spLocks noGrp="1"/>
          </p:cNvSpPr>
          <p:nvPr>
            <p:ph type="sldNum" sz="quarter" idx="12"/>
          </p:nvPr>
        </p:nvSpPr>
        <p:spPr/>
        <p:txBody>
          <a:bodyPr/>
          <a:lstStyle/>
          <a:p>
            <a:fld id="{615D92F5-C6BD-4770-B93B-CCC7110BADD0}" type="slidenum">
              <a:rPr lang="en-US" smtClean="0"/>
              <a:pPr/>
              <a:t>19</a:t>
            </a:fld>
            <a:endParaRPr lang="en-US"/>
          </a:p>
        </p:txBody>
      </p:sp>
      <p:sp>
        <p:nvSpPr>
          <p:cNvPr id="5" name="TextBox 4">
            <a:extLst>
              <a:ext uri="{FF2B5EF4-FFF2-40B4-BE49-F238E27FC236}">
                <a16:creationId xmlns:a16="http://schemas.microsoft.com/office/drawing/2014/main" id="{687C7501-CD6A-CF0E-AB22-F0A7156B6065}"/>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8" name="TextBox 7">
            <a:extLst>
              <a:ext uri="{FF2B5EF4-FFF2-40B4-BE49-F238E27FC236}">
                <a16:creationId xmlns:a16="http://schemas.microsoft.com/office/drawing/2014/main" id="{07A4C9D4-A2C3-D2D6-0BC2-971472681F79}"/>
              </a:ext>
            </a:extLst>
          </p:cNvPr>
          <p:cNvSpPr txBox="1"/>
          <p:nvPr/>
        </p:nvSpPr>
        <p:spPr>
          <a:xfrm>
            <a:off x="439271" y="954398"/>
            <a:ext cx="4572000" cy="369332"/>
          </a:xfrm>
          <a:prstGeom prst="rect">
            <a:avLst/>
          </a:prstGeom>
          <a:noFill/>
        </p:spPr>
        <p:txBody>
          <a:bodyPr wrap="square">
            <a:spAutoFit/>
          </a:bodyPr>
          <a:lstStyle/>
          <a:p>
            <a:r>
              <a:rPr lang="en-US" b="1" dirty="0"/>
              <a:t>9.2 </a:t>
            </a:r>
            <a:r>
              <a:rPr lang="en-IN" b="1" dirty="0"/>
              <a:t>User Details Form For symptoms</a:t>
            </a:r>
            <a:endParaRPr lang="en-US" b="1" dirty="0"/>
          </a:p>
        </p:txBody>
      </p:sp>
      <p:pic>
        <p:nvPicPr>
          <p:cNvPr id="7" name="Picture 6">
            <a:extLst>
              <a:ext uri="{FF2B5EF4-FFF2-40B4-BE49-F238E27FC236}">
                <a16:creationId xmlns:a16="http://schemas.microsoft.com/office/drawing/2014/main" id="{1E26B88F-0CD1-E8B6-7BDE-5461422FFA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70" y="1431121"/>
            <a:ext cx="8536779" cy="4301737"/>
          </a:xfrm>
          <a:prstGeom prst="rect">
            <a:avLst/>
          </a:prstGeom>
        </p:spPr>
      </p:pic>
    </p:spTree>
    <p:extLst>
      <p:ext uri="{BB962C8B-B14F-4D97-AF65-F5344CB8AC3E}">
        <p14:creationId xmlns:p14="http://schemas.microsoft.com/office/powerpoint/2010/main" val="322843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6BD17-02AD-F39D-5A34-958EBA9C54C0}"/>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DC686B6-81C9-E750-1DAF-5203B4A85990}"/>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1FB273A3-0D33-D86E-6A0E-41BA1F5EF789}"/>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AC136D18-E5FA-7D89-539E-E2571A55372A}"/>
              </a:ext>
            </a:extLst>
          </p:cNvPr>
          <p:cNvSpPr>
            <a:spLocks noGrp="1"/>
          </p:cNvSpPr>
          <p:nvPr>
            <p:ph type="sldNum" sz="quarter" idx="12"/>
          </p:nvPr>
        </p:nvSpPr>
        <p:spPr/>
        <p:txBody>
          <a:bodyPr/>
          <a:lstStyle/>
          <a:p>
            <a:fld id="{615D92F5-C6BD-4770-B93B-CCC7110BADD0}" type="slidenum">
              <a:rPr lang="en-US" smtClean="0"/>
              <a:pPr/>
              <a:t>20</a:t>
            </a:fld>
            <a:endParaRPr lang="en-US"/>
          </a:p>
        </p:txBody>
      </p:sp>
      <p:sp>
        <p:nvSpPr>
          <p:cNvPr id="5" name="TextBox 4">
            <a:extLst>
              <a:ext uri="{FF2B5EF4-FFF2-40B4-BE49-F238E27FC236}">
                <a16:creationId xmlns:a16="http://schemas.microsoft.com/office/drawing/2014/main" id="{A70D5CAA-A541-31C5-106F-C068EB3C1176}"/>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8" name="TextBox 7">
            <a:extLst>
              <a:ext uri="{FF2B5EF4-FFF2-40B4-BE49-F238E27FC236}">
                <a16:creationId xmlns:a16="http://schemas.microsoft.com/office/drawing/2014/main" id="{1F7A091E-1517-6032-C8C9-BBE4076C929D}"/>
              </a:ext>
            </a:extLst>
          </p:cNvPr>
          <p:cNvSpPr txBox="1"/>
          <p:nvPr/>
        </p:nvSpPr>
        <p:spPr>
          <a:xfrm>
            <a:off x="439271" y="954398"/>
            <a:ext cx="4572000" cy="369332"/>
          </a:xfrm>
          <a:prstGeom prst="rect">
            <a:avLst/>
          </a:prstGeom>
          <a:noFill/>
        </p:spPr>
        <p:txBody>
          <a:bodyPr wrap="square">
            <a:spAutoFit/>
          </a:bodyPr>
          <a:lstStyle/>
          <a:p>
            <a:r>
              <a:rPr lang="en-US" b="1" dirty="0"/>
              <a:t>9.2 </a:t>
            </a:r>
            <a:r>
              <a:rPr lang="en-IN" b="1" dirty="0"/>
              <a:t>Disease Prediction Report</a:t>
            </a:r>
            <a:endParaRPr lang="en-US" b="1" dirty="0"/>
          </a:p>
        </p:txBody>
      </p:sp>
      <p:pic>
        <p:nvPicPr>
          <p:cNvPr id="9" name="Picture 8">
            <a:extLst>
              <a:ext uri="{FF2B5EF4-FFF2-40B4-BE49-F238E27FC236}">
                <a16:creationId xmlns:a16="http://schemas.microsoft.com/office/drawing/2014/main" id="{AF34A54D-7985-7387-BCBC-C71F63FB2D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70" y="1482534"/>
            <a:ext cx="8452803" cy="4239609"/>
          </a:xfrm>
          <a:prstGeom prst="rect">
            <a:avLst/>
          </a:prstGeom>
        </p:spPr>
      </p:pic>
    </p:spTree>
    <p:extLst>
      <p:ext uri="{BB962C8B-B14F-4D97-AF65-F5344CB8AC3E}">
        <p14:creationId xmlns:p14="http://schemas.microsoft.com/office/powerpoint/2010/main" val="34579594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ACE0D-488D-8081-7FFC-EEA0AB14D94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DCC0B5D-C3F9-BEFD-4D2F-8CBA32E79D10}"/>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6BB3BA7B-DF24-CCD0-891B-0896757A4B51}"/>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9D51239D-AC42-ECFC-A3E3-4EEBF9626228}"/>
              </a:ext>
            </a:extLst>
          </p:cNvPr>
          <p:cNvSpPr>
            <a:spLocks noGrp="1"/>
          </p:cNvSpPr>
          <p:nvPr>
            <p:ph type="sldNum" sz="quarter" idx="12"/>
          </p:nvPr>
        </p:nvSpPr>
        <p:spPr/>
        <p:txBody>
          <a:bodyPr/>
          <a:lstStyle/>
          <a:p>
            <a:fld id="{615D92F5-C6BD-4770-B93B-CCC7110BADD0}" type="slidenum">
              <a:rPr lang="en-US" smtClean="0"/>
              <a:pPr/>
              <a:t>21</a:t>
            </a:fld>
            <a:endParaRPr lang="en-US"/>
          </a:p>
        </p:txBody>
      </p:sp>
      <p:sp>
        <p:nvSpPr>
          <p:cNvPr id="5" name="TextBox 4">
            <a:extLst>
              <a:ext uri="{FF2B5EF4-FFF2-40B4-BE49-F238E27FC236}">
                <a16:creationId xmlns:a16="http://schemas.microsoft.com/office/drawing/2014/main" id="{4AEE023B-FC46-13AE-55FE-84C411706E7C}"/>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8" name="TextBox 7">
            <a:extLst>
              <a:ext uri="{FF2B5EF4-FFF2-40B4-BE49-F238E27FC236}">
                <a16:creationId xmlns:a16="http://schemas.microsoft.com/office/drawing/2014/main" id="{69160EA3-7321-A420-D7F2-76D450610630}"/>
              </a:ext>
            </a:extLst>
          </p:cNvPr>
          <p:cNvSpPr txBox="1"/>
          <p:nvPr/>
        </p:nvSpPr>
        <p:spPr>
          <a:xfrm>
            <a:off x="439271" y="954398"/>
            <a:ext cx="4572000" cy="369332"/>
          </a:xfrm>
          <a:prstGeom prst="rect">
            <a:avLst/>
          </a:prstGeom>
          <a:noFill/>
        </p:spPr>
        <p:txBody>
          <a:bodyPr wrap="square">
            <a:spAutoFit/>
          </a:bodyPr>
          <a:lstStyle/>
          <a:p>
            <a:r>
              <a:rPr lang="en-US" b="1" dirty="0"/>
              <a:t>9.2 </a:t>
            </a:r>
            <a:r>
              <a:rPr lang="en-IN" b="1" dirty="0"/>
              <a:t>Medication </a:t>
            </a:r>
            <a:endParaRPr lang="en-US" b="1" dirty="0"/>
          </a:p>
        </p:txBody>
      </p:sp>
      <p:pic>
        <p:nvPicPr>
          <p:cNvPr id="17" name="Picture 16">
            <a:extLst>
              <a:ext uri="{FF2B5EF4-FFF2-40B4-BE49-F238E27FC236}">
                <a16:creationId xmlns:a16="http://schemas.microsoft.com/office/drawing/2014/main" id="{9864696E-4B36-8D10-81D7-EE5F373F83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70" y="1399809"/>
            <a:ext cx="8574101" cy="4347338"/>
          </a:xfrm>
          <a:prstGeom prst="rect">
            <a:avLst/>
          </a:prstGeom>
        </p:spPr>
      </p:pic>
    </p:spTree>
    <p:extLst>
      <p:ext uri="{BB962C8B-B14F-4D97-AF65-F5344CB8AC3E}">
        <p14:creationId xmlns:p14="http://schemas.microsoft.com/office/powerpoint/2010/main" val="1254348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E8BCC-B3D1-BE02-3C41-267FDF054D0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A9AA0E9-0E3E-3267-656B-6953427A63E5}"/>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B5F5181A-A0FB-9D89-81D1-9C712488E19F}"/>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6D275570-D7E2-A4FE-8985-3131B70F1E03}"/>
              </a:ext>
            </a:extLst>
          </p:cNvPr>
          <p:cNvSpPr>
            <a:spLocks noGrp="1"/>
          </p:cNvSpPr>
          <p:nvPr>
            <p:ph type="sldNum" sz="quarter" idx="12"/>
          </p:nvPr>
        </p:nvSpPr>
        <p:spPr/>
        <p:txBody>
          <a:bodyPr/>
          <a:lstStyle/>
          <a:p>
            <a:fld id="{615D92F5-C6BD-4770-B93B-CCC7110BADD0}" type="slidenum">
              <a:rPr lang="en-US" smtClean="0"/>
              <a:pPr/>
              <a:t>22</a:t>
            </a:fld>
            <a:endParaRPr lang="en-US"/>
          </a:p>
        </p:txBody>
      </p:sp>
      <p:sp>
        <p:nvSpPr>
          <p:cNvPr id="5" name="TextBox 4">
            <a:extLst>
              <a:ext uri="{FF2B5EF4-FFF2-40B4-BE49-F238E27FC236}">
                <a16:creationId xmlns:a16="http://schemas.microsoft.com/office/drawing/2014/main" id="{12D844EC-8D8F-C55C-5C8A-D9DA091A8DF7}"/>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8" name="TextBox 7">
            <a:extLst>
              <a:ext uri="{FF2B5EF4-FFF2-40B4-BE49-F238E27FC236}">
                <a16:creationId xmlns:a16="http://schemas.microsoft.com/office/drawing/2014/main" id="{FBD51E4A-67CA-91F8-09B6-7D05E976B288}"/>
              </a:ext>
            </a:extLst>
          </p:cNvPr>
          <p:cNvSpPr txBox="1"/>
          <p:nvPr/>
        </p:nvSpPr>
        <p:spPr>
          <a:xfrm>
            <a:off x="439271" y="954398"/>
            <a:ext cx="4572000" cy="369332"/>
          </a:xfrm>
          <a:prstGeom prst="rect">
            <a:avLst/>
          </a:prstGeom>
          <a:noFill/>
        </p:spPr>
        <p:txBody>
          <a:bodyPr wrap="square">
            <a:spAutoFit/>
          </a:bodyPr>
          <a:lstStyle/>
          <a:p>
            <a:r>
              <a:rPr lang="en-US" b="1" dirty="0"/>
              <a:t>9.2 </a:t>
            </a:r>
            <a:r>
              <a:rPr lang="en-IN" b="1" dirty="0"/>
              <a:t>Prescription</a:t>
            </a:r>
            <a:endParaRPr lang="en-US" b="1" dirty="0"/>
          </a:p>
        </p:txBody>
      </p:sp>
      <p:pic>
        <p:nvPicPr>
          <p:cNvPr id="7" name="Picture 6">
            <a:extLst>
              <a:ext uri="{FF2B5EF4-FFF2-40B4-BE49-F238E27FC236}">
                <a16:creationId xmlns:a16="http://schemas.microsoft.com/office/drawing/2014/main" id="{0EF56722-0651-43D7-6EA9-A2C9C6E5EF43}"/>
              </a:ext>
            </a:extLst>
          </p:cNvPr>
          <p:cNvPicPr>
            <a:picLocks noChangeAspect="1"/>
          </p:cNvPicPr>
          <p:nvPr/>
        </p:nvPicPr>
        <p:blipFill>
          <a:blip r:embed="rId2">
            <a:extLst>
              <a:ext uri="{28A0092B-C50C-407E-A947-70E740481C1C}">
                <a14:useLocalDpi xmlns:a14="http://schemas.microsoft.com/office/drawing/2010/main" val="0"/>
              </a:ext>
            </a:extLst>
          </a:blip>
          <a:srcRect t="7811" b="4053"/>
          <a:stretch>
            <a:fillRect/>
          </a:stretch>
        </p:blipFill>
        <p:spPr>
          <a:xfrm>
            <a:off x="1018904" y="1323730"/>
            <a:ext cx="6706674" cy="4843805"/>
          </a:xfrm>
          <a:prstGeom prst="rect">
            <a:avLst/>
          </a:prstGeom>
        </p:spPr>
      </p:pic>
    </p:spTree>
    <p:extLst>
      <p:ext uri="{BB962C8B-B14F-4D97-AF65-F5344CB8AC3E}">
        <p14:creationId xmlns:p14="http://schemas.microsoft.com/office/powerpoint/2010/main" val="5807113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8E68-C820-EF6F-6C33-3FBB86C97058}"/>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B30D7CD4-FEF6-7AC5-8761-3E8FC8201D9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0E70BFB6-C919-DC58-4316-BFD2CCFBE9D0}"/>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734366E0-F745-02BB-39C8-99A537D9BF9E}"/>
              </a:ext>
            </a:extLst>
          </p:cNvPr>
          <p:cNvSpPr>
            <a:spLocks noGrp="1"/>
          </p:cNvSpPr>
          <p:nvPr>
            <p:ph type="sldNum" sz="quarter" idx="12"/>
          </p:nvPr>
        </p:nvSpPr>
        <p:spPr/>
        <p:txBody>
          <a:bodyPr/>
          <a:lstStyle/>
          <a:p>
            <a:fld id="{615D92F5-C6BD-4770-B93B-CCC7110BADD0}" type="slidenum">
              <a:rPr lang="en-US" smtClean="0"/>
              <a:pPr/>
              <a:t>23</a:t>
            </a:fld>
            <a:endParaRPr lang="en-US"/>
          </a:p>
        </p:txBody>
      </p:sp>
      <p:sp>
        <p:nvSpPr>
          <p:cNvPr id="5" name="TextBox 4">
            <a:extLst>
              <a:ext uri="{FF2B5EF4-FFF2-40B4-BE49-F238E27FC236}">
                <a16:creationId xmlns:a16="http://schemas.microsoft.com/office/drawing/2014/main" id="{90B6B180-1AD7-F255-DB8A-469CC26F98F5}"/>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8" name="TextBox 7">
            <a:extLst>
              <a:ext uri="{FF2B5EF4-FFF2-40B4-BE49-F238E27FC236}">
                <a16:creationId xmlns:a16="http://schemas.microsoft.com/office/drawing/2014/main" id="{4F8E1537-0B35-32A7-BE69-2E7E160E5836}"/>
              </a:ext>
            </a:extLst>
          </p:cNvPr>
          <p:cNvSpPr txBox="1"/>
          <p:nvPr/>
        </p:nvSpPr>
        <p:spPr>
          <a:xfrm>
            <a:off x="439271" y="954398"/>
            <a:ext cx="4572000" cy="369332"/>
          </a:xfrm>
          <a:prstGeom prst="rect">
            <a:avLst/>
          </a:prstGeom>
          <a:noFill/>
        </p:spPr>
        <p:txBody>
          <a:bodyPr wrap="square">
            <a:spAutoFit/>
          </a:bodyPr>
          <a:lstStyle/>
          <a:p>
            <a:r>
              <a:rPr lang="en-US" b="1" dirty="0"/>
              <a:t>9.2 </a:t>
            </a:r>
            <a:r>
              <a:rPr lang="en-IN" b="1" dirty="0"/>
              <a:t>Locate Nearby Hospital </a:t>
            </a:r>
            <a:endParaRPr lang="en-US" b="1" dirty="0"/>
          </a:p>
        </p:txBody>
      </p:sp>
      <p:pic>
        <p:nvPicPr>
          <p:cNvPr id="9" name="Picture 8">
            <a:extLst>
              <a:ext uri="{FF2B5EF4-FFF2-40B4-BE49-F238E27FC236}">
                <a16:creationId xmlns:a16="http://schemas.microsoft.com/office/drawing/2014/main" id="{7D1106DD-E3E9-D72E-4193-375E121648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270" y="1520890"/>
            <a:ext cx="8376331" cy="4201254"/>
          </a:xfrm>
          <a:prstGeom prst="rect">
            <a:avLst/>
          </a:prstGeom>
        </p:spPr>
      </p:pic>
    </p:spTree>
    <p:extLst>
      <p:ext uri="{BB962C8B-B14F-4D97-AF65-F5344CB8AC3E}">
        <p14:creationId xmlns:p14="http://schemas.microsoft.com/office/powerpoint/2010/main" val="1499244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469573-47C2-3139-3B90-C8376962702E}"/>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0DA37B85-247F-75A6-ACC9-0A2A54EAD23A}"/>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F8E7B2A9-D845-6313-41AD-F89DF1BF382F}"/>
              </a:ext>
            </a:extLst>
          </p:cNvPr>
          <p:cNvSpPr>
            <a:spLocks noGrp="1"/>
          </p:cNvSpPr>
          <p:nvPr>
            <p:ph type="sldNum" sz="quarter" idx="12"/>
          </p:nvPr>
        </p:nvSpPr>
        <p:spPr/>
        <p:txBody>
          <a:bodyPr/>
          <a:lstStyle/>
          <a:p>
            <a:fld id="{615D92F5-C6BD-4770-B93B-CCC7110BADD0}" type="slidenum">
              <a:rPr lang="en-US" smtClean="0"/>
              <a:pPr/>
              <a:t>24</a:t>
            </a:fld>
            <a:endParaRPr lang="en-US"/>
          </a:p>
        </p:txBody>
      </p:sp>
      <p:sp>
        <p:nvSpPr>
          <p:cNvPr id="10" name="TextBox 9">
            <a:extLst>
              <a:ext uri="{FF2B5EF4-FFF2-40B4-BE49-F238E27FC236}">
                <a16:creationId xmlns:a16="http://schemas.microsoft.com/office/drawing/2014/main" id="{E875DC55-A586-66F2-D94E-A1EDEA9D0C10}"/>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11" name="Rectangle 10">
            <a:extLst>
              <a:ext uri="{FF2B5EF4-FFF2-40B4-BE49-F238E27FC236}">
                <a16:creationId xmlns:a16="http://schemas.microsoft.com/office/drawing/2014/main" id="{874023C1-5A1C-6514-0145-07ECD5E49099}"/>
              </a:ext>
            </a:extLst>
          </p:cNvPr>
          <p:cNvSpPr>
            <a:spLocks noChangeArrowheads="1"/>
          </p:cNvSpPr>
          <p:nvPr/>
        </p:nvSpPr>
        <p:spPr bwMode="auto">
          <a:xfrm>
            <a:off x="439271" y="1024397"/>
            <a:ext cx="81517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9.2 Reports</a:t>
            </a:r>
          </a:p>
          <a:p>
            <a:pPr algn="just"/>
            <a:endParaRPr lang="en-IN" b="1" dirty="0"/>
          </a:p>
          <a:p>
            <a:pPr algn="just"/>
            <a:r>
              <a:rPr lang="en-IN" b="1" dirty="0"/>
              <a:t>9.2.1 Front-End Implementation</a:t>
            </a:r>
          </a:p>
          <a:p>
            <a:pPr marL="342900" indent="-342900" algn="just">
              <a:buAutoNum type="arabicPeriod"/>
            </a:pPr>
            <a:endParaRPr lang="en-IN" b="1" dirty="0"/>
          </a:p>
          <a:p>
            <a:pPr algn="just"/>
            <a:r>
              <a:rPr lang="en-US" dirty="0"/>
              <a:t>           The </a:t>
            </a:r>
            <a:r>
              <a:rPr lang="en-US" dirty="0" err="1"/>
              <a:t>DiagnoAI</a:t>
            </a:r>
            <a:r>
              <a:rPr lang="en-US" dirty="0"/>
              <a:t> system uses a clean and user-friendly front-end architecture designed to guide users step-by-step through symptom analysis, personal detail collection, and location identification.HTML5 ensures semantic structure, CSS3 provides responsive layouts across devices, and JavaScript enables interactivity, validations, and real-time processing.</a:t>
            </a:r>
          </a:p>
          <a:p>
            <a:pPr algn="just"/>
            <a:endParaRPr lang="en-US" dirty="0"/>
          </a:p>
          <a:p>
            <a:pPr algn="just"/>
            <a:r>
              <a:rPr lang="en-IN" b="1" dirty="0"/>
              <a:t>9.2.2 Back-End Implementation</a:t>
            </a:r>
          </a:p>
          <a:p>
            <a:pPr algn="just"/>
            <a:endParaRPr lang="en-IN" b="1" dirty="0"/>
          </a:p>
          <a:p>
            <a:pPr algn="just"/>
            <a:r>
              <a:rPr lang="en-US" dirty="0"/>
              <a:t>	The </a:t>
            </a:r>
            <a:r>
              <a:rPr lang="en-US" b="1" dirty="0"/>
              <a:t>backend of </a:t>
            </a:r>
            <a:r>
              <a:rPr lang="en-US" b="1" dirty="0" err="1"/>
              <a:t>DiagnoAI</a:t>
            </a:r>
            <a:r>
              <a:rPr lang="en-US" dirty="0"/>
              <a:t> handles all major operations required for disease prediction, health report generation, and hospital recommendation. It acts as the core processing unit of the system, connecting the front-end forms with the machine learning model and medical databases.</a:t>
            </a:r>
            <a:endParaRPr lang="en-IN" dirty="0"/>
          </a:p>
        </p:txBody>
      </p:sp>
    </p:spTree>
    <p:extLst>
      <p:ext uri="{BB962C8B-B14F-4D97-AF65-F5344CB8AC3E}">
        <p14:creationId xmlns:p14="http://schemas.microsoft.com/office/powerpoint/2010/main" val="18796162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46313-C09B-7FFD-9C0A-6C7292A5BEC2}"/>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1F66DDB9-8375-D58A-1AAE-15595DC58A8D}"/>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63926D69-C901-24E9-5C2F-7BABEA547775}"/>
              </a:ext>
            </a:extLst>
          </p:cNvPr>
          <p:cNvSpPr>
            <a:spLocks noGrp="1"/>
          </p:cNvSpPr>
          <p:nvPr>
            <p:ph type="sldNum" sz="quarter" idx="12"/>
          </p:nvPr>
        </p:nvSpPr>
        <p:spPr/>
        <p:txBody>
          <a:bodyPr/>
          <a:lstStyle/>
          <a:p>
            <a:fld id="{615D92F5-C6BD-4770-B93B-CCC7110BADD0}" type="slidenum">
              <a:rPr lang="en-US" smtClean="0"/>
              <a:pPr/>
              <a:t>25</a:t>
            </a:fld>
            <a:endParaRPr lang="en-US"/>
          </a:p>
        </p:txBody>
      </p:sp>
      <p:sp>
        <p:nvSpPr>
          <p:cNvPr id="5" name="TextBox 4">
            <a:extLst>
              <a:ext uri="{FF2B5EF4-FFF2-40B4-BE49-F238E27FC236}">
                <a16:creationId xmlns:a16="http://schemas.microsoft.com/office/drawing/2014/main" id="{6A2335BA-D426-46F8-A580-0693BA57DDEC}"/>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4D4AA0BF-B2A5-F3B5-39C5-AEA11DBA216E}"/>
              </a:ext>
            </a:extLst>
          </p:cNvPr>
          <p:cNvSpPr>
            <a:spLocks noChangeArrowheads="1"/>
          </p:cNvSpPr>
          <p:nvPr/>
        </p:nvSpPr>
        <p:spPr bwMode="auto">
          <a:xfrm>
            <a:off x="439271" y="1279808"/>
            <a:ext cx="8151712"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AutoNum type="arabicPeriod"/>
            </a:pPr>
            <a:r>
              <a:rPr lang="en-IN" b="1" dirty="0"/>
              <a:t>Symptom Input Form</a:t>
            </a:r>
          </a:p>
          <a:p>
            <a:endParaRPr lang="en-IN" b="1" dirty="0"/>
          </a:p>
          <a:p>
            <a:pPr marL="285750" lvl="0" indent="-285750" algn="just">
              <a:buFont typeface="Arial" panose="020B0604020202020204" pitchFamily="34" charset="0"/>
              <a:buChar char="•"/>
            </a:pPr>
            <a:r>
              <a:rPr lang="en-IN" b="1" dirty="0"/>
              <a:t>Purpose:</a:t>
            </a:r>
            <a:r>
              <a:rPr lang="en-IN" dirty="0"/>
              <a:t> Allows the user to select or search for their symptoms easily.</a:t>
            </a:r>
          </a:p>
          <a:p>
            <a:pPr marL="285750" lvl="0" indent="-285750" algn="just">
              <a:buFont typeface="Arial" panose="020B0604020202020204" pitchFamily="34" charset="0"/>
              <a:buChar char="•"/>
            </a:pPr>
            <a:r>
              <a:rPr lang="en-IN" b="1" dirty="0"/>
              <a:t>Layout &amp; Features:</a:t>
            </a:r>
            <a:endParaRPr lang="en-IN" dirty="0"/>
          </a:p>
          <a:p>
            <a:pPr marL="742950" lvl="1" indent="-285750" algn="just">
              <a:buFont typeface="Courier New" panose="02070309020205020404" pitchFamily="49" charset="0"/>
              <a:buChar char="o"/>
            </a:pPr>
            <a:r>
              <a:rPr lang="en-IN" b="1" dirty="0"/>
              <a:t>Search Bar:</a:t>
            </a:r>
            <a:r>
              <a:rPr lang="en-IN" dirty="0"/>
              <a:t> A text input field with auto-suggestions that helps users quickly find their symptoms.</a:t>
            </a:r>
          </a:p>
          <a:p>
            <a:pPr marL="742950" lvl="1" indent="-285750" algn="just">
              <a:buFont typeface="Courier New" panose="02070309020205020404" pitchFamily="49" charset="0"/>
              <a:buChar char="o"/>
            </a:pPr>
            <a:r>
              <a:rPr lang="en-IN" b="1" dirty="0"/>
              <a:t>Checkbox List:</a:t>
            </a:r>
            <a:r>
              <a:rPr lang="en-IN" dirty="0"/>
              <a:t> A scrollable list of common symptoms categorized for better usability (e.g., "Fever", "Cough", "Headache").</a:t>
            </a:r>
          </a:p>
          <a:p>
            <a:pPr marL="742950" lvl="1" indent="-285750" algn="just">
              <a:buFont typeface="Courier New" panose="02070309020205020404" pitchFamily="49" charset="0"/>
              <a:buChar char="o"/>
            </a:pPr>
            <a:r>
              <a:rPr lang="en-IN" b="1" dirty="0"/>
              <a:t>Multi-Selection Support:</a:t>
            </a:r>
            <a:r>
              <a:rPr lang="en-IN" dirty="0"/>
              <a:t> Users can select multiple symptoms before submission.</a:t>
            </a:r>
          </a:p>
          <a:p>
            <a:pPr marL="742950" lvl="1" indent="-285750" algn="just">
              <a:buFont typeface="Courier New" panose="02070309020205020404" pitchFamily="49" charset="0"/>
              <a:buChar char="o"/>
            </a:pPr>
            <a:r>
              <a:rPr lang="en-IN" b="1" dirty="0"/>
              <a:t>Submit Button:</a:t>
            </a:r>
            <a:r>
              <a:rPr lang="en-IN" dirty="0"/>
              <a:t> Sends the selected symptoms to the backend for prediction.</a:t>
            </a:r>
          </a:p>
          <a:p>
            <a:pPr marL="742950" lvl="1" indent="-285750" algn="just">
              <a:buFont typeface="Courier New" panose="02070309020205020404" pitchFamily="49" charset="0"/>
              <a:buChar char="o"/>
            </a:pPr>
            <a:r>
              <a:rPr lang="en-IN" b="1" dirty="0"/>
              <a:t>Validation:</a:t>
            </a:r>
            <a:r>
              <a:rPr lang="en-IN" dirty="0"/>
              <a:t> Ensures that at least one symptom is selected before submission.</a:t>
            </a:r>
          </a:p>
        </p:txBody>
      </p:sp>
    </p:spTree>
    <p:extLst>
      <p:ext uri="{BB962C8B-B14F-4D97-AF65-F5344CB8AC3E}">
        <p14:creationId xmlns:p14="http://schemas.microsoft.com/office/powerpoint/2010/main" val="3071417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00757-02E3-7C09-E87A-BCD10C4B9EAC}"/>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E5C27A5-748D-F3A1-AE65-8EEBC56F528E}"/>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5637A06A-D095-EF2F-0E15-A8C785E580A6}"/>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0864D53C-9AB8-376F-BB06-D8A341B15A8A}"/>
              </a:ext>
            </a:extLst>
          </p:cNvPr>
          <p:cNvSpPr>
            <a:spLocks noGrp="1"/>
          </p:cNvSpPr>
          <p:nvPr>
            <p:ph type="sldNum" sz="quarter" idx="12"/>
          </p:nvPr>
        </p:nvSpPr>
        <p:spPr/>
        <p:txBody>
          <a:bodyPr/>
          <a:lstStyle/>
          <a:p>
            <a:fld id="{615D92F5-C6BD-4770-B93B-CCC7110BADD0}" type="slidenum">
              <a:rPr lang="en-US" smtClean="0"/>
              <a:pPr/>
              <a:t>26</a:t>
            </a:fld>
            <a:endParaRPr lang="en-US"/>
          </a:p>
        </p:txBody>
      </p:sp>
      <p:sp>
        <p:nvSpPr>
          <p:cNvPr id="5" name="TextBox 4">
            <a:extLst>
              <a:ext uri="{FF2B5EF4-FFF2-40B4-BE49-F238E27FC236}">
                <a16:creationId xmlns:a16="http://schemas.microsoft.com/office/drawing/2014/main" id="{F965A5E6-4CA8-C882-819E-19DACF1269EB}"/>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D98503B0-9702-7364-04ED-1A3F35F93A9B}"/>
              </a:ext>
            </a:extLst>
          </p:cNvPr>
          <p:cNvSpPr>
            <a:spLocks noChangeArrowheads="1"/>
          </p:cNvSpPr>
          <p:nvPr/>
        </p:nvSpPr>
        <p:spPr bwMode="auto">
          <a:xfrm>
            <a:off x="439271" y="725811"/>
            <a:ext cx="81517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b="1" dirty="0"/>
          </a:p>
          <a:p>
            <a:r>
              <a:rPr lang="en-IN" b="1" dirty="0"/>
              <a:t>2. User Details Form</a:t>
            </a:r>
          </a:p>
          <a:p>
            <a:endParaRPr lang="en-IN" dirty="0"/>
          </a:p>
          <a:p>
            <a:pPr marL="285750" lvl="0" indent="-285750">
              <a:buFont typeface="Arial" panose="020B0604020202020204" pitchFamily="34" charset="0"/>
              <a:buChar char="•"/>
            </a:pPr>
            <a:r>
              <a:rPr lang="en-IN" b="1" dirty="0"/>
              <a:t>Purpose:</a:t>
            </a:r>
            <a:r>
              <a:rPr lang="en-IN" dirty="0"/>
              <a:t> Collects basic demographic and health-related information to personalize predictions and recommendations.</a:t>
            </a:r>
          </a:p>
          <a:p>
            <a:pPr marL="285750" lvl="0" indent="-285750">
              <a:buFont typeface="Arial" panose="020B0604020202020204" pitchFamily="34" charset="0"/>
              <a:buChar char="•"/>
            </a:pPr>
            <a:r>
              <a:rPr lang="en-IN" b="1" dirty="0"/>
              <a:t>Layout &amp; Features:</a:t>
            </a:r>
            <a:endParaRPr lang="en-IN" dirty="0"/>
          </a:p>
          <a:p>
            <a:pPr marL="742950" lvl="1" indent="-285750">
              <a:buFont typeface="Arial" panose="020B0604020202020204" pitchFamily="34" charset="0"/>
              <a:buChar char="•"/>
            </a:pPr>
            <a:r>
              <a:rPr lang="en-IN" b="1" dirty="0"/>
              <a:t>Personal Information Fields:</a:t>
            </a:r>
            <a:endParaRPr lang="en-IN" dirty="0"/>
          </a:p>
          <a:p>
            <a:pPr marL="1200150" lvl="2" indent="-285750">
              <a:buFont typeface="Arial" panose="020B0604020202020204" pitchFamily="34" charset="0"/>
              <a:buChar char="•"/>
            </a:pPr>
            <a:r>
              <a:rPr lang="en-IN" b="1" dirty="0"/>
              <a:t>Name</a:t>
            </a:r>
            <a:r>
              <a:rPr lang="en-IN" dirty="0"/>
              <a:t> (optional – for personalization)</a:t>
            </a:r>
          </a:p>
          <a:p>
            <a:pPr marL="1200150" lvl="2" indent="-285750">
              <a:buFont typeface="Arial" panose="020B0604020202020204" pitchFamily="34" charset="0"/>
              <a:buChar char="•"/>
            </a:pPr>
            <a:r>
              <a:rPr lang="en-IN" b="1" dirty="0"/>
              <a:t>Age</a:t>
            </a:r>
            <a:r>
              <a:rPr lang="en-IN" dirty="0"/>
              <a:t> (numeric input with validation)</a:t>
            </a:r>
          </a:p>
          <a:p>
            <a:pPr marL="1200150" lvl="2" indent="-285750">
              <a:buFont typeface="Arial" panose="020B0604020202020204" pitchFamily="34" charset="0"/>
              <a:buChar char="•"/>
            </a:pPr>
            <a:r>
              <a:rPr lang="en-IN" b="1" dirty="0"/>
              <a:t>Gender</a:t>
            </a:r>
            <a:r>
              <a:rPr lang="en-IN" dirty="0"/>
              <a:t> (radio buttons or dropdown: Male, Female, Other)</a:t>
            </a:r>
          </a:p>
          <a:p>
            <a:pPr marL="742950" lvl="1" indent="-285750">
              <a:buFont typeface="Arial" panose="020B0604020202020204" pitchFamily="34" charset="0"/>
              <a:buChar char="•"/>
            </a:pPr>
            <a:r>
              <a:rPr lang="en-IN" b="1" dirty="0"/>
              <a:t>Health Profile Fields:</a:t>
            </a:r>
            <a:endParaRPr lang="en-IN" dirty="0"/>
          </a:p>
          <a:p>
            <a:pPr marL="1200150" lvl="2" indent="-285750">
              <a:buFont typeface="Arial" panose="020B0604020202020204" pitchFamily="34" charset="0"/>
              <a:buChar char="•"/>
            </a:pPr>
            <a:r>
              <a:rPr lang="en-IN" b="1" dirty="0"/>
              <a:t>Weight &amp; Height</a:t>
            </a:r>
            <a:r>
              <a:rPr lang="en-IN" dirty="0"/>
              <a:t> (optional – for BMI calculation and better suggestions)</a:t>
            </a:r>
          </a:p>
          <a:p>
            <a:pPr marL="1200150" lvl="2" indent="-285750">
              <a:buFont typeface="Arial" panose="020B0604020202020204" pitchFamily="34" charset="0"/>
              <a:buChar char="•"/>
            </a:pPr>
            <a:r>
              <a:rPr lang="en-IN" b="1" dirty="0"/>
              <a:t>Alcohol Consumption:</a:t>
            </a:r>
            <a:r>
              <a:rPr lang="en-IN" dirty="0"/>
              <a:t> Checkbox or Yes/No option</a:t>
            </a:r>
          </a:p>
          <a:p>
            <a:pPr marL="1200150" lvl="2" indent="-285750">
              <a:buFont typeface="Arial" panose="020B0604020202020204" pitchFamily="34" charset="0"/>
              <a:buChar char="•"/>
            </a:pPr>
            <a:r>
              <a:rPr lang="en-IN" b="1" dirty="0"/>
              <a:t>Pregnancy Status:</a:t>
            </a:r>
            <a:r>
              <a:rPr lang="en-IN" dirty="0"/>
              <a:t> Checkbox (shown only if the user selects "Female")</a:t>
            </a:r>
          </a:p>
          <a:p>
            <a:pPr marL="742950" lvl="1" indent="-285750">
              <a:buFont typeface="Arial" panose="020B0604020202020204" pitchFamily="34" charset="0"/>
              <a:buChar char="•"/>
            </a:pPr>
            <a:r>
              <a:rPr lang="en-IN" b="1" dirty="0"/>
              <a:t>Form Validation:</a:t>
            </a:r>
            <a:r>
              <a:rPr lang="en-IN" dirty="0"/>
              <a:t> Ensures all required fields (age, gender) are filled in before proceeding.</a:t>
            </a:r>
          </a:p>
        </p:txBody>
      </p:sp>
    </p:spTree>
    <p:extLst>
      <p:ext uri="{BB962C8B-B14F-4D97-AF65-F5344CB8AC3E}">
        <p14:creationId xmlns:p14="http://schemas.microsoft.com/office/powerpoint/2010/main" val="231760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83A0-4FFF-720B-0F11-B1AFD440385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6E51C4B-2E1C-027E-6D31-7E89666FA869}"/>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97C8D819-A777-6388-96DB-A6016543034C}"/>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E04F303E-BAA9-0368-1405-99298C1575BF}"/>
              </a:ext>
            </a:extLst>
          </p:cNvPr>
          <p:cNvSpPr>
            <a:spLocks noGrp="1"/>
          </p:cNvSpPr>
          <p:nvPr>
            <p:ph type="sldNum" sz="quarter" idx="12"/>
          </p:nvPr>
        </p:nvSpPr>
        <p:spPr/>
        <p:txBody>
          <a:bodyPr/>
          <a:lstStyle/>
          <a:p>
            <a:fld id="{615D92F5-C6BD-4770-B93B-CCC7110BADD0}" type="slidenum">
              <a:rPr lang="en-US" smtClean="0"/>
              <a:pPr/>
              <a:t>27</a:t>
            </a:fld>
            <a:endParaRPr lang="en-US"/>
          </a:p>
        </p:txBody>
      </p:sp>
      <p:sp>
        <p:nvSpPr>
          <p:cNvPr id="5" name="TextBox 4">
            <a:extLst>
              <a:ext uri="{FF2B5EF4-FFF2-40B4-BE49-F238E27FC236}">
                <a16:creationId xmlns:a16="http://schemas.microsoft.com/office/drawing/2014/main" id="{0E90624E-1316-CD2D-42AF-F4D4314EEBA1}"/>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B719AADE-317B-2DFF-4B7B-D0BA39747327}"/>
              </a:ext>
            </a:extLst>
          </p:cNvPr>
          <p:cNvSpPr>
            <a:spLocks noChangeArrowheads="1"/>
          </p:cNvSpPr>
          <p:nvPr/>
        </p:nvSpPr>
        <p:spPr bwMode="auto">
          <a:xfrm>
            <a:off x="355296" y="966781"/>
            <a:ext cx="815171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3. Disease Prediction Report</a:t>
            </a:r>
            <a:endParaRPr lang="en-IN" dirty="0"/>
          </a:p>
          <a:p>
            <a:pPr marL="285750" lvl="0" indent="-285750" algn="just">
              <a:buFont typeface="Arial" panose="020B0604020202020204" pitchFamily="34" charset="0"/>
              <a:buChar char="•"/>
            </a:pPr>
            <a:r>
              <a:rPr lang="en-IN" b="1" dirty="0"/>
              <a:t>Purpose:</a:t>
            </a:r>
            <a:r>
              <a:rPr lang="en-IN" dirty="0"/>
              <a:t> Provides the user with a quick overview of potential diseases based on their symptoms.</a:t>
            </a:r>
          </a:p>
          <a:p>
            <a:pPr marL="285750" lvl="0" indent="-285750" algn="just">
              <a:buFont typeface="Arial" panose="020B0604020202020204" pitchFamily="34" charset="0"/>
              <a:buChar char="•"/>
            </a:pPr>
            <a:r>
              <a:rPr lang="en-IN" b="1" dirty="0"/>
              <a:t>Layout &amp; Features:</a:t>
            </a:r>
            <a:endParaRPr lang="en-IN" dirty="0"/>
          </a:p>
          <a:p>
            <a:pPr marL="742950" lvl="1" indent="-285750" algn="just">
              <a:buFont typeface="Arial" panose="020B0604020202020204" pitchFamily="34" charset="0"/>
              <a:buChar char="•"/>
            </a:pPr>
            <a:r>
              <a:rPr lang="en-IN" b="1" dirty="0"/>
              <a:t>Header:</a:t>
            </a:r>
            <a:r>
              <a:rPr lang="en-IN" dirty="0"/>
              <a:t> Displays a title such as </a:t>
            </a:r>
            <a:r>
              <a:rPr lang="en-IN" i="1" dirty="0"/>
              <a:t>"Prediction Results"</a:t>
            </a:r>
            <a:r>
              <a:rPr lang="en-IN" dirty="0"/>
              <a:t> and a timestamp of when the prediction was generated.</a:t>
            </a:r>
          </a:p>
          <a:p>
            <a:pPr marL="742950" lvl="1" indent="-285750" algn="just">
              <a:buFont typeface="Arial" panose="020B0604020202020204" pitchFamily="34" charset="0"/>
              <a:buChar char="•"/>
            </a:pPr>
            <a:r>
              <a:rPr lang="en-IN" b="1" dirty="0"/>
              <a:t>Top Predictions List:</a:t>
            </a:r>
            <a:endParaRPr lang="en-IN" dirty="0"/>
          </a:p>
          <a:p>
            <a:pPr marL="1200150" lvl="2" indent="-285750" algn="just">
              <a:buFont typeface="Arial" panose="020B0604020202020204" pitchFamily="34" charset="0"/>
              <a:buChar char="•"/>
            </a:pPr>
            <a:r>
              <a:rPr lang="en-IN" dirty="0"/>
              <a:t>Shows the </a:t>
            </a:r>
            <a:r>
              <a:rPr lang="en-IN" b="1" dirty="0"/>
              <a:t>Top 5 Predicted Diseases</a:t>
            </a:r>
            <a:r>
              <a:rPr lang="en-IN" dirty="0"/>
              <a:t>, ranked in order of probability.</a:t>
            </a:r>
          </a:p>
          <a:p>
            <a:pPr marL="1200150" lvl="2" indent="-285750" algn="just">
              <a:buFont typeface="Arial" panose="020B0604020202020204" pitchFamily="34" charset="0"/>
              <a:buChar char="•"/>
            </a:pPr>
            <a:r>
              <a:rPr lang="en-IN" dirty="0"/>
              <a:t>Each disease is displayed with:</a:t>
            </a:r>
          </a:p>
          <a:p>
            <a:pPr marL="1657350" lvl="3" indent="-285750" algn="just">
              <a:buFont typeface="Arial" panose="020B0604020202020204" pitchFamily="34" charset="0"/>
              <a:buChar char="•"/>
            </a:pPr>
            <a:r>
              <a:rPr lang="en-IN" b="1" dirty="0"/>
              <a:t>Disease Name</a:t>
            </a:r>
            <a:endParaRPr lang="en-IN" dirty="0"/>
          </a:p>
          <a:p>
            <a:pPr marL="1657350" lvl="3" indent="-285750" algn="just">
              <a:buFont typeface="Arial" panose="020B0604020202020204" pitchFamily="34" charset="0"/>
              <a:buChar char="•"/>
            </a:pPr>
            <a:r>
              <a:rPr lang="en-IN" b="1" dirty="0"/>
              <a:t>Probability Percentage</a:t>
            </a:r>
            <a:r>
              <a:rPr lang="en-IN" dirty="0"/>
              <a:t> (visualized as a progress bar or percentage number)</a:t>
            </a:r>
          </a:p>
          <a:p>
            <a:pPr marL="1657350" lvl="3" indent="-285750" algn="just">
              <a:buFont typeface="Arial" panose="020B0604020202020204" pitchFamily="34" charset="0"/>
              <a:buChar char="•"/>
            </a:pPr>
            <a:r>
              <a:rPr lang="en-IN" b="1" dirty="0"/>
              <a:t>Short Description</a:t>
            </a:r>
            <a:r>
              <a:rPr lang="en-IN" dirty="0"/>
              <a:t> (one-line explanation of the condition)</a:t>
            </a:r>
          </a:p>
          <a:p>
            <a:pPr marL="1657350" lvl="3" indent="-285750" algn="just">
              <a:buFont typeface="Arial" panose="020B0604020202020204" pitchFamily="34" charset="0"/>
              <a:buChar char="•"/>
            </a:pPr>
            <a:r>
              <a:rPr lang="en-IN" b="1" dirty="0"/>
              <a:t>"View Details" Link</a:t>
            </a:r>
            <a:r>
              <a:rPr lang="en-IN" dirty="0"/>
              <a:t> (navigates to precaution and medication suggestions)</a:t>
            </a:r>
          </a:p>
          <a:p>
            <a:pPr marL="742950" lvl="1" indent="-285750" algn="just">
              <a:buFont typeface="Arial" panose="020B0604020202020204" pitchFamily="34" charset="0"/>
              <a:buChar char="•"/>
            </a:pPr>
            <a:r>
              <a:rPr lang="en-IN" b="1" dirty="0"/>
              <a:t>User-Friendly Display:</a:t>
            </a:r>
            <a:r>
              <a:rPr lang="en-IN" dirty="0"/>
              <a:t> Use of </a:t>
            </a:r>
            <a:r>
              <a:rPr lang="en-IN" dirty="0" err="1"/>
              <a:t>color</a:t>
            </a:r>
            <a:r>
              <a:rPr lang="en-IN" dirty="0"/>
              <a:t> coding or icons (e.g., green for mild conditions, red for critical predictions).</a:t>
            </a:r>
          </a:p>
          <a:p>
            <a:pPr marL="742950" lvl="1" indent="-285750" algn="just">
              <a:buFont typeface="Arial" panose="020B0604020202020204" pitchFamily="34" charset="0"/>
              <a:buChar char="•"/>
            </a:pPr>
            <a:r>
              <a:rPr lang="en-IN" b="1" dirty="0"/>
              <a:t>Actionable Options:</a:t>
            </a:r>
            <a:r>
              <a:rPr lang="en-IN" dirty="0"/>
              <a:t> Buttons to view precautions, get medication advice, or find hospitals directly from this report.</a:t>
            </a:r>
          </a:p>
        </p:txBody>
      </p:sp>
    </p:spTree>
    <p:extLst>
      <p:ext uri="{BB962C8B-B14F-4D97-AF65-F5344CB8AC3E}">
        <p14:creationId xmlns:p14="http://schemas.microsoft.com/office/powerpoint/2010/main" val="3761187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DEA1F-D5C8-5801-03D3-A7E505EA4F13}"/>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488AE7A-3884-E627-C8C3-A7F380659746}"/>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ED1BFCAD-4DC7-BD51-FCA1-EF8ACFE823F7}"/>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AA250764-075E-AF48-455B-76D44C3212D2}"/>
              </a:ext>
            </a:extLst>
          </p:cNvPr>
          <p:cNvSpPr>
            <a:spLocks noGrp="1"/>
          </p:cNvSpPr>
          <p:nvPr>
            <p:ph type="sldNum" sz="quarter" idx="12"/>
          </p:nvPr>
        </p:nvSpPr>
        <p:spPr/>
        <p:txBody>
          <a:bodyPr/>
          <a:lstStyle/>
          <a:p>
            <a:fld id="{615D92F5-C6BD-4770-B93B-CCC7110BADD0}" type="slidenum">
              <a:rPr lang="en-US" smtClean="0"/>
              <a:pPr/>
              <a:t>28</a:t>
            </a:fld>
            <a:endParaRPr lang="en-US"/>
          </a:p>
        </p:txBody>
      </p:sp>
      <p:sp>
        <p:nvSpPr>
          <p:cNvPr id="5" name="TextBox 4">
            <a:extLst>
              <a:ext uri="{FF2B5EF4-FFF2-40B4-BE49-F238E27FC236}">
                <a16:creationId xmlns:a16="http://schemas.microsoft.com/office/drawing/2014/main" id="{92315A91-14C3-95A4-7291-5F5443C40A39}"/>
              </a:ext>
            </a:extLst>
          </p:cNvPr>
          <p:cNvSpPr txBox="1"/>
          <p:nvPr/>
        </p:nvSpPr>
        <p:spPr>
          <a:xfrm>
            <a:off x="0" y="-27992"/>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6393B5B5-C9EF-1BB0-C96E-A7DD56454102}"/>
              </a:ext>
            </a:extLst>
          </p:cNvPr>
          <p:cNvSpPr>
            <a:spLocks noChangeArrowheads="1"/>
          </p:cNvSpPr>
          <p:nvPr/>
        </p:nvSpPr>
        <p:spPr bwMode="auto">
          <a:xfrm>
            <a:off x="167952" y="474345"/>
            <a:ext cx="8976048"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t>4. Medication &amp; Precaution Report</a:t>
            </a:r>
            <a:endParaRPr lang="en-IN" dirty="0"/>
          </a:p>
          <a:p>
            <a:pPr marL="285750" lvl="0" indent="-285750" algn="just">
              <a:buFont typeface="Arial" panose="020B0604020202020204" pitchFamily="34" charset="0"/>
              <a:buChar char="•"/>
            </a:pPr>
            <a:r>
              <a:rPr lang="en-IN" b="1" dirty="0"/>
              <a:t>Purpose:</a:t>
            </a:r>
            <a:r>
              <a:rPr lang="en-IN" dirty="0"/>
              <a:t> Offers detailed medical guidance once a disease is selected by the user.</a:t>
            </a:r>
          </a:p>
          <a:p>
            <a:pPr marL="285750" lvl="0" indent="-285750" algn="just">
              <a:buFont typeface="Arial" panose="020B0604020202020204" pitchFamily="34" charset="0"/>
              <a:buChar char="•"/>
            </a:pPr>
            <a:r>
              <a:rPr lang="en-IN" b="1" dirty="0"/>
              <a:t>Layout &amp; Features:</a:t>
            </a:r>
            <a:endParaRPr lang="en-IN" dirty="0"/>
          </a:p>
          <a:p>
            <a:pPr marL="742950" lvl="1" indent="-285750" algn="just">
              <a:buFont typeface="Arial" panose="020B0604020202020204" pitchFamily="34" charset="0"/>
              <a:buChar char="•"/>
            </a:pPr>
            <a:r>
              <a:rPr lang="en-IN" b="1" dirty="0"/>
              <a:t>Header Section:</a:t>
            </a:r>
            <a:endParaRPr lang="en-IN" dirty="0"/>
          </a:p>
          <a:p>
            <a:pPr marL="1200150" lvl="2" indent="-285750" algn="just">
              <a:buFont typeface="Arial" panose="020B0604020202020204" pitchFamily="34" charset="0"/>
              <a:buChar char="•"/>
            </a:pPr>
            <a:r>
              <a:rPr lang="en-IN" dirty="0"/>
              <a:t>Displays the </a:t>
            </a:r>
            <a:r>
              <a:rPr lang="en-IN" b="1" dirty="0"/>
              <a:t>Disease Name</a:t>
            </a:r>
            <a:r>
              <a:rPr lang="en-IN" dirty="0"/>
              <a:t> prominently at the top.</a:t>
            </a:r>
          </a:p>
          <a:p>
            <a:pPr marL="1200150" lvl="2" indent="-285750" algn="just">
              <a:buFont typeface="Arial" panose="020B0604020202020204" pitchFamily="34" charset="0"/>
              <a:buChar char="•"/>
            </a:pPr>
            <a:r>
              <a:rPr lang="en-IN" dirty="0"/>
              <a:t>Shows the </a:t>
            </a:r>
            <a:r>
              <a:rPr lang="en-IN" b="1" dirty="0"/>
              <a:t>Predicted Probability</a:t>
            </a:r>
            <a:r>
              <a:rPr lang="en-IN" dirty="0"/>
              <a:t> (e.g., 87%) and </a:t>
            </a:r>
            <a:r>
              <a:rPr lang="en-IN" b="1" dirty="0"/>
              <a:t>Recommended Doctor Type</a:t>
            </a:r>
            <a:r>
              <a:rPr lang="en-IN" dirty="0"/>
              <a:t> (e.g., General Physician, Cardiologist).</a:t>
            </a:r>
          </a:p>
          <a:p>
            <a:pPr marL="742950" lvl="1" indent="-285750" algn="just">
              <a:buFont typeface="Arial" panose="020B0604020202020204" pitchFamily="34" charset="0"/>
              <a:buChar char="•"/>
            </a:pPr>
            <a:r>
              <a:rPr lang="en-IN" b="1" dirty="0"/>
              <a:t>Hospital Visit Status:</a:t>
            </a:r>
            <a:endParaRPr lang="en-IN" dirty="0"/>
          </a:p>
          <a:p>
            <a:pPr marL="1200150" lvl="2" indent="-285750" algn="just">
              <a:buFont typeface="Arial" panose="020B0604020202020204" pitchFamily="34" charset="0"/>
              <a:buChar char="•"/>
            </a:pPr>
            <a:r>
              <a:rPr lang="en-IN" dirty="0"/>
              <a:t>Displays a clear message like:</a:t>
            </a:r>
          </a:p>
          <a:p>
            <a:pPr marL="1657350" lvl="3" indent="-285750" algn="just">
              <a:buFont typeface="Arial" panose="020B0604020202020204" pitchFamily="34" charset="0"/>
              <a:buChar char="•"/>
            </a:pPr>
            <a:r>
              <a:rPr lang="en-IN" b="1" dirty="0"/>
              <a:t>"Urgent: Visit hospital immediately"</a:t>
            </a:r>
            <a:endParaRPr lang="en-IN" dirty="0"/>
          </a:p>
          <a:p>
            <a:pPr marL="1657350" lvl="3" indent="-285750" algn="just">
              <a:buFont typeface="Arial" panose="020B0604020202020204" pitchFamily="34" charset="0"/>
              <a:buChar char="•"/>
            </a:pPr>
            <a:r>
              <a:rPr lang="en-IN" b="1" dirty="0"/>
              <a:t>"Recommended: See a doctor soon"</a:t>
            </a:r>
            <a:endParaRPr lang="en-IN" dirty="0"/>
          </a:p>
          <a:p>
            <a:pPr marL="1657350" lvl="3" indent="-285750" algn="just">
              <a:buFont typeface="Arial" panose="020B0604020202020204" pitchFamily="34" charset="0"/>
              <a:buChar char="•"/>
            </a:pPr>
            <a:r>
              <a:rPr lang="en-IN" b="1" dirty="0"/>
              <a:t>"Optional: Home care sufficient unless symptoms worsen"</a:t>
            </a:r>
            <a:endParaRPr lang="en-IN" dirty="0"/>
          </a:p>
          <a:p>
            <a:pPr marL="1200150" lvl="2" indent="-285750" algn="just">
              <a:buFont typeface="Arial" panose="020B0604020202020204" pitchFamily="34" charset="0"/>
              <a:buChar char="•"/>
            </a:pPr>
            <a:r>
              <a:rPr lang="en-IN" dirty="0"/>
              <a:t>Uses </a:t>
            </a:r>
            <a:r>
              <a:rPr lang="en-IN" dirty="0" err="1"/>
              <a:t>color</a:t>
            </a:r>
            <a:r>
              <a:rPr lang="en-IN" dirty="0"/>
              <a:t> indicators (Red, Orange, Green) for urgency.</a:t>
            </a:r>
          </a:p>
          <a:p>
            <a:pPr marL="742950" lvl="1" indent="-285750" algn="just">
              <a:buFont typeface="Arial" panose="020B0604020202020204" pitchFamily="34" charset="0"/>
              <a:buChar char="•"/>
            </a:pPr>
            <a:r>
              <a:rPr lang="en-IN" b="1" dirty="0"/>
              <a:t>Medication List:</a:t>
            </a:r>
            <a:endParaRPr lang="en-IN" dirty="0"/>
          </a:p>
          <a:p>
            <a:pPr marL="1200150" lvl="2" indent="-285750" algn="just">
              <a:buFont typeface="Arial" panose="020B0604020202020204" pitchFamily="34" charset="0"/>
              <a:buChar char="•"/>
            </a:pPr>
            <a:r>
              <a:rPr lang="en-IN" dirty="0"/>
              <a:t>Shows a list of recommended medicines (generic names), dosage suggestions, or OTC alternatives.</a:t>
            </a:r>
          </a:p>
          <a:p>
            <a:pPr marL="742950" lvl="1" indent="-285750" algn="just">
              <a:buFont typeface="Arial" panose="020B0604020202020204" pitchFamily="34" charset="0"/>
              <a:buChar char="•"/>
            </a:pPr>
            <a:r>
              <a:rPr lang="en-IN" b="1" dirty="0"/>
              <a:t>Precaution List:</a:t>
            </a:r>
            <a:endParaRPr lang="en-IN" dirty="0"/>
          </a:p>
          <a:p>
            <a:pPr marL="1200150" lvl="2" indent="-285750" algn="just">
              <a:buFont typeface="Arial" panose="020B0604020202020204" pitchFamily="34" charset="0"/>
              <a:buChar char="•"/>
            </a:pPr>
            <a:r>
              <a:rPr lang="en-IN" dirty="0"/>
              <a:t>Displays practical advice for managing the condition (e.g., rest, hydration, avoid allergens).</a:t>
            </a:r>
          </a:p>
          <a:p>
            <a:pPr marL="742950" lvl="1" indent="-285750" algn="just">
              <a:buFont typeface="Arial" panose="020B0604020202020204" pitchFamily="34" charset="0"/>
              <a:buChar char="•"/>
            </a:pPr>
            <a:r>
              <a:rPr lang="en-IN" b="1" dirty="0"/>
              <a:t>PDF Download </a:t>
            </a:r>
            <a:r>
              <a:rPr lang="en-IN" b="1" dirty="0" err="1"/>
              <a:t>Option:</a:t>
            </a:r>
            <a:r>
              <a:rPr lang="en-IN" dirty="0" err="1"/>
              <a:t>Allows</a:t>
            </a:r>
            <a:r>
              <a:rPr lang="en-IN" dirty="0"/>
              <a:t> users to download a </a:t>
            </a:r>
            <a:r>
              <a:rPr lang="en-IN" b="1" dirty="0"/>
              <a:t>prescription-style report</a:t>
            </a:r>
            <a:r>
              <a:rPr lang="en-IN" dirty="0"/>
              <a:t> containing disease details, medications, and precautions for offline reference.</a:t>
            </a:r>
          </a:p>
        </p:txBody>
      </p:sp>
    </p:spTree>
    <p:extLst>
      <p:ext uri="{BB962C8B-B14F-4D97-AF65-F5344CB8AC3E}">
        <p14:creationId xmlns:p14="http://schemas.microsoft.com/office/powerpoint/2010/main" val="2134692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2312C-D211-F8B6-A398-B9FB66E1971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DD230670-1328-70D3-E12F-D1F819B8563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C81F2097-F01A-FE6A-1B58-D86692D8677A}"/>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C733EE4A-8B6B-3C5D-50A8-826E761179F9}"/>
              </a:ext>
            </a:extLst>
          </p:cNvPr>
          <p:cNvSpPr>
            <a:spLocks noGrp="1"/>
          </p:cNvSpPr>
          <p:nvPr>
            <p:ph type="sldNum" sz="quarter" idx="12"/>
          </p:nvPr>
        </p:nvSpPr>
        <p:spPr/>
        <p:txBody>
          <a:bodyPr/>
          <a:lstStyle/>
          <a:p>
            <a:fld id="{615D92F5-C6BD-4770-B93B-CCC7110BADD0}" type="slidenum">
              <a:rPr lang="en-US" smtClean="0"/>
              <a:pPr/>
              <a:t>29</a:t>
            </a:fld>
            <a:endParaRPr lang="en-US"/>
          </a:p>
        </p:txBody>
      </p:sp>
      <p:sp>
        <p:nvSpPr>
          <p:cNvPr id="5" name="TextBox 4">
            <a:extLst>
              <a:ext uri="{FF2B5EF4-FFF2-40B4-BE49-F238E27FC236}">
                <a16:creationId xmlns:a16="http://schemas.microsoft.com/office/drawing/2014/main" id="{08F18355-FE73-0511-A7F4-305E634B2C5B}"/>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6D3FDCEB-FC53-F137-E0D8-045133FF5903}"/>
              </a:ext>
            </a:extLst>
          </p:cNvPr>
          <p:cNvSpPr>
            <a:spLocks noChangeArrowheads="1"/>
          </p:cNvSpPr>
          <p:nvPr/>
        </p:nvSpPr>
        <p:spPr bwMode="auto">
          <a:xfrm>
            <a:off x="439271" y="943742"/>
            <a:ext cx="81517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5. Hospital List Report</a:t>
            </a:r>
            <a:endParaRPr lang="en-IN" dirty="0"/>
          </a:p>
          <a:p>
            <a:pPr marL="285750" lvl="0" indent="-285750" algn="just">
              <a:buFont typeface="Arial" panose="020B0604020202020204" pitchFamily="34" charset="0"/>
              <a:buChar char="•"/>
            </a:pPr>
            <a:r>
              <a:rPr lang="en-IN" b="1" dirty="0"/>
              <a:t>Purpose:</a:t>
            </a:r>
            <a:r>
              <a:rPr lang="en-IN" dirty="0"/>
              <a:t> Helps users quickly find and navigate to the nearest medical facilities.</a:t>
            </a:r>
          </a:p>
          <a:p>
            <a:pPr marL="285750" lvl="0" indent="-285750" algn="just">
              <a:buFont typeface="Arial" panose="020B0604020202020204" pitchFamily="34" charset="0"/>
              <a:buChar char="•"/>
            </a:pPr>
            <a:r>
              <a:rPr lang="en-IN" b="1" dirty="0"/>
              <a:t>Layout &amp; Features:</a:t>
            </a:r>
            <a:endParaRPr lang="en-IN" dirty="0"/>
          </a:p>
          <a:p>
            <a:pPr marL="742950" lvl="1" indent="-285750" algn="just">
              <a:buFont typeface="Arial" panose="020B0604020202020204" pitchFamily="34" charset="0"/>
              <a:buChar char="•"/>
            </a:pPr>
            <a:r>
              <a:rPr lang="en-IN" b="1" dirty="0"/>
              <a:t>Header:</a:t>
            </a:r>
            <a:r>
              <a:rPr lang="en-IN" dirty="0"/>
              <a:t> Displays </a:t>
            </a:r>
            <a:r>
              <a:rPr lang="en-IN" i="1" dirty="0"/>
              <a:t>"Nearby Hospitals"</a:t>
            </a:r>
            <a:r>
              <a:rPr lang="en-IN" dirty="0"/>
              <a:t> along with the user’s detected location (or manually entered location).</a:t>
            </a:r>
          </a:p>
          <a:p>
            <a:pPr marL="742950" lvl="1" indent="-285750" algn="just">
              <a:buFont typeface="Arial" panose="020B0604020202020204" pitchFamily="34" charset="0"/>
              <a:buChar char="•"/>
            </a:pPr>
            <a:r>
              <a:rPr lang="en-IN" b="1" dirty="0"/>
              <a:t>Hospital List Table or Card View:</a:t>
            </a:r>
            <a:endParaRPr lang="en-IN" dirty="0"/>
          </a:p>
          <a:p>
            <a:pPr marL="1200150" lvl="2" indent="-285750" algn="just">
              <a:buFont typeface="Arial" panose="020B0604020202020204" pitchFamily="34" charset="0"/>
              <a:buChar char="•"/>
            </a:pPr>
            <a:r>
              <a:rPr lang="en-IN" b="1" dirty="0"/>
              <a:t>Hospital Name</a:t>
            </a:r>
            <a:r>
              <a:rPr lang="en-IN" dirty="0"/>
              <a:t> (clickable for more details)</a:t>
            </a:r>
          </a:p>
          <a:p>
            <a:pPr marL="1200150" lvl="2" indent="-285750" algn="just">
              <a:buFont typeface="Arial" panose="020B0604020202020204" pitchFamily="34" charset="0"/>
              <a:buChar char="•"/>
            </a:pPr>
            <a:r>
              <a:rPr lang="en-IN" b="1" dirty="0"/>
              <a:t>Distance from User</a:t>
            </a:r>
            <a:r>
              <a:rPr lang="en-IN" dirty="0"/>
              <a:t> (in </a:t>
            </a:r>
            <a:r>
              <a:rPr lang="en-IN" dirty="0" err="1"/>
              <a:t>kilometers</a:t>
            </a:r>
            <a:r>
              <a:rPr lang="en-IN" dirty="0"/>
              <a:t>)</a:t>
            </a:r>
          </a:p>
          <a:p>
            <a:pPr marL="1200150" lvl="2" indent="-285750" algn="just">
              <a:buFont typeface="Arial" panose="020B0604020202020204" pitchFamily="34" charset="0"/>
              <a:buChar char="•"/>
            </a:pPr>
            <a:r>
              <a:rPr lang="en-IN" b="1" dirty="0"/>
              <a:t>Address &amp; Contact Number</a:t>
            </a:r>
            <a:endParaRPr lang="en-IN" dirty="0"/>
          </a:p>
          <a:p>
            <a:pPr marL="1200150" lvl="2" indent="-285750" algn="just">
              <a:buFont typeface="Arial" panose="020B0604020202020204" pitchFamily="34" charset="0"/>
              <a:buChar char="•"/>
            </a:pPr>
            <a:r>
              <a:rPr lang="en-IN" b="1" dirty="0"/>
              <a:t>"View on Map" Button</a:t>
            </a:r>
            <a:r>
              <a:rPr lang="en-IN" dirty="0"/>
              <a:t> – opens Google Maps with directions.</a:t>
            </a:r>
          </a:p>
          <a:p>
            <a:pPr marL="742950" lvl="1" indent="-285750" algn="just">
              <a:buFont typeface="Arial" panose="020B0604020202020204" pitchFamily="34" charset="0"/>
              <a:buChar char="•"/>
            </a:pPr>
            <a:r>
              <a:rPr lang="en-IN" b="1" dirty="0"/>
              <a:t>Sorting &amp; Filtering Options:</a:t>
            </a:r>
            <a:r>
              <a:rPr lang="en-IN" dirty="0"/>
              <a:t> Allows users to sort hospitals by distance or filter by type (e.g., Government, Private).</a:t>
            </a:r>
          </a:p>
          <a:p>
            <a:pPr marL="742950" lvl="1" indent="-285750" algn="just">
              <a:buFont typeface="Arial" panose="020B0604020202020204" pitchFamily="34" charset="0"/>
              <a:buChar char="•"/>
            </a:pPr>
            <a:r>
              <a:rPr lang="en-IN" b="1" dirty="0"/>
              <a:t>Interactive Map (Optional):</a:t>
            </a:r>
            <a:r>
              <a:rPr lang="en-IN" dirty="0"/>
              <a:t> Displays all hospitals as pins on a map for better visualization.</a:t>
            </a:r>
          </a:p>
          <a:p>
            <a:pPr marL="742950" lvl="1" indent="-285750" algn="just">
              <a:buFont typeface="Arial" panose="020B0604020202020204" pitchFamily="34" charset="0"/>
              <a:buChar char="•"/>
            </a:pPr>
            <a:r>
              <a:rPr lang="en-IN" b="1" dirty="0"/>
              <a:t>Export/Save Option:</a:t>
            </a:r>
            <a:r>
              <a:rPr lang="en-IN" dirty="0"/>
              <a:t> Users can download or print the hospital list for later use</a:t>
            </a:r>
          </a:p>
        </p:txBody>
      </p:sp>
    </p:spTree>
    <p:extLst>
      <p:ext uri="{BB962C8B-B14F-4D97-AF65-F5344CB8AC3E}">
        <p14:creationId xmlns:p14="http://schemas.microsoft.com/office/powerpoint/2010/main" val="90000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489C26-C99E-2721-6318-D3759864403A}"/>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81BF508E-DFA6-10AF-3911-5A39EB1D23C4}"/>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06CDED81-3A68-CF52-2D40-34D87C9BA36E}"/>
              </a:ext>
            </a:extLst>
          </p:cNvPr>
          <p:cNvSpPr>
            <a:spLocks noGrp="1"/>
          </p:cNvSpPr>
          <p:nvPr>
            <p:ph type="sldNum" sz="quarter" idx="12"/>
          </p:nvPr>
        </p:nvSpPr>
        <p:spPr/>
        <p:txBody>
          <a:bodyPr/>
          <a:lstStyle/>
          <a:p>
            <a:fld id="{615D92F5-C6BD-4770-B93B-CCC7110BADD0}" type="slidenum">
              <a:rPr lang="en-US" smtClean="0"/>
              <a:pPr/>
              <a:t>30</a:t>
            </a:fld>
            <a:endParaRPr lang="en-US"/>
          </a:p>
        </p:txBody>
      </p:sp>
      <p:sp>
        <p:nvSpPr>
          <p:cNvPr id="5" name="TextBox 4">
            <a:extLst>
              <a:ext uri="{FF2B5EF4-FFF2-40B4-BE49-F238E27FC236}">
                <a16:creationId xmlns:a16="http://schemas.microsoft.com/office/drawing/2014/main" id="{AA718348-BB8E-2896-C7E4-3ADFFD1CFF97}"/>
              </a:ext>
            </a:extLst>
          </p:cNvPr>
          <p:cNvSpPr txBox="1"/>
          <p:nvPr/>
        </p:nvSpPr>
        <p:spPr>
          <a:xfrm>
            <a:off x="439271" y="163010"/>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26C4F11E-6706-6795-9BF3-41077EE22248}"/>
              </a:ext>
            </a:extLst>
          </p:cNvPr>
          <p:cNvSpPr>
            <a:spLocks noChangeArrowheads="1"/>
          </p:cNvSpPr>
          <p:nvPr/>
        </p:nvSpPr>
        <p:spPr bwMode="auto">
          <a:xfrm>
            <a:off x="496144" y="603540"/>
            <a:ext cx="8151712"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b="1" dirty="0"/>
              <a:t>9.3 Code Logic (Business Logic)</a:t>
            </a:r>
          </a:p>
          <a:p>
            <a:pPr algn="just"/>
            <a:r>
              <a:rPr lang="en-IN" dirty="0"/>
              <a:t>	The </a:t>
            </a:r>
            <a:r>
              <a:rPr lang="en-IN" dirty="0" err="1"/>
              <a:t>DiagnoAI</a:t>
            </a:r>
            <a:r>
              <a:rPr lang="en-IN" dirty="0"/>
              <a:t> system’s backend is implemented using Python and the Flask microframework, following standard coding practices and modular design principles. The goal is to ensure readability, maintainability, and scalability of the codebase.</a:t>
            </a:r>
          </a:p>
          <a:p>
            <a:pPr algn="just"/>
            <a:endParaRPr lang="en-IN" dirty="0"/>
          </a:p>
          <a:p>
            <a:pPr marL="285750" indent="-285750" algn="just">
              <a:buFont typeface="Arial" panose="020B0604020202020204" pitchFamily="34" charset="0"/>
              <a:buChar char="•"/>
            </a:pPr>
            <a:r>
              <a:rPr lang="en-IN" b="1" dirty="0"/>
              <a:t>1. Data Loading and Initialization</a:t>
            </a:r>
          </a:p>
          <a:p>
            <a:pPr marL="285750" lvl="0" indent="-285750" algn="just">
              <a:buFont typeface="Arial" panose="020B0604020202020204" pitchFamily="34" charset="0"/>
              <a:buChar char="•"/>
            </a:pPr>
            <a:r>
              <a:rPr lang="en-IN" b="1" dirty="0"/>
              <a:t>Purpose</a:t>
            </a:r>
            <a:r>
              <a:rPr lang="en-IN" dirty="0"/>
              <a:t>: To prepare all required datasets and machine learning models at application startup.</a:t>
            </a:r>
          </a:p>
          <a:p>
            <a:pPr marL="285750" lvl="0" indent="-285750" algn="just">
              <a:buFont typeface="Arial" panose="020B0604020202020204" pitchFamily="34" charset="0"/>
              <a:buChar char="•"/>
            </a:pPr>
            <a:r>
              <a:rPr lang="en-IN" dirty="0"/>
              <a:t>Implementation Details:</a:t>
            </a:r>
          </a:p>
          <a:p>
            <a:pPr marL="742950" lvl="1" indent="-285750" algn="just">
              <a:buFont typeface="Arial" panose="020B0604020202020204" pitchFamily="34" charset="0"/>
              <a:buChar char="•"/>
            </a:pPr>
            <a:r>
              <a:rPr lang="en-IN" b="1" dirty="0"/>
              <a:t>CSV File</a:t>
            </a:r>
            <a:r>
              <a:rPr lang="en-IN" dirty="0"/>
              <a:t>s: The system loads datasets such as:</a:t>
            </a:r>
          </a:p>
          <a:p>
            <a:pPr marL="1200150" lvl="2" indent="-285750" algn="just">
              <a:buFont typeface="Arial" panose="020B0604020202020204" pitchFamily="34" charset="0"/>
              <a:buChar char="•"/>
            </a:pPr>
            <a:r>
              <a:rPr lang="en-IN" dirty="0"/>
              <a:t>disease_precaution.csv (precaution data)</a:t>
            </a:r>
          </a:p>
          <a:p>
            <a:pPr marL="1200150" lvl="2" indent="-285750" algn="just">
              <a:buFont typeface="Arial" panose="020B0604020202020204" pitchFamily="34" charset="0"/>
              <a:buChar char="•"/>
            </a:pPr>
            <a:r>
              <a:rPr lang="en-IN" dirty="0"/>
              <a:t>Hospital_Directory.csv (hospital list with coordinates)</a:t>
            </a:r>
          </a:p>
          <a:p>
            <a:pPr marL="1200150" lvl="2" indent="-285750" algn="just">
              <a:buFont typeface="Arial" panose="020B0604020202020204" pitchFamily="34" charset="0"/>
              <a:buChar char="•"/>
            </a:pPr>
            <a:r>
              <a:rPr lang="en-IN" dirty="0"/>
              <a:t>disease_description.csv (short descriptions for predictions)</a:t>
            </a:r>
          </a:p>
          <a:p>
            <a:pPr marL="742950" lvl="1" indent="-285750" algn="just">
              <a:buFont typeface="Arial" panose="020B0604020202020204" pitchFamily="34" charset="0"/>
              <a:buChar char="•"/>
            </a:pPr>
            <a:r>
              <a:rPr lang="en-IN" b="1" dirty="0"/>
              <a:t>Machine Learning Model: </a:t>
            </a:r>
            <a:r>
              <a:rPr lang="en-IN" dirty="0"/>
              <a:t>The pre-trained Random Forest Classifier model (.</a:t>
            </a:r>
            <a:r>
              <a:rPr lang="en-IN" dirty="0" err="1"/>
              <a:t>joblib</a:t>
            </a:r>
            <a:r>
              <a:rPr lang="en-IN" dirty="0"/>
              <a:t>) is loaded once at startup using </a:t>
            </a:r>
            <a:r>
              <a:rPr lang="en-IN" dirty="0" err="1"/>
              <a:t>joblib.load</a:t>
            </a:r>
            <a:r>
              <a:rPr lang="en-IN" dirty="0"/>
              <a:t>().</a:t>
            </a:r>
          </a:p>
          <a:p>
            <a:pPr marL="742950" lvl="1" indent="-285750" algn="just">
              <a:buFont typeface="Arial" panose="020B0604020202020204" pitchFamily="34" charset="0"/>
              <a:buChar char="•"/>
            </a:pPr>
            <a:r>
              <a:rPr lang="en-IN" b="1" dirty="0"/>
              <a:t>Error Handling: </a:t>
            </a:r>
            <a:r>
              <a:rPr lang="en-IN" dirty="0"/>
              <a:t>try-except blocks are used to ensure that missing or corrupted files do not crash the application. Instead, user-friendly error messages are logged and displayed when necessary.</a:t>
            </a:r>
          </a:p>
          <a:p>
            <a:pPr marL="742950" lvl="1" indent="-285750" algn="just">
              <a:buFont typeface="Arial" panose="020B0604020202020204" pitchFamily="34" charset="0"/>
              <a:buChar char="•"/>
            </a:pPr>
            <a:r>
              <a:rPr lang="en-IN" b="1" dirty="0"/>
              <a:t>Memory Optimization: </a:t>
            </a:r>
            <a:r>
              <a:rPr lang="en-IN" dirty="0"/>
              <a:t>Data is stored in global variables only once to avoid reloading during every request, improving performance.</a:t>
            </a:r>
          </a:p>
          <a:p>
            <a:pPr algn="just"/>
            <a:endParaRPr lang="en-US" b="1" dirty="0"/>
          </a:p>
        </p:txBody>
      </p:sp>
    </p:spTree>
    <p:extLst>
      <p:ext uri="{BB962C8B-B14F-4D97-AF65-F5344CB8AC3E}">
        <p14:creationId xmlns:p14="http://schemas.microsoft.com/office/powerpoint/2010/main" val="2056435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FD886-E2E5-F860-B3D8-7B5C563A908D}"/>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F02199D-3E4B-5614-C69C-90E1E7C285E5}"/>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B648E938-2C8B-2F6B-4B6A-874E11767EE9}"/>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48F1385F-24B4-8E2E-ECE1-35177965B882}"/>
              </a:ext>
            </a:extLst>
          </p:cNvPr>
          <p:cNvSpPr>
            <a:spLocks noGrp="1"/>
          </p:cNvSpPr>
          <p:nvPr>
            <p:ph type="sldNum" sz="quarter" idx="12"/>
          </p:nvPr>
        </p:nvSpPr>
        <p:spPr/>
        <p:txBody>
          <a:bodyPr/>
          <a:lstStyle/>
          <a:p>
            <a:fld id="{615D92F5-C6BD-4770-B93B-CCC7110BADD0}" type="slidenum">
              <a:rPr lang="en-US" smtClean="0"/>
              <a:pPr/>
              <a:t>31</a:t>
            </a:fld>
            <a:endParaRPr lang="en-US"/>
          </a:p>
        </p:txBody>
      </p:sp>
      <p:sp>
        <p:nvSpPr>
          <p:cNvPr id="5" name="TextBox 4">
            <a:extLst>
              <a:ext uri="{FF2B5EF4-FFF2-40B4-BE49-F238E27FC236}">
                <a16:creationId xmlns:a16="http://schemas.microsoft.com/office/drawing/2014/main" id="{CF323B05-E4BF-E30F-A4AC-521EB6AA33C0}"/>
              </a:ext>
            </a:extLst>
          </p:cNvPr>
          <p:cNvSpPr txBox="1"/>
          <p:nvPr/>
        </p:nvSpPr>
        <p:spPr>
          <a:xfrm>
            <a:off x="439271" y="163010"/>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226F18D2-5E77-7B43-78A9-90A110457C15}"/>
              </a:ext>
            </a:extLst>
          </p:cNvPr>
          <p:cNvSpPr>
            <a:spLocks noChangeArrowheads="1"/>
          </p:cNvSpPr>
          <p:nvPr/>
        </p:nvSpPr>
        <p:spPr bwMode="auto">
          <a:xfrm>
            <a:off x="496144" y="612844"/>
            <a:ext cx="815171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IN" b="1" dirty="0"/>
              <a:t>2. Flask Route Structure</a:t>
            </a:r>
          </a:p>
          <a:p>
            <a:pPr marL="285750" indent="-285750" algn="just">
              <a:buFont typeface="Arial" panose="020B0604020202020204" pitchFamily="34" charset="0"/>
              <a:buChar char="•"/>
            </a:pPr>
            <a:endParaRPr lang="en-IN" b="1" dirty="0"/>
          </a:p>
          <a:p>
            <a:pPr marL="285750" lvl="0" indent="-285750" algn="just">
              <a:buFont typeface="Arial" panose="020B0604020202020204" pitchFamily="34" charset="0"/>
              <a:buChar char="•"/>
            </a:pPr>
            <a:r>
              <a:rPr lang="en-IN" b="1" dirty="0"/>
              <a:t>Purpose: </a:t>
            </a:r>
            <a:r>
              <a:rPr lang="en-IN" dirty="0"/>
              <a:t>To define a clean separation of concerns by mapping each core function to a dedicated route.</a:t>
            </a:r>
          </a:p>
          <a:p>
            <a:pPr marL="285750" lvl="0" indent="-285750" algn="just">
              <a:buFont typeface="Arial" panose="020B0604020202020204" pitchFamily="34" charset="0"/>
              <a:buChar char="•"/>
            </a:pPr>
            <a:r>
              <a:rPr lang="en-IN" b="1" dirty="0"/>
              <a:t>Major Routes:</a:t>
            </a:r>
          </a:p>
          <a:p>
            <a:pPr marL="742950" lvl="1" indent="-285750" algn="just">
              <a:buFont typeface="Arial" panose="020B0604020202020204" pitchFamily="34" charset="0"/>
              <a:buChar char="•"/>
            </a:pPr>
            <a:r>
              <a:rPr lang="en-IN" dirty="0"/>
              <a:t>/</a:t>
            </a:r>
            <a:r>
              <a:rPr lang="en-IN" dirty="0" err="1"/>
              <a:t>send_data</a:t>
            </a:r>
            <a:endParaRPr lang="en-IN" dirty="0"/>
          </a:p>
          <a:p>
            <a:pPr marL="1200150" lvl="2" indent="-285750" algn="just">
              <a:buFont typeface="Arial" panose="020B0604020202020204" pitchFamily="34" charset="0"/>
              <a:buChar char="•"/>
            </a:pPr>
            <a:r>
              <a:rPr lang="en-IN" dirty="0"/>
              <a:t>Handles POST requests from the symptom input form.</a:t>
            </a:r>
          </a:p>
          <a:p>
            <a:pPr marL="1200150" lvl="2" indent="-285750" algn="just">
              <a:buFont typeface="Arial" panose="020B0604020202020204" pitchFamily="34" charset="0"/>
              <a:buChar char="•"/>
            </a:pPr>
            <a:r>
              <a:rPr lang="en-IN" dirty="0"/>
              <a:t>Processes the symptoms, runs predictions, and returns a ranked list of diseases with probabilities in JSON format.</a:t>
            </a:r>
          </a:p>
          <a:p>
            <a:pPr marL="742950" lvl="1" indent="-285750" algn="just">
              <a:buFont typeface="Arial" panose="020B0604020202020204" pitchFamily="34" charset="0"/>
              <a:buChar char="•"/>
            </a:pPr>
            <a:r>
              <a:rPr lang="en-IN" dirty="0"/>
              <a:t>/</a:t>
            </a:r>
            <a:r>
              <a:rPr lang="en-IN" dirty="0" err="1"/>
              <a:t>displaymedic</a:t>
            </a:r>
            <a:endParaRPr lang="en-IN" dirty="0"/>
          </a:p>
          <a:p>
            <a:pPr marL="1200150" lvl="2" indent="-285750" algn="just">
              <a:buFont typeface="Arial" panose="020B0604020202020204" pitchFamily="34" charset="0"/>
              <a:buChar char="•"/>
            </a:pPr>
            <a:r>
              <a:rPr lang="en-IN" dirty="0"/>
              <a:t>Accepts POST data containing disease name, probability, and user details.</a:t>
            </a:r>
          </a:p>
          <a:p>
            <a:pPr marL="1200150" lvl="2" indent="-285750" algn="just">
              <a:buFont typeface="Arial" panose="020B0604020202020204" pitchFamily="34" charset="0"/>
              <a:buChar char="•"/>
            </a:pPr>
            <a:r>
              <a:rPr lang="en-IN" dirty="0"/>
              <a:t>Calls helper functions to fetch medication info, determine hospital urgency, and return a structured medication and precaution report.</a:t>
            </a:r>
          </a:p>
          <a:p>
            <a:pPr marL="742950" lvl="1" indent="-285750" algn="just">
              <a:buFont typeface="Arial" panose="020B0604020202020204" pitchFamily="34" charset="0"/>
              <a:buChar char="•"/>
            </a:pPr>
            <a:r>
              <a:rPr lang="en-IN" dirty="0"/>
              <a:t>/locate</a:t>
            </a:r>
          </a:p>
          <a:p>
            <a:pPr marL="1200150" lvl="2" indent="-285750" algn="just">
              <a:buFont typeface="Arial" panose="020B0604020202020204" pitchFamily="34" charset="0"/>
              <a:buChar char="•"/>
            </a:pPr>
            <a:r>
              <a:rPr lang="en-IN" dirty="0"/>
              <a:t>Handles POST requests with location data.</a:t>
            </a:r>
          </a:p>
          <a:p>
            <a:pPr marL="1200150" lvl="2" indent="-285750" algn="just">
              <a:buFont typeface="Arial" panose="020B0604020202020204" pitchFamily="34" charset="0"/>
              <a:buChar char="•"/>
            </a:pPr>
            <a:r>
              <a:rPr lang="en-IN" dirty="0"/>
              <a:t>Uses the Nearest </a:t>
            </a:r>
            <a:r>
              <a:rPr lang="en-IN" dirty="0" err="1"/>
              <a:t>Neighbors</a:t>
            </a:r>
            <a:r>
              <a:rPr lang="en-IN" dirty="0"/>
              <a:t> algorithm to find and return the nearest hospitals as a JSON response.</a:t>
            </a:r>
          </a:p>
          <a:p>
            <a:pPr marL="285750" lvl="0" indent="-285750" algn="just">
              <a:buFont typeface="Arial" panose="020B0604020202020204" pitchFamily="34" charset="0"/>
              <a:buChar char="•"/>
            </a:pPr>
            <a:r>
              <a:rPr lang="en-IN" b="1" dirty="0"/>
              <a:t>RESTful Approach: </a:t>
            </a:r>
            <a:r>
              <a:rPr lang="en-IN" dirty="0"/>
              <a:t>Routes follow REST conventions, using POST for data submission and JSON responses for compatibility with the frontend.</a:t>
            </a:r>
          </a:p>
        </p:txBody>
      </p:sp>
    </p:spTree>
    <p:extLst>
      <p:ext uri="{BB962C8B-B14F-4D97-AF65-F5344CB8AC3E}">
        <p14:creationId xmlns:p14="http://schemas.microsoft.com/office/powerpoint/2010/main" val="1219913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74A56-04BC-44FA-7AA7-75BA9924A486}"/>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D84332F-68D7-3FBA-7CAD-30B0DABCEEDC}"/>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5118EF1D-4939-26A3-F6A0-19073CB993AB}"/>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5AB22BB1-1553-8A5B-3045-B4C75AAF82DB}"/>
              </a:ext>
            </a:extLst>
          </p:cNvPr>
          <p:cNvSpPr>
            <a:spLocks noGrp="1"/>
          </p:cNvSpPr>
          <p:nvPr>
            <p:ph type="sldNum" sz="quarter" idx="12"/>
          </p:nvPr>
        </p:nvSpPr>
        <p:spPr/>
        <p:txBody>
          <a:bodyPr/>
          <a:lstStyle/>
          <a:p>
            <a:fld id="{615D92F5-C6BD-4770-B93B-CCC7110BADD0}" type="slidenum">
              <a:rPr lang="en-US" smtClean="0"/>
              <a:pPr/>
              <a:t>32</a:t>
            </a:fld>
            <a:endParaRPr lang="en-US"/>
          </a:p>
        </p:txBody>
      </p:sp>
      <p:sp>
        <p:nvSpPr>
          <p:cNvPr id="5" name="TextBox 4">
            <a:extLst>
              <a:ext uri="{FF2B5EF4-FFF2-40B4-BE49-F238E27FC236}">
                <a16:creationId xmlns:a16="http://schemas.microsoft.com/office/drawing/2014/main" id="{F3BA8D0E-289C-47F2-57B7-D1119FDAE7B1}"/>
              </a:ext>
            </a:extLst>
          </p:cNvPr>
          <p:cNvSpPr txBox="1"/>
          <p:nvPr/>
        </p:nvSpPr>
        <p:spPr>
          <a:xfrm>
            <a:off x="439271" y="163010"/>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2D40E6BA-9718-CC21-8999-C651F1F5FBAC}"/>
              </a:ext>
            </a:extLst>
          </p:cNvPr>
          <p:cNvSpPr>
            <a:spLocks noChangeArrowheads="1"/>
          </p:cNvSpPr>
          <p:nvPr/>
        </p:nvSpPr>
        <p:spPr bwMode="auto">
          <a:xfrm>
            <a:off x="496144" y="666735"/>
            <a:ext cx="8151712"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t>3. Helper Functions</a:t>
            </a:r>
          </a:p>
          <a:p>
            <a:pPr lvl="0" algn="just"/>
            <a:r>
              <a:rPr lang="en-IN" b="1" dirty="0"/>
              <a:t>Purpose: </a:t>
            </a:r>
            <a:r>
              <a:rPr lang="en-IN" dirty="0"/>
              <a:t>To encapsulate complex logic, improve code reusability, and keep route handlers simple and readable.</a:t>
            </a:r>
          </a:p>
          <a:p>
            <a:pPr lvl="0" algn="just"/>
            <a:r>
              <a:rPr lang="en-IN" b="1" dirty="0"/>
              <a:t>Examples:</a:t>
            </a:r>
          </a:p>
          <a:p>
            <a:pPr lvl="1" algn="just"/>
            <a:r>
              <a:rPr lang="en-IN" dirty="0" err="1"/>
              <a:t>get_medication_info</a:t>
            </a:r>
            <a:r>
              <a:rPr lang="en-IN" dirty="0"/>
              <a:t>(disease, age, gender)</a:t>
            </a:r>
          </a:p>
          <a:p>
            <a:pPr lvl="2" algn="just"/>
            <a:r>
              <a:rPr lang="en-IN" dirty="0"/>
              <a:t>Fetches appropriate medication details for the selected disease, considering patient profile.</a:t>
            </a:r>
          </a:p>
          <a:p>
            <a:pPr lvl="1" algn="just"/>
            <a:r>
              <a:rPr lang="en-IN" dirty="0" err="1"/>
              <a:t>suggest_nearest_hospitals</a:t>
            </a:r>
            <a:r>
              <a:rPr lang="en-IN" dirty="0"/>
              <a:t>(location)</a:t>
            </a:r>
          </a:p>
          <a:p>
            <a:pPr lvl="2" algn="just"/>
            <a:r>
              <a:rPr lang="en-IN" dirty="0"/>
              <a:t>Uses location coordinates and hospital dataset to calculate distances and return the nearest hospitals.</a:t>
            </a:r>
          </a:p>
          <a:p>
            <a:pPr lvl="1" algn="just"/>
            <a:r>
              <a:rPr lang="en-IN" dirty="0" err="1"/>
              <a:t>getlatlong</a:t>
            </a:r>
            <a:r>
              <a:rPr lang="en-IN" dirty="0"/>
              <a:t>(</a:t>
            </a:r>
            <a:r>
              <a:rPr lang="en-IN" dirty="0" err="1"/>
              <a:t>location_string</a:t>
            </a:r>
            <a:r>
              <a:rPr lang="en-IN" dirty="0"/>
              <a:t>)</a:t>
            </a:r>
          </a:p>
          <a:p>
            <a:pPr lvl="2" algn="just"/>
            <a:r>
              <a:rPr lang="en-IN" dirty="0"/>
              <a:t>Converts manual location input into latitude/longitude coordinates via an API call or </a:t>
            </a:r>
            <a:r>
              <a:rPr lang="en-IN" dirty="0" err="1"/>
              <a:t>geopy</a:t>
            </a:r>
            <a:r>
              <a:rPr lang="en-IN" dirty="0"/>
              <a:t> library.</a:t>
            </a:r>
          </a:p>
          <a:p>
            <a:pPr lvl="1" algn="just"/>
            <a:r>
              <a:rPr lang="en-IN" dirty="0" err="1"/>
              <a:t>recmedicine</a:t>
            </a:r>
            <a:r>
              <a:rPr lang="en-IN" dirty="0"/>
              <a:t>(disease)</a:t>
            </a:r>
          </a:p>
          <a:p>
            <a:pPr lvl="2" algn="just"/>
            <a:r>
              <a:rPr lang="en-IN" dirty="0"/>
              <a:t>Retrieves recommended medications from static data files or external API sources.</a:t>
            </a:r>
          </a:p>
          <a:p>
            <a:pPr lvl="0" algn="just"/>
            <a:r>
              <a:rPr lang="en-IN" b="1" dirty="0"/>
              <a:t>Advantages:</a:t>
            </a:r>
          </a:p>
          <a:p>
            <a:pPr lvl="1" algn="just"/>
            <a:r>
              <a:rPr lang="en-IN" dirty="0"/>
              <a:t>Code readability improves by separating responsibilities.</a:t>
            </a:r>
          </a:p>
          <a:p>
            <a:pPr lvl="1" algn="just"/>
            <a:r>
              <a:rPr lang="en-IN" dirty="0"/>
              <a:t>Easy maintenance since updates to business logic are localized to individual functions.</a:t>
            </a:r>
          </a:p>
        </p:txBody>
      </p:sp>
    </p:spTree>
    <p:extLst>
      <p:ext uri="{BB962C8B-B14F-4D97-AF65-F5344CB8AC3E}">
        <p14:creationId xmlns:p14="http://schemas.microsoft.com/office/powerpoint/2010/main" val="2658625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2744A8-AB02-9C0A-49DA-EF463067913D}"/>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3F748F5A-151A-EF18-D637-872D9C43A5DB}"/>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B0E06914-FF62-FEAE-807D-F9A62645DA9A}"/>
              </a:ext>
            </a:extLst>
          </p:cNvPr>
          <p:cNvSpPr>
            <a:spLocks noGrp="1"/>
          </p:cNvSpPr>
          <p:nvPr>
            <p:ph type="sldNum" sz="quarter" idx="12"/>
          </p:nvPr>
        </p:nvSpPr>
        <p:spPr/>
        <p:txBody>
          <a:bodyPr/>
          <a:lstStyle/>
          <a:p>
            <a:fld id="{615D92F5-C6BD-4770-B93B-CCC7110BADD0}" type="slidenum">
              <a:rPr lang="en-US" smtClean="0"/>
              <a:pPr/>
              <a:t>33</a:t>
            </a:fld>
            <a:endParaRPr lang="en-US"/>
          </a:p>
        </p:txBody>
      </p:sp>
      <p:sp>
        <p:nvSpPr>
          <p:cNvPr id="5" name="TextBox 4">
            <a:extLst>
              <a:ext uri="{FF2B5EF4-FFF2-40B4-BE49-F238E27FC236}">
                <a16:creationId xmlns:a16="http://schemas.microsoft.com/office/drawing/2014/main" id="{F4D7E925-2CE3-5B8B-4A78-1058F8B8B2F8}"/>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46D221ED-7D36-CEE6-40E8-E6A110330A3D}"/>
              </a:ext>
            </a:extLst>
          </p:cNvPr>
          <p:cNvSpPr>
            <a:spLocks noChangeArrowheads="1"/>
          </p:cNvSpPr>
          <p:nvPr/>
        </p:nvSpPr>
        <p:spPr bwMode="auto">
          <a:xfrm>
            <a:off x="439271" y="920299"/>
            <a:ext cx="815171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t>4. Global Variables &amp; State Management</a:t>
            </a:r>
          </a:p>
          <a:p>
            <a:pPr algn="just"/>
            <a:endParaRPr lang="en-IN" b="1" dirty="0"/>
          </a:p>
          <a:p>
            <a:pPr lvl="0" algn="just"/>
            <a:r>
              <a:rPr lang="en-IN" b="1" dirty="0"/>
              <a:t>Purpose: </a:t>
            </a:r>
            <a:r>
              <a:rPr lang="en-IN" dirty="0"/>
              <a:t>To temporarily store data between HTTP requests in this single-user prototype system.</a:t>
            </a:r>
          </a:p>
          <a:p>
            <a:pPr lvl="0" algn="just"/>
            <a:r>
              <a:rPr lang="en-IN" b="1" dirty="0"/>
              <a:t>Implementation:</a:t>
            </a:r>
          </a:p>
          <a:p>
            <a:pPr lvl="1" algn="just"/>
            <a:r>
              <a:rPr lang="en-IN" dirty="0"/>
              <a:t>Variables like response, response1, etc., are used to hold predicted disease data and user session information across multiple routes.</a:t>
            </a:r>
          </a:p>
          <a:p>
            <a:pPr lvl="1" algn="just"/>
            <a:r>
              <a:rPr lang="en-IN" dirty="0"/>
              <a:t>This approach is sufficient for a prototype or single-user deployment.</a:t>
            </a:r>
          </a:p>
          <a:p>
            <a:pPr lvl="0" algn="just"/>
            <a:r>
              <a:rPr lang="en-IN" b="1" dirty="0"/>
              <a:t>Future Improvement (Scalability):</a:t>
            </a:r>
          </a:p>
          <a:p>
            <a:pPr lvl="1" algn="just"/>
            <a:r>
              <a:rPr lang="en-IN" dirty="0"/>
              <a:t>For a multi-user production environment, these global variables would be replaced with:</a:t>
            </a:r>
          </a:p>
          <a:p>
            <a:pPr lvl="2" algn="just"/>
            <a:r>
              <a:rPr lang="en-IN" dirty="0"/>
              <a:t>Flask Session Objects or</a:t>
            </a:r>
          </a:p>
          <a:p>
            <a:pPr lvl="2" algn="just"/>
            <a:r>
              <a:rPr lang="en-IN" dirty="0"/>
              <a:t>A Database (SQLite/MySQL) to persist user-specific data securely and prevent data mix-ups between users.</a:t>
            </a:r>
          </a:p>
          <a:p>
            <a:pPr marL="285750" lvl="0" indent="-285750" algn="just" fontAlgn="base">
              <a:buFont typeface="Wingdings" panose="05000000000000000000" pitchFamily="2" charset="2"/>
              <a:buChar char="Ø"/>
            </a:pPr>
            <a:endParaRPr lang="en-IN" dirty="0"/>
          </a:p>
        </p:txBody>
      </p:sp>
    </p:spTree>
    <p:extLst>
      <p:ext uri="{BB962C8B-B14F-4D97-AF65-F5344CB8AC3E}">
        <p14:creationId xmlns:p14="http://schemas.microsoft.com/office/powerpoint/2010/main" val="2858005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839A1-F338-08D3-E1E2-FAB538BCE4AA}"/>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0BB42DEA-9D56-8D1F-4477-3912D6E754A0}"/>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44531583-6900-7650-4904-6093DA2DB331}"/>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91A16B23-1AD5-E0C4-4A26-D15E1D2F6B04}"/>
              </a:ext>
            </a:extLst>
          </p:cNvPr>
          <p:cNvSpPr>
            <a:spLocks noGrp="1"/>
          </p:cNvSpPr>
          <p:nvPr>
            <p:ph type="sldNum" sz="quarter" idx="12"/>
          </p:nvPr>
        </p:nvSpPr>
        <p:spPr/>
        <p:txBody>
          <a:bodyPr/>
          <a:lstStyle/>
          <a:p>
            <a:fld id="{615D92F5-C6BD-4770-B93B-CCC7110BADD0}" type="slidenum">
              <a:rPr lang="en-US" smtClean="0"/>
              <a:pPr/>
              <a:t>34</a:t>
            </a:fld>
            <a:endParaRPr lang="en-US"/>
          </a:p>
        </p:txBody>
      </p:sp>
      <p:sp>
        <p:nvSpPr>
          <p:cNvPr id="5" name="TextBox 4">
            <a:extLst>
              <a:ext uri="{FF2B5EF4-FFF2-40B4-BE49-F238E27FC236}">
                <a16:creationId xmlns:a16="http://schemas.microsoft.com/office/drawing/2014/main" id="{F49C36D4-A0D5-F42B-FD8D-1E3FE1EECF71}"/>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9. Implementation</a:t>
            </a:r>
          </a:p>
        </p:txBody>
      </p:sp>
      <p:sp>
        <p:nvSpPr>
          <p:cNvPr id="6" name="Rectangle 5">
            <a:extLst>
              <a:ext uri="{FF2B5EF4-FFF2-40B4-BE49-F238E27FC236}">
                <a16:creationId xmlns:a16="http://schemas.microsoft.com/office/drawing/2014/main" id="{6ADEF9CC-A9F0-D434-92FB-B73C6CAC7B6A}"/>
              </a:ext>
            </a:extLst>
          </p:cNvPr>
          <p:cNvSpPr>
            <a:spLocks noChangeArrowheads="1"/>
          </p:cNvSpPr>
          <p:nvPr/>
        </p:nvSpPr>
        <p:spPr bwMode="auto">
          <a:xfrm>
            <a:off x="439271" y="1416851"/>
            <a:ext cx="815171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IN" b="1" dirty="0"/>
              <a:t>5. Coding Standards Followed</a:t>
            </a:r>
          </a:p>
          <a:p>
            <a:pPr algn="just"/>
            <a:endParaRPr lang="en-IN" dirty="0"/>
          </a:p>
          <a:p>
            <a:pPr lvl="0" algn="just"/>
            <a:r>
              <a:rPr lang="en-IN" b="1" dirty="0"/>
              <a:t>PEP8 Compliance: </a:t>
            </a:r>
            <a:r>
              <a:rPr lang="en-IN" dirty="0"/>
              <a:t>Indentation (4 spaces), descriptive function/variable names, and proper inline comments are used.</a:t>
            </a:r>
          </a:p>
          <a:p>
            <a:pPr lvl="0" algn="just"/>
            <a:r>
              <a:rPr lang="en-IN" b="1" dirty="0"/>
              <a:t>Error Handling: </a:t>
            </a:r>
            <a:r>
              <a:rPr lang="en-IN" dirty="0"/>
              <a:t>Try-except blocks log errors using Python’s logging library.</a:t>
            </a:r>
          </a:p>
          <a:p>
            <a:pPr lvl="0" algn="just"/>
            <a:r>
              <a:rPr lang="en-IN" dirty="0"/>
              <a:t>Modularity: Code is divided into multiple Python files or logical sections (routes, helper functions, data loading).</a:t>
            </a:r>
          </a:p>
          <a:p>
            <a:pPr lvl="0" algn="just"/>
            <a:r>
              <a:rPr lang="en-IN" b="1" dirty="0"/>
              <a:t>Version Control: </a:t>
            </a:r>
            <a:r>
              <a:rPr lang="en-IN" dirty="0"/>
              <a:t>Codebase is maintained under a Git repository (recommended for collaboration and version tracking).</a:t>
            </a:r>
          </a:p>
          <a:p>
            <a:pPr algn="just"/>
            <a:r>
              <a:rPr lang="en-IN" b="1" dirty="0"/>
              <a:t> </a:t>
            </a:r>
            <a:endParaRPr lang="en-IN" dirty="0"/>
          </a:p>
        </p:txBody>
      </p:sp>
    </p:spTree>
    <p:extLst>
      <p:ext uri="{BB962C8B-B14F-4D97-AF65-F5344CB8AC3E}">
        <p14:creationId xmlns:p14="http://schemas.microsoft.com/office/powerpoint/2010/main" val="39490035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AA229BA-EBB2-7965-CB9D-A29D7B35DC7C}"/>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02E7CCFD-6B43-ABBC-BDB1-417E1616E2BC}"/>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40F0A1A6-34AE-9614-E0E4-C7A0AB020AFF}"/>
              </a:ext>
            </a:extLst>
          </p:cNvPr>
          <p:cNvSpPr>
            <a:spLocks noGrp="1"/>
          </p:cNvSpPr>
          <p:nvPr>
            <p:ph type="sldNum" sz="quarter" idx="12"/>
          </p:nvPr>
        </p:nvSpPr>
        <p:spPr/>
        <p:txBody>
          <a:bodyPr/>
          <a:lstStyle/>
          <a:p>
            <a:fld id="{615D92F5-C6BD-4770-B93B-CCC7110BADD0}" type="slidenum">
              <a:rPr lang="en-US" smtClean="0"/>
              <a:pPr/>
              <a:t>35</a:t>
            </a:fld>
            <a:endParaRPr lang="en-US"/>
          </a:p>
        </p:txBody>
      </p:sp>
      <p:sp>
        <p:nvSpPr>
          <p:cNvPr id="5" name="TextBox 4">
            <a:extLst>
              <a:ext uri="{FF2B5EF4-FFF2-40B4-BE49-F238E27FC236}">
                <a16:creationId xmlns:a16="http://schemas.microsoft.com/office/drawing/2014/main" id="{A8CA8320-3234-A79E-EF5C-9D1E57084F8D}"/>
              </a:ext>
            </a:extLst>
          </p:cNvPr>
          <p:cNvSpPr txBox="1"/>
          <p:nvPr/>
        </p:nvSpPr>
        <p:spPr>
          <a:xfrm>
            <a:off x="439271" y="349624"/>
            <a:ext cx="8283388" cy="584775"/>
          </a:xfrm>
          <a:prstGeom prst="rect">
            <a:avLst/>
          </a:prstGeom>
          <a:noFill/>
        </p:spPr>
        <p:txBody>
          <a:bodyPr wrap="square" rtlCol="0">
            <a:spAutoFit/>
          </a:bodyPr>
          <a:lstStyle/>
          <a:p>
            <a:pPr fontAlgn="ctr">
              <a:buNone/>
            </a:pPr>
            <a:r>
              <a:rPr lang="en-US" sz="3200" b="1" dirty="0">
                <a:solidFill>
                  <a:srgbClr val="000000"/>
                </a:solidFill>
                <a:latin typeface="Calibri" panose="020F0502020204030204" pitchFamily="34" charset="0"/>
              </a:rPr>
              <a:t>10. T</a:t>
            </a:r>
            <a:r>
              <a:rPr lang="en-IN" sz="3200" b="1" dirty="0" err="1">
                <a:solidFill>
                  <a:srgbClr val="000000"/>
                </a:solidFill>
                <a:latin typeface="Calibri" panose="020F0502020204030204" pitchFamily="34" charset="0"/>
              </a:rPr>
              <a:t>esting</a:t>
            </a:r>
            <a:endParaRPr lang="en-IN" sz="3200" b="1" dirty="0">
              <a:solidFill>
                <a:srgbClr val="000000"/>
              </a:solidFill>
              <a:latin typeface="Calibri" panose="020F0502020204030204" pitchFamily="34" charset="0"/>
            </a:endParaRPr>
          </a:p>
        </p:txBody>
      </p:sp>
      <p:sp>
        <p:nvSpPr>
          <p:cNvPr id="6" name="Rectangle 5">
            <a:extLst>
              <a:ext uri="{FF2B5EF4-FFF2-40B4-BE49-F238E27FC236}">
                <a16:creationId xmlns:a16="http://schemas.microsoft.com/office/drawing/2014/main" id="{C3790CC1-479D-7E98-1A3F-8F3B16CB9447}"/>
              </a:ext>
            </a:extLst>
          </p:cNvPr>
          <p:cNvSpPr>
            <a:spLocks noChangeArrowheads="1"/>
          </p:cNvSpPr>
          <p:nvPr/>
        </p:nvSpPr>
        <p:spPr bwMode="auto">
          <a:xfrm>
            <a:off x="439271" y="934399"/>
            <a:ext cx="815171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fontAlgn="base"/>
            <a:r>
              <a:rPr lang="en-IN" b="1" dirty="0"/>
              <a:t>10.1 Strategy</a:t>
            </a:r>
          </a:p>
          <a:p>
            <a:pPr lvl="0" algn="just" fontAlgn="base"/>
            <a:endParaRPr lang="en-IN" b="1" dirty="0"/>
          </a:p>
          <a:p>
            <a:pPr algn="just"/>
            <a:r>
              <a:rPr lang="en-IN" dirty="0"/>
              <a:t>	The </a:t>
            </a:r>
            <a:r>
              <a:rPr lang="en-IN" b="1" dirty="0" err="1"/>
              <a:t>DiagnoAI</a:t>
            </a:r>
            <a:r>
              <a:rPr lang="en-IN" dirty="0"/>
              <a:t> system follows a structured </a:t>
            </a:r>
            <a:r>
              <a:rPr lang="en-IN" b="1" dirty="0"/>
              <a:t>Black-Box Testing</a:t>
            </a:r>
            <a:r>
              <a:rPr lang="en-IN" dirty="0"/>
              <a:t> approach to verify that all user-facing functionalities work as intended, regardless of the internal code structure. The primary goal of this strategy is to validate that the application behaves correctly under various input scenarios, performs reliably across platforms, and provides a smooth user experience.</a:t>
            </a:r>
          </a:p>
          <a:p>
            <a:pPr algn="just"/>
            <a:endParaRPr lang="en-IN" dirty="0"/>
          </a:p>
          <a:p>
            <a:pPr lvl="0" algn="just"/>
            <a:r>
              <a:rPr lang="en-IN" b="1" dirty="0"/>
              <a:t>1. Functional Testing</a:t>
            </a:r>
            <a:endParaRPr lang="en-IN" dirty="0"/>
          </a:p>
          <a:p>
            <a:pPr lvl="0" algn="just"/>
            <a:r>
              <a:rPr lang="en-IN" b="1" dirty="0"/>
              <a:t>Objective:</a:t>
            </a:r>
            <a:r>
              <a:rPr lang="en-IN" dirty="0"/>
              <a:t> To ensure that all features and routes of the system work as expected.</a:t>
            </a:r>
          </a:p>
          <a:p>
            <a:pPr lvl="0" algn="just"/>
            <a:r>
              <a:rPr lang="en-IN" b="1" dirty="0"/>
              <a:t>Scope:</a:t>
            </a:r>
            <a:endParaRPr lang="en-IN" dirty="0"/>
          </a:p>
          <a:p>
            <a:pPr lvl="1" algn="just"/>
            <a:r>
              <a:rPr lang="en-IN" dirty="0"/>
              <a:t>Symptom input and submission process</a:t>
            </a:r>
          </a:p>
          <a:p>
            <a:pPr lvl="1" algn="just"/>
            <a:r>
              <a:rPr lang="en-IN" dirty="0"/>
              <a:t>/</a:t>
            </a:r>
            <a:r>
              <a:rPr lang="en-IN" dirty="0" err="1"/>
              <a:t>send_data</a:t>
            </a:r>
            <a:r>
              <a:rPr lang="en-IN" dirty="0"/>
              <a:t> route — verifies that the correct disease predictions and probabilities are returned</a:t>
            </a:r>
          </a:p>
          <a:p>
            <a:pPr lvl="1" algn="just"/>
            <a:r>
              <a:rPr lang="en-IN" dirty="0"/>
              <a:t>/</a:t>
            </a:r>
            <a:r>
              <a:rPr lang="en-IN" dirty="0" err="1"/>
              <a:t>displaymedic</a:t>
            </a:r>
            <a:r>
              <a:rPr lang="en-IN" dirty="0"/>
              <a:t> route — verifies that medication, doctor type, and hospital urgency data are correctly displayed</a:t>
            </a:r>
          </a:p>
          <a:p>
            <a:pPr lvl="1" algn="just"/>
            <a:r>
              <a:rPr lang="en-IN" dirty="0"/>
              <a:t>/locate route — verifies that nearest hospital results are accurate</a:t>
            </a:r>
          </a:p>
          <a:p>
            <a:pPr lvl="0" algn="just"/>
            <a:r>
              <a:rPr lang="en-IN" b="1" dirty="0"/>
              <a:t>Method:</a:t>
            </a:r>
            <a:r>
              <a:rPr lang="en-IN" dirty="0"/>
              <a:t> Test cases are designed with valid, invalid, and edge-case inputs to check if the system produces correct outputs or meaningful error messages.</a:t>
            </a:r>
          </a:p>
        </p:txBody>
      </p:sp>
    </p:spTree>
    <p:extLst>
      <p:ext uri="{BB962C8B-B14F-4D97-AF65-F5344CB8AC3E}">
        <p14:creationId xmlns:p14="http://schemas.microsoft.com/office/powerpoint/2010/main" val="2516140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AD8FE2-969A-657B-2813-E51EE1D3B839}"/>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E1D9F486-02A2-5104-C453-8661B7B56139}"/>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CFDFD2F4-056C-6E04-838D-5D7B7052CDF6}"/>
              </a:ext>
            </a:extLst>
          </p:cNvPr>
          <p:cNvSpPr>
            <a:spLocks noGrp="1"/>
          </p:cNvSpPr>
          <p:nvPr>
            <p:ph type="sldNum" sz="quarter" idx="12"/>
          </p:nvPr>
        </p:nvSpPr>
        <p:spPr/>
        <p:txBody>
          <a:bodyPr/>
          <a:lstStyle/>
          <a:p>
            <a:fld id="{615D92F5-C6BD-4770-B93B-CCC7110BADD0}" type="slidenum">
              <a:rPr lang="en-US" smtClean="0"/>
              <a:pPr/>
              <a:t>36</a:t>
            </a:fld>
            <a:endParaRPr lang="en-US"/>
          </a:p>
        </p:txBody>
      </p:sp>
      <p:sp>
        <p:nvSpPr>
          <p:cNvPr id="5" name="TextBox 4">
            <a:extLst>
              <a:ext uri="{FF2B5EF4-FFF2-40B4-BE49-F238E27FC236}">
                <a16:creationId xmlns:a16="http://schemas.microsoft.com/office/drawing/2014/main" id="{BD51C13A-D37E-BB63-E87E-BF345EDB9EBF}"/>
              </a:ext>
            </a:extLst>
          </p:cNvPr>
          <p:cNvSpPr txBox="1"/>
          <p:nvPr/>
        </p:nvSpPr>
        <p:spPr>
          <a:xfrm>
            <a:off x="439271" y="349624"/>
            <a:ext cx="8283388" cy="584775"/>
          </a:xfrm>
          <a:prstGeom prst="rect">
            <a:avLst/>
          </a:prstGeom>
          <a:noFill/>
        </p:spPr>
        <p:txBody>
          <a:bodyPr wrap="square" rtlCol="0">
            <a:spAutoFit/>
          </a:bodyPr>
          <a:lstStyle/>
          <a:p>
            <a:pPr fontAlgn="ctr">
              <a:buNone/>
            </a:pPr>
            <a:r>
              <a:rPr lang="en-US" sz="3200" b="1" dirty="0">
                <a:solidFill>
                  <a:srgbClr val="000000"/>
                </a:solidFill>
                <a:latin typeface="Calibri" panose="020F0502020204030204" pitchFamily="34" charset="0"/>
              </a:rPr>
              <a:t>10. T</a:t>
            </a:r>
            <a:r>
              <a:rPr lang="en-IN" sz="3200" b="1" dirty="0" err="1">
                <a:solidFill>
                  <a:srgbClr val="000000"/>
                </a:solidFill>
                <a:latin typeface="Calibri" panose="020F0502020204030204" pitchFamily="34" charset="0"/>
              </a:rPr>
              <a:t>esting</a:t>
            </a:r>
            <a:endParaRPr lang="en-IN" sz="32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3301752A-F0B8-D912-8306-9A8778C93795}"/>
              </a:ext>
            </a:extLst>
          </p:cNvPr>
          <p:cNvSpPr txBox="1"/>
          <p:nvPr/>
        </p:nvSpPr>
        <p:spPr>
          <a:xfrm>
            <a:off x="513183" y="1156996"/>
            <a:ext cx="8209475" cy="4855240"/>
          </a:xfrm>
          <a:prstGeom prst="rect">
            <a:avLst/>
          </a:prstGeom>
          <a:noFill/>
        </p:spPr>
        <p:txBody>
          <a:bodyPr wrap="square">
            <a:spAutoFit/>
          </a:bodyPr>
          <a:lstStyle/>
          <a:p>
            <a:pPr algn="just">
              <a:lnSpc>
                <a:spcPct val="107000"/>
              </a:lnSpc>
              <a:spcAft>
                <a:spcPts val="800"/>
              </a:spcAft>
              <a:buNone/>
            </a:pPr>
            <a:r>
              <a:rPr lang="en-IN" b="1" kern="100" dirty="0">
                <a:effectLst/>
                <a:latin typeface="Calibri" panose="020F0502020204030204" pitchFamily="34" charset="0"/>
                <a:ea typeface="Calibri" panose="020F0502020204030204" pitchFamily="34" charset="0"/>
                <a:cs typeface="Calibri" panose="020F0502020204030204" pitchFamily="34" charset="0"/>
              </a:rPr>
              <a:t>2. Usability Testing</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Calibri" panose="020F0502020204030204" pitchFamily="34" charset="0"/>
                <a:ea typeface="Calibri" panose="020F0502020204030204" pitchFamily="34" charset="0"/>
                <a:cs typeface="Calibri" panose="020F0502020204030204" pitchFamily="34" charset="0"/>
              </a:rPr>
              <a:t>Objective:</a:t>
            </a:r>
            <a:r>
              <a:rPr lang="en-IN" kern="100" dirty="0">
                <a:effectLst/>
                <a:latin typeface="Calibri" panose="020F0502020204030204" pitchFamily="34" charset="0"/>
                <a:ea typeface="Calibri" panose="020F0502020204030204" pitchFamily="34" charset="0"/>
                <a:cs typeface="Calibri" panose="020F0502020204030204" pitchFamily="34" charset="0"/>
              </a:rPr>
              <a:t> To confirm that the application is easy to use, even for non-technical users.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Calibri" panose="020F0502020204030204" pitchFamily="34" charset="0"/>
                <a:ea typeface="Calibri" panose="020F0502020204030204" pitchFamily="34" charset="0"/>
                <a:cs typeface="Calibri" panose="020F0502020204030204" pitchFamily="34" charset="0"/>
              </a:rPr>
              <a:t>Scope: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Interface navigation and form clarity</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Visibility of buttons, labels, and messages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Step-by-step flow from symptom selection → prediction → medication → hospital finder</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Calibri" panose="020F0502020204030204" pitchFamily="34" charset="0"/>
                <a:ea typeface="Calibri" panose="020F0502020204030204" pitchFamily="34" charset="0"/>
                <a:cs typeface="Calibri" panose="020F0502020204030204" pitchFamily="34" charset="0"/>
              </a:rPr>
              <a:t>Method: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Conducted with a sample group of users from different age groups.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Observed whether users can complete a task (e.g., find nearby hospitals) without external guidance.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Collected user feedback and refined the interface based on issues faced.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170961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A2573-6900-6D77-1CA2-845EA3C67061}"/>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9B8F5B6-7233-6224-35A8-AC157114133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94603A69-A076-FA6B-5130-E3294CD60523}"/>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C58986ED-1296-26EF-7C7E-C70C2E196885}"/>
              </a:ext>
            </a:extLst>
          </p:cNvPr>
          <p:cNvSpPr>
            <a:spLocks noGrp="1"/>
          </p:cNvSpPr>
          <p:nvPr>
            <p:ph type="sldNum" sz="quarter" idx="12"/>
          </p:nvPr>
        </p:nvSpPr>
        <p:spPr/>
        <p:txBody>
          <a:bodyPr/>
          <a:lstStyle/>
          <a:p>
            <a:fld id="{615D92F5-C6BD-4770-B93B-CCC7110BADD0}" type="slidenum">
              <a:rPr lang="en-US" smtClean="0"/>
              <a:pPr/>
              <a:t>37</a:t>
            </a:fld>
            <a:endParaRPr lang="en-US"/>
          </a:p>
        </p:txBody>
      </p:sp>
      <p:sp>
        <p:nvSpPr>
          <p:cNvPr id="5" name="TextBox 4">
            <a:extLst>
              <a:ext uri="{FF2B5EF4-FFF2-40B4-BE49-F238E27FC236}">
                <a16:creationId xmlns:a16="http://schemas.microsoft.com/office/drawing/2014/main" id="{0BD51EFB-2CF0-D821-63B9-E28DD62852EF}"/>
              </a:ext>
            </a:extLst>
          </p:cNvPr>
          <p:cNvSpPr txBox="1"/>
          <p:nvPr/>
        </p:nvSpPr>
        <p:spPr>
          <a:xfrm>
            <a:off x="439271" y="349624"/>
            <a:ext cx="8283388" cy="584775"/>
          </a:xfrm>
          <a:prstGeom prst="rect">
            <a:avLst/>
          </a:prstGeom>
          <a:noFill/>
        </p:spPr>
        <p:txBody>
          <a:bodyPr wrap="square" rtlCol="0">
            <a:spAutoFit/>
          </a:bodyPr>
          <a:lstStyle/>
          <a:p>
            <a:pPr fontAlgn="ctr">
              <a:buNone/>
            </a:pPr>
            <a:r>
              <a:rPr lang="en-US" sz="3200" b="1" dirty="0">
                <a:solidFill>
                  <a:srgbClr val="000000"/>
                </a:solidFill>
                <a:latin typeface="Calibri" panose="020F0502020204030204" pitchFamily="34" charset="0"/>
              </a:rPr>
              <a:t>10. T</a:t>
            </a:r>
            <a:r>
              <a:rPr lang="en-IN" sz="3200" b="1" dirty="0" err="1">
                <a:solidFill>
                  <a:srgbClr val="000000"/>
                </a:solidFill>
                <a:latin typeface="Calibri" panose="020F0502020204030204" pitchFamily="34" charset="0"/>
              </a:rPr>
              <a:t>esting</a:t>
            </a:r>
            <a:endParaRPr lang="en-IN" sz="32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B980E796-EEBC-62DA-98F4-0B39DE59B851}"/>
              </a:ext>
            </a:extLst>
          </p:cNvPr>
          <p:cNvSpPr txBox="1"/>
          <p:nvPr/>
        </p:nvSpPr>
        <p:spPr>
          <a:xfrm>
            <a:off x="429219" y="1558212"/>
            <a:ext cx="8209475" cy="2862322"/>
          </a:xfrm>
          <a:prstGeom prst="rect">
            <a:avLst/>
          </a:prstGeom>
          <a:noFill/>
        </p:spPr>
        <p:txBody>
          <a:bodyPr wrap="square">
            <a:spAutoFit/>
          </a:bodyPr>
          <a:lstStyle/>
          <a:p>
            <a:pPr algn="just"/>
            <a:r>
              <a:rPr lang="en-IN" b="1" dirty="0"/>
              <a:t>3. Compatibility Testing</a:t>
            </a:r>
            <a:endParaRPr lang="en-IN" dirty="0"/>
          </a:p>
          <a:p>
            <a:pPr lvl="0" algn="just"/>
            <a:r>
              <a:rPr lang="en-IN" b="1" dirty="0"/>
              <a:t>Objective:</a:t>
            </a:r>
            <a:r>
              <a:rPr lang="en-IN" dirty="0"/>
              <a:t> To ensure that the application functions consistently across various platforms and browsers.</a:t>
            </a:r>
          </a:p>
          <a:p>
            <a:pPr lvl="0" algn="just"/>
            <a:r>
              <a:rPr lang="en-IN" b="1" dirty="0"/>
              <a:t>Scope:</a:t>
            </a:r>
            <a:endParaRPr lang="en-IN" dirty="0"/>
          </a:p>
          <a:p>
            <a:pPr lvl="1" algn="just"/>
            <a:r>
              <a:rPr lang="en-IN" dirty="0"/>
              <a:t>Testing on popular browsers (Chrome, Firefox, Edge, Safari)</a:t>
            </a:r>
          </a:p>
          <a:p>
            <a:pPr lvl="1" algn="just"/>
            <a:r>
              <a:rPr lang="en-IN" dirty="0"/>
              <a:t>Testing on different devices (desktop, laptop, Android, iOS smartphones)</a:t>
            </a:r>
          </a:p>
          <a:p>
            <a:pPr lvl="0" algn="just"/>
            <a:r>
              <a:rPr lang="en-IN" b="1" dirty="0"/>
              <a:t>Method:</a:t>
            </a:r>
            <a:endParaRPr lang="en-IN" dirty="0"/>
          </a:p>
          <a:p>
            <a:pPr lvl="1" algn="just"/>
            <a:r>
              <a:rPr lang="en-IN" dirty="0"/>
              <a:t>Automated browser testing tools (e.g., Selenium) and manual verification</a:t>
            </a:r>
          </a:p>
          <a:p>
            <a:pPr lvl="1" algn="just"/>
            <a:r>
              <a:rPr lang="en-IN" dirty="0"/>
              <a:t>Cross-device testing using responsive design checkers to verify layout and form alignment</a:t>
            </a:r>
          </a:p>
        </p:txBody>
      </p:sp>
    </p:spTree>
    <p:extLst>
      <p:ext uri="{BB962C8B-B14F-4D97-AF65-F5344CB8AC3E}">
        <p14:creationId xmlns:p14="http://schemas.microsoft.com/office/powerpoint/2010/main" val="953503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ED241-8E13-36F3-DC3F-7A2CA03EF232}"/>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2656CECE-62F7-A6D0-40A4-D63645BDE0BC}"/>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931DD33B-FCB6-9A4C-6490-597E15FDDFB6}"/>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EA02E9F1-DB46-5835-79F9-7AB6D4CF3F30}"/>
              </a:ext>
            </a:extLst>
          </p:cNvPr>
          <p:cNvSpPr>
            <a:spLocks noGrp="1"/>
          </p:cNvSpPr>
          <p:nvPr>
            <p:ph type="sldNum" sz="quarter" idx="12"/>
          </p:nvPr>
        </p:nvSpPr>
        <p:spPr/>
        <p:txBody>
          <a:bodyPr/>
          <a:lstStyle/>
          <a:p>
            <a:fld id="{615D92F5-C6BD-4770-B93B-CCC7110BADD0}" type="slidenum">
              <a:rPr lang="en-US" smtClean="0"/>
              <a:pPr/>
              <a:t>38</a:t>
            </a:fld>
            <a:endParaRPr lang="en-US"/>
          </a:p>
        </p:txBody>
      </p:sp>
      <p:sp>
        <p:nvSpPr>
          <p:cNvPr id="5" name="TextBox 4">
            <a:extLst>
              <a:ext uri="{FF2B5EF4-FFF2-40B4-BE49-F238E27FC236}">
                <a16:creationId xmlns:a16="http://schemas.microsoft.com/office/drawing/2014/main" id="{7BBB5593-51EE-D9A5-E763-9F4A344DC6D9}"/>
              </a:ext>
            </a:extLst>
          </p:cNvPr>
          <p:cNvSpPr txBox="1"/>
          <p:nvPr/>
        </p:nvSpPr>
        <p:spPr>
          <a:xfrm>
            <a:off x="439271" y="349624"/>
            <a:ext cx="8283388" cy="584775"/>
          </a:xfrm>
          <a:prstGeom prst="rect">
            <a:avLst/>
          </a:prstGeom>
          <a:noFill/>
        </p:spPr>
        <p:txBody>
          <a:bodyPr wrap="square" rtlCol="0">
            <a:spAutoFit/>
          </a:bodyPr>
          <a:lstStyle/>
          <a:p>
            <a:pPr fontAlgn="ctr">
              <a:buNone/>
            </a:pPr>
            <a:r>
              <a:rPr lang="en-US" sz="3200" b="1" dirty="0">
                <a:solidFill>
                  <a:srgbClr val="000000"/>
                </a:solidFill>
                <a:latin typeface="Calibri" panose="020F0502020204030204" pitchFamily="34" charset="0"/>
              </a:rPr>
              <a:t>10. T</a:t>
            </a:r>
            <a:r>
              <a:rPr lang="en-IN" sz="3200" b="1" dirty="0" err="1">
                <a:solidFill>
                  <a:srgbClr val="000000"/>
                </a:solidFill>
                <a:latin typeface="Calibri" panose="020F0502020204030204" pitchFamily="34" charset="0"/>
              </a:rPr>
              <a:t>esting</a:t>
            </a:r>
            <a:endParaRPr lang="en-IN" sz="3200" b="1" dirty="0">
              <a:solidFill>
                <a:srgbClr val="000000"/>
              </a:solidFill>
              <a:latin typeface="Calibri" panose="020F0502020204030204" pitchFamily="34" charset="0"/>
            </a:endParaRPr>
          </a:p>
        </p:txBody>
      </p:sp>
      <p:sp>
        <p:nvSpPr>
          <p:cNvPr id="7" name="TextBox 6">
            <a:extLst>
              <a:ext uri="{FF2B5EF4-FFF2-40B4-BE49-F238E27FC236}">
                <a16:creationId xmlns:a16="http://schemas.microsoft.com/office/drawing/2014/main" id="{EEF92B82-43EA-1644-DBE9-91419D13742F}"/>
              </a:ext>
            </a:extLst>
          </p:cNvPr>
          <p:cNvSpPr txBox="1"/>
          <p:nvPr/>
        </p:nvSpPr>
        <p:spPr>
          <a:xfrm>
            <a:off x="478639" y="1105864"/>
            <a:ext cx="8283388" cy="4159921"/>
          </a:xfrm>
          <a:prstGeom prst="rect">
            <a:avLst/>
          </a:prstGeom>
          <a:noFill/>
        </p:spPr>
        <p:txBody>
          <a:bodyPr wrap="square">
            <a:spAutoFit/>
          </a:bodyPr>
          <a:lstStyle/>
          <a:p>
            <a:pPr algn="just">
              <a:lnSpc>
                <a:spcPct val="107000"/>
              </a:lnSpc>
              <a:spcAft>
                <a:spcPts val="800"/>
              </a:spcAft>
              <a:buNone/>
            </a:pPr>
            <a:r>
              <a:rPr lang="en-IN" b="1" kern="100" dirty="0">
                <a:effectLst/>
                <a:latin typeface="Calibri" panose="020F0502020204030204" pitchFamily="34" charset="0"/>
                <a:ea typeface="Calibri" panose="020F0502020204030204" pitchFamily="34" charset="0"/>
                <a:cs typeface="Calibri" panose="020F0502020204030204" pitchFamily="34" charset="0"/>
              </a:rPr>
              <a:t>4. Performance Testing</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Calibri" panose="020F0502020204030204" pitchFamily="34" charset="0"/>
                <a:ea typeface="Calibri" panose="020F0502020204030204" pitchFamily="34" charset="0"/>
                <a:cs typeface="Calibri" panose="020F0502020204030204" pitchFamily="34" charset="0"/>
              </a:rPr>
              <a:t>Objective:</a:t>
            </a:r>
            <a:r>
              <a:rPr lang="en-IN" kern="100" dirty="0">
                <a:effectLst/>
                <a:latin typeface="Calibri" panose="020F0502020204030204" pitchFamily="34" charset="0"/>
                <a:ea typeface="Calibri" panose="020F0502020204030204" pitchFamily="34" charset="0"/>
                <a:cs typeface="Calibri" panose="020F0502020204030204" pitchFamily="34" charset="0"/>
              </a:rPr>
              <a:t> To measure system responsiveness and reliability under normal and high usage.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Calibri" panose="020F0502020204030204" pitchFamily="34" charset="0"/>
                <a:ea typeface="Calibri" panose="020F0502020204030204" pitchFamily="34" charset="0"/>
                <a:cs typeface="Calibri" panose="020F0502020204030204" pitchFamily="34" charset="0"/>
              </a:rPr>
              <a:t>Scope: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Model prediction response time</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External API call response time (Google Maps, FDA API)</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Page loading speed and hospital list rendering</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b="1" kern="100" dirty="0">
                <a:effectLst/>
                <a:latin typeface="Calibri" panose="020F0502020204030204" pitchFamily="34" charset="0"/>
                <a:ea typeface="Calibri" panose="020F0502020204030204" pitchFamily="34" charset="0"/>
                <a:cs typeface="Calibri" panose="020F0502020204030204" pitchFamily="34" charset="0"/>
              </a:rPr>
              <a:t>Method:</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Simulated multiple symptom submissions and location requests concurrently</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pPr lvl="1" algn="just">
              <a:lnSpc>
                <a:spcPct val="107000"/>
              </a:lnSpc>
              <a:spcAft>
                <a:spcPts val="800"/>
              </a:spcAft>
              <a:buSzPts val="1000"/>
              <a:tabLst>
                <a:tab pos="914400" algn="l"/>
              </a:tabLst>
            </a:pPr>
            <a:r>
              <a:rPr lang="en-IN" kern="100" dirty="0">
                <a:effectLst/>
                <a:latin typeface="Calibri" panose="020F0502020204030204" pitchFamily="34" charset="0"/>
                <a:ea typeface="Calibri" panose="020F0502020204030204" pitchFamily="34" charset="0"/>
                <a:cs typeface="Calibri" panose="020F0502020204030204" pitchFamily="34" charset="0"/>
              </a:rPr>
              <a:t>Used tools like </a:t>
            </a:r>
            <a:r>
              <a:rPr lang="en-IN" b="1" kern="100" dirty="0">
                <a:effectLst/>
                <a:latin typeface="Calibri" panose="020F0502020204030204" pitchFamily="34" charset="0"/>
                <a:ea typeface="Calibri" panose="020F0502020204030204" pitchFamily="34" charset="0"/>
                <a:cs typeface="Calibri" panose="020F0502020204030204" pitchFamily="34" charset="0"/>
              </a:rPr>
              <a:t>Postman</a:t>
            </a:r>
            <a:r>
              <a:rPr lang="en-IN" kern="100" dirty="0">
                <a:effectLst/>
                <a:latin typeface="Calibri" panose="020F0502020204030204" pitchFamily="34" charset="0"/>
                <a:ea typeface="Calibri" panose="020F0502020204030204" pitchFamily="34" charset="0"/>
                <a:cs typeface="Calibri" panose="020F0502020204030204" pitchFamily="34" charset="0"/>
              </a:rPr>
              <a:t> and </a:t>
            </a:r>
            <a:r>
              <a:rPr lang="en-IN" b="1" kern="100" dirty="0">
                <a:effectLst/>
                <a:latin typeface="Calibri" panose="020F0502020204030204" pitchFamily="34" charset="0"/>
                <a:ea typeface="Calibri" panose="020F0502020204030204" pitchFamily="34" charset="0"/>
                <a:cs typeface="Calibri" panose="020F0502020204030204" pitchFamily="34" charset="0"/>
              </a:rPr>
              <a:t>JMeter</a:t>
            </a:r>
            <a:r>
              <a:rPr lang="en-IN" kern="100" dirty="0">
                <a:effectLst/>
                <a:latin typeface="Calibri" panose="020F0502020204030204" pitchFamily="34" charset="0"/>
                <a:ea typeface="Calibri" panose="020F0502020204030204" pitchFamily="34" charset="0"/>
                <a:cs typeface="Calibri" panose="020F0502020204030204" pitchFamily="34" charset="0"/>
              </a:rPr>
              <a:t> to measure response times and check for bottlenecks</a:t>
            </a:r>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900447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08DB-C982-F3FD-20DB-7B088BDE4614}"/>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47B66170-B873-FB22-8EF2-88C997EA26A5}"/>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20A48E30-7FA1-38D2-4218-2BD51A2AD6B8}"/>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E37A1D36-453A-FF06-ED08-6B34D228BF2D}"/>
              </a:ext>
            </a:extLst>
          </p:cNvPr>
          <p:cNvSpPr>
            <a:spLocks noGrp="1"/>
          </p:cNvSpPr>
          <p:nvPr>
            <p:ph type="sldNum" sz="quarter" idx="12"/>
          </p:nvPr>
        </p:nvSpPr>
        <p:spPr/>
        <p:txBody>
          <a:bodyPr/>
          <a:lstStyle/>
          <a:p>
            <a:fld id="{615D92F5-C6BD-4770-B93B-CCC7110BADD0}" type="slidenum">
              <a:rPr lang="en-US" smtClean="0"/>
              <a:pPr/>
              <a:t>39</a:t>
            </a:fld>
            <a:endParaRPr lang="en-US"/>
          </a:p>
        </p:txBody>
      </p:sp>
      <p:sp>
        <p:nvSpPr>
          <p:cNvPr id="5" name="TextBox 4">
            <a:extLst>
              <a:ext uri="{FF2B5EF4-FFF2-40B4-BE49-F238E27FC236}">
                <a16:creationId xmlns:a16="http://schemas.microsoft.com/office/drawing/2014/main" id="{B2307868-E4A2-A9F3-F604-830A521897E1}"/>
              </a:ext>
            </a:extLst>
          </p:cNvPr>
          <p:cNvSpPr txBox="1"/>
          <p:nvPr/>
        </p:nvSpPr>
        <p:spPr>
          <a:xfrm>
            <a:off x="439271" y="349624"/>
            <a:ext cx="8283388" cy="584775"/>
          </a:xfrm>
          <a:prstGeom prst="rect">
            <a:avLst/>
          </a:prstGeom>
          <a:noFill/>
        </p:spPr>
        <p:txBody>
          <a:bodyPr wrap="square" rtlCol="0">
            <a:spAutoFit/>
          </a:bodyPr>
          <a:lstStyle/>
          <a:p>
            <a:pPr fontAlgn="ctr">
              <a:buNone/>
            </a:pPr>
            <a:r>
              <a:rPr lang="en-US" sz="3200" b="1" dirty="0">
                <a:solidFill>
                  <a:srgbClr val="000000"/>
                </a:solidFill>
                <a:latin typeface="Calibri" panose="020F0502020204030204" pitchFamily="34" charset="0"/>
              </a:rPr>
              <a:t>10. T</a:t>
            </a:r>
            <a:r>
              <a:rPr lang="en-IN" sz="3200" b="1" dirty="0" err="1">
                <a:solidFill>
                  <a:srgbClr val="000000"/>
                </a:solidFill>
                <a:latin typeface="Calibri" panose="020F0502020204030204" pitchFamily="34" charset="0"/>
              </a:rPr>
              <a:t>esting</a:t>
            </a:r>
            <a:endParaRPr lang="en-IN" sz="32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416A067E-A17B-FFAC-00A8-6852FD3F65A9}"/>
              </a:ext>
            </a:extLst>
          </p:cNvPr>
          <p:cNvSpPr txBox="1"/>
          <p:nvPr/>
        </p:nvSpPr>
        <p:spPr>
          <a:xfrm>
            <a:off x="429219" y="1558212"/>
            <a:ext cx="8209475" cy="2862322"/>
          </a:xfrm>
          <a:prstGeom prst="rect">
            <a:avLst/>
          </a:prstGeom>
          <a:noFill/>
        </p:spPr>
        <p:txBody>
          <a:bodyPr wrap="square">
            <a:spAutoFit/>
          </a:bodyPr>
          <a:lstStyle/>
          <a:p>
            <a:pPr algn="just"/>
            <a:r>
              <a:rPr lang="en-IN" b="1" dirty="0"/>
              <a:t>5. Internationalization (i18n) Testing</a:t>
            </a:r>
            <a:endParaRPr lang="en-IN" dirty="0"/>
          </a:p>
          <a:p>
            <a:pPr lvl="0" algn="just"/>
            <a:r>
              <a:rPr lang="en-IN" b="1" dirty="0"/>
              <a:t>Objective:</a:t>
            </a:r>
            <a:r>
              <a:rPr lang="en-IN" dirty="0"/>
              <a:t> To verify that the multilingual support works correctly and translations are applied everywhere.</a:t>
            </a:r>
          </a:p>
          <a:p>
            <a:pPr lvl="0" algn="just"/>
            <a:r>
              <a:rPr lang="en-IN" b="1" dirty="0"/>
              <a:t>Scope:</a:t>
            </a:r>
            <a:endParaRPr lang="en-IN" dirty="0"/>
          </a:p>
          <a:p>
            <a:pPr lvl="1" algn="just"/>
            <a:r>
              <a:rPr lang="en-IN" dirty="0"/>
              <a:t>Switching languages dynamically (English → Hindi → Gujarati, etc.)</a:t>
            </a:r>
          </a:p>
          <a:p>
            <a:pPr lvl="1" algn="just"/>
            <a:r>
              <a:rPr lang="en-IN" dirty="0"/>
              <a:t>Ensuring that all labels, buttons, alerts, and reports are translated</a:t>
            </a:r>
          </a:p>
          <a:p>
            <a:pPr lvl="1" algn="just"/>
            <a:r>
              <a:rPr lang="en-IN" dirty="0"/>
              <a:t>Checking that layout does not break due to longer translated text</a:t>
            </a:r>
          </a:p>
          <a:p>
            <a:pPr lvl="0" algn="just"/>
            <a:r>
              <a:rPr lang="en-IN" b="1" dirty="0"/>
              <a:t>Method:</a:t>
            </a:r>
            <a:endParaRPr lang="en-IN" dirty="0"/>
          </a:p>
          <a:p>
            <a:pPr lvl="1" algn="just"/>
            <a:r>
              <a:rPr lang="en-IN" dirty="0"/>
              <a:t>Manual verification of translated pages</a:t>
            </a:r>
          </a:p>
          <a:p>
            <a:pPr lvl="1" algn="just"/>
            <a:r>
              <a:rPr lang="en-IN" dirty="0"/>
              <a:t>Validation that no untranslated text or hard-coded strings remain in the UI</a:t>
            </a:r>
          </a:p>
        </p:txBody>
      </p:sp>
    </p:spTree>
    <p:extLst>
      <p:ext uri="{BB962C8B-B14F-4D97-AF65-F5344CB8AC3E}">
        <p14:creationId xmlns:p14="http://schemas.microsoft.com/office/powerpoint/2010/main" val="593991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B1C5B4-B121-7C58-B4A2-143716BC1637}"/>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50A5D174-1917-7D00-E35D-43BBD24FC678}"/>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654E9CAC-3C9C-D5A3-DEAF-0221B390F026}"/>
              </a:ext>
            </a:extLst>
          </p:cNvPr>
          <p:cNvSpPr>
            <a:spLocks noGrp="1"/>
          </p:cNvSpPr>
          <p:nvPr>
            <p:ph type="sldNum" sz="quarter" idx="12"/>
          </p:nvPr>
        </p:nvSpPr>
        <p:spPr/>
        <p:txBody>
          <a:bodyPr/>
          <a:lstStyle/>
          <a:p>
            <a:fld id="{615D92F5-C6BD-4770-B93B-CCC7110BADD0}" type="slidenum">
              <a:rPr lang="en-US" smtClean="0"/>
              <a:pPr/>
              <a:t>40</a:t>
            </a:fld>
            <a:endParaRPr lang="en-US"/>
          </a:p>
        </p:txBody>
      </p:sp>
      <p:sp>
        <p:nvSpPr>
          <p:cNvPr id="5" name="TextBox 4">
            <a:extLst>
              <a:ext uri="{FF2B5EF4-FFF2-40B4-BE49-F238E27FC236}">
                <a16:creationId xmlns:a16="http://schemas.microsoft.com/office/drawing/2014/main" id="{8DF90B90-3D96-65A0-BC86-24E093617168}"/>
              </a:ext>
            </a:extLst>
          </p:cNvPr>
          <p:cNvSpPr txBox="1"/>
          <p:nvPr/>
        </p:nvSpPr>
        <p:spPr>
          <a:xfrm>
            <a:off x="439271" y="349624"/>
            <a:ext cx="8283388" cy="584775"/>
          </a:xfrm>
          <a:prstGeom prst="rect">
            <a:avLst/>
          </a:prstGeom>
          <a:noFill/>
        </p:spPr>
        <p:txBody>
          <a:bodyPr wrap="square" rtlCol="0">
            <a:spAutoFit/>
          </a:bodyPr>
          <a:lstStyle/>
          <a:p>
            <a:pPr fontAlgn="ctr">
              <a:buNone/>
            </a:pPr>
            <a:r>
              <a:rPr lang="en-US" sz="3200" b="1" dirty="0">
                <a:solidFill>
                  <a:srgbClr val="000000"/>
                </a:solidFill>
                <a:latin typeface="Calibri" panose="020F0502020204030204" pitchFamily="34" charset="0"/>
              </a:rPr>
              <a:t>10. T</a:t>
            </a:r>
            <a:r>
              <a:rPr lang="en-IN" sz="3200" b="1" dirty="0" err="1">
                <a:solidFill>
                  <a:srgbClr val="000000"/>
                </a:solidFill>
                <a:latin typeface="Calibri" panose="020F0502020204030204" pitchFamily="34" charset="0"/>
              </a:rPr>
              <a:t>esting</a:t>
            </a:r>
            <a:endParaRPr lang="en-IN" sz="3200" b="1" dirty="0">
              <a:solidFill>
                <a:srgbClr val="000000"/>
              </a:solidFill>
              <a:latin typeface="Calibri" panose="020F0502020204030204" pitchFamily="34" charset="0"/>
            </a:endParaRPr>
          </a:p>
        </p:txBody>
      </p:sp>
      <p:sp>
        <p:nvSpPr>
          <p:cNvPr id="6" name="Rectangle 5">
            <a:extLst>
              <a:ext uri="{FF2B5EF4-FFF2-40B4-BE49-F238E27FC236}">
                <a16:creationId xmlns:a16="http://schemas.microsoft.com/office/drawing/2014/main" id="{B9B35790-7EE2-A497-7CFC-53BCB9F8DD8B}"/>
              </a:ext>
            </a:extLst>
          </p:cNvPr>
          <p:cNvSpPr>
            <a:spLocks noChangeArrowheads="1"/>
          </p:cNvSpPr>
          <p:nvPr/>
        </p:nvSpPr>
        <p:spPr bwMode="auto">
          <a:xfrm>
            <a:off x="439271" y="814177"/>
            <a:ext cx="8151712"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fontAlgn="base"/>
            <a:r>
              <a:rPr lang="en-IN" b="1" dirty="0"/>
              <a:t>10.2 Test Cases</a:t>
            </a:r>
            <a:endParaRPr lang="en-IN" dirty="0"/>
          </a:p>
          <a:p>
            <a:pPr lvl="0" fontAlgn="base"/>
            <a:endParaRPr lang="en-IN" dirty="0"/>
          </a:p>
          <a:p>
            <a:pPr lvl="1"/>
            <a:r>
              <a:rPr lang="en-IN" dirty="0"/>
              <a:t>TC-01 — Load Welcome Page</a:t>
            </a:r>
            <a:br>
              <a:rPr lang="en-IN" dirty="0"/>
            </a:br>
            <a:r>
              <a:rPr lang="en-IN" dirty="0"/>
              <a:t>TC-02 — Enter User Details (Name, Age, Gender, Contact)</a:t>
            </a:r>
            <a:br>
              <a:rPr lang="en-IN" dirty="0"/>
            </a:br>
            <a:r>
              <a:rPr lang="en-IN" dirty="0"/>
              <a:t>TC-03 — Validate User Details (Required Fields / Invalid Inputs)</a:t>
            </a:r>
            <a:br>
              <a:rPr lang="en-IN" dirty="0"/>
            </a:br>
            <a:r>
              <a:rPr lang="en-IN" dirty="0"/>
              <a:t>TC-04 — Navigate to Symptoms Page</a:t>
            </a:r>
            <a:br>
              <a:rPr lang="en-IN" dirty="0"/>
            </a:br>
            <a:r>
              <a:rPr lang="en-IN" dirty="0"/>
              <a:t>TC-05 — Select Symptoms from List</a:t>
            </a:r>
            <a:br>
              <a:rPr lang="en-IN" dirty="0"/>
            </a:br>
            <a:r>
              <a:rPr lang="en-IN" dirty="0"/>
              <a:t>TC-06 — Add / Remove Selected Symptoms</a:t>
            </a:r>
            <a:br>
              <a:rPr lang="en-IN" dirty="0"/>
            </a:br>
            <a:r>
              <a:rPr lang="en-IN" dirty="0"/>
              <a:t>TC-07 — Submit Symptoms for Analysis</a:t>
            </a:r>
            <a:br>
              <a:rPr lang="en-IN" dirty="0"/>
            </a:br>
            <a:r>
              <a:rPr lang="en-IN" dirty="0"/>
              <a:t>TC-08 — Display Predicted Disease Based on Symptoms</a:t>
            </a:r>
            <a:br>
              <a:rPr lang="en-IN" dirty="0"/>
            </a:br>
            <a:r>
              <a:rPr lang="en-IN" dirty="0"/>
              <a:t>TC-09 — Validate Correct Mapping of Symptoms → Disease</a:t>
            </a:r>
            <a:br>
              <a:rPr lang="en-IN" dirty="0"/>
            </a:br>
            <a:r>
              <a:rPr lang="en-IN" dirty="0"/>
              <a:t>TC-10 — Show Recommended Medication for Predicted Disease</a:t>
            </a:r>
            <a:br>
              <a:rPr lang="en-IN" dirty="0"/>
            </a:br>
            <a:r>
              <a:rPr lang="en-IN" dirty="0"/>
              <a:t>TC-11 — Generate User Prescription (PDF / On-Screen)</a:t>
            </a:r>
            <a:br>
              <a:rPr lang="en-IN" dirty="0"/>
            </a:br>
            <a:r>
              <a:rPr lang="en-IN" dirty="0"/>
              <a:t>TC-12 — Download / Save Prescription</a:t>
            </a:r>
            <a:br>
              <a:rPr lang="en-IN" dirty="0"/>
            </a:br>
            <a:r>
              <a:rPr lang="en-IN" dirty="0"/>
              <a:t>TC-13 — Find Nearby Hospitals / Clinics on Map</a:t>
            </a:r>
            <a:br>
              <a:rPr lang="en-IN" dirty="0"/>
            </a:br>
            <a:r>
              <a:rPr lang="en-IN" dirty="0"/>
              <a:t>TC-14 — Fetch Accurate Location Using GPS / Input Address</a:t>
            </a:r>
            <a:br>
              <a:rPr lang="en-IN" dirty="0"/>
            </a:br>
            <a:r>
              <a:rPr lang="en-IN" dirty="0"/>
              <a:t>TC-15 — Display Map Markers for Nearby Health </a:t>
            </a:r>
            <a:r>
              <a:rPr lang="en-IN" dirty="0" err="1"/>
              <a:t>Centers</a:t>
            </a:r>
            <a:br>
              <a:rPr lang="en-IN" dirty="0"/>
            </a:br>
            <a:r>
              <a:rPr lang="en-IN" dirty="0"/>
              <a:t>TC-16 — Open Directions for Selected Hospital / Clinic</a:t>
            </a:r>
          </a:p>
          <a:p>
            <a:endParaRPr lang="en-IN" dirty="0"/>
          </a:p>
        </p:txBody>
      </p:sp>
    </p:spTree>
    <p:extLst>
      <p:ext uri="{BB962C8B-B14F-4D97-AF65-F5344CB8AC3E}">
        <p14:creationId xmlns:p14="http://schemas.microsoft.com/office/powerpoint/2010/main" val="3514867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481398-3F6B-1E58-95F8-D54C6DEC769F}"/>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76564305-EBFE-4B8A-99CB-3317BBFAD8FB}"/>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6F9E8C52-4813-857C-D5B1-8ED14D04780A}"/>
              </a:ext>
            </a:extLst>
          </p:cNvPr>
          <p:cNvSpPr>
            <a:spLocks noGrp="1"/>
          </p:cNvSpPr>
          <p:nvPr>
            <p:ph type="sldNum" sz="quarter" idx="12"/>
          </p:nvPr>
        </p:nvSpPr>
        <p:spPr/>
        <p:txBody>
          <a:bodyPr/>
          <a:lstStyle/>
          <a:p>
            <a:fld id="{615D92F5-C6BD-4770-B93B-CCC7110BADD0}" type="slidenum">
              <a:rPr lang="en-US" smtClean="0"/>
              <a:pPr/>
              <a:t>41</a:t>
            </a:fld>
            <a:endParaRPr lang="en-US"/>
          </a:p>
        </p:txBody>
      </p:sp>
      <p:sp>
        <p:nvSpPr>
          <p:cNvPr id="5" name="TextBox 4">
            <a:extLst>
              <a:ext uri="{FF2B5EF4-FFF2-40B4-BE49-F238E27FC236}">
                <a16:creationId xmlns:a16="http://schemas.microsoft.com/office/drawing/2014/main" id="{082BBFB6-9D15-C8A7-703A-A477879D19F0}"/>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11. Future Enhancement</a:t>
            </a:r>
          </a:p>
        </p:txBody>
      </p:sp>
      <p:sp>
        <p:nvSpPr>
          <p:cNvPr id="8" name="Rectangle 2">
            <a:extLst>
              <a:ext uri="{FF2B5EF4-FFF2-40B4-BE49-F238E27FC236}">
                <a16:creationId xmlns:a16="http://schemas.microsoft.com/office/drawing/2014/main" id="{EF63A1BC-6D8D-D787-CB3E-FD5996E05BF0}"/>
              </a:ext>
            </a:extLst>
          </p:cNvPr>
          <p:cNvSpPr>
            <a:spLocks noChangeArrowheads="1"/>
          </p:cNvSpPr>
          <p:nvPr/>
        </p:nvSpPr>
        <p:spPr bwMode="auto">
          <a:xfrm>
            <a:off x="550506" y="1397675"/>
            <a:ext cx="475861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b="1" dirty="0"/>
              <a:t>User Profiles &amp; History Tracking</a:t>
            </a:r>
            <a:r>
              <a:rPr lang="en-US" altLang="en-US" dirty="0"/>
              <a:t>  </a:t>
            </a:r>
          </a:p>
          <a:p>
            <a:pPr marL="285750" lvl="0" indent="-285750" algn="just" eaLnBrk="0" fontAlgn="base" hangingPunct="0">
              <a:spcBef>
                <a:spcPct val="0"/>
              </a:spcBef>
              <a:spcAft>
                <a:spcPct val="0"/>
              </a:spcAft>
              <a:buFont typeface="Arial" panose="020B0604020202020204" pitchFamily="34" charset="0"/>
              <a:buChar char="•"/>
            </a:pPr>
            <a:r>
              <a:rPr lang="en-US" altLang="en-US" b="1" dirty="0"/>
              <a:t>Doctor Appointment Booking System</a:t>
            </a:r>
            <a:r>
              <a:rPr lang="en-US" altLang="en-US" dirty="0"/>
              <a:t>  </a:t>
            </a:r>
          </a:p>
          <a:p>
            <a:pPr marL="285750" lvl="0" indent="-285750" algn="just" eaLnBrk="0" fontAlgn="base" hangingPunct="0">
              <a:spcBef>
                <a:spcPct val="0"/>
              </a:spcBef>
              <a:spcAft>
                <a:spcPct val="0"/>
              </a:spcAft>
              <a:buFont typeface="Arial" panose="020B0604020202020204" pitchFamily="34" charset="0"/>
              <a:buChar char="•"/>
            </a:pPr>
            <a:r>
              <a:rPr lang="en-US" altLang="en-US" b="1" dirty="0"/>
              <a:t>Predictive Health Analytics</a:t>
            </a:r>
            <a:r>
              <a:rPr lang="en-US" altLang="en-US" dirty="0"/>
              <a:t>  </a:t>
            </a:r>
          </a:p>
          <a:p>
            <a:pPr marL="285750" lvl="0" indent="-285750" algn="just" eaLnBrk="0" fontAlgn="base" hangingPunct="0">
              <a:spcBef>
                <a:spcPct val="0"/>
              </a:spcBef>
              <a:spcAft>
                <a:spcPct val="0"/>
              </a:spcAft>
              <a:buFont typeface="Arial" panose="020B0604020202020204" pitchFamily="34" charset="0"/>
              <a:buChar char="•"/>
            </a:pPr>
            <a:r>
              <a:rPr lang="en-US" altLang="en-US" b="1" dirty="0"/>
              <a:t>Advanced AI Model Integration</a:t>
            </a:r>
            <a:r>
              <a:rPr lang="en-US" altLang="en-US" dirty="0"/>
              <a:t>  </a:t>
            </a:r>
          </a:p>
          <a:p>
            <a:pPr marL="285750" lvl="0" indent="-285750" algn="just" eaLnBrk="0" fontAlgn="base" hangingPunct="0">
              <a:spcBef>
                <a:spcPct val="0"/>
              </a:spcBef>
              <a:spcAft>
                <a:spcPct val="0"/>
              </a:spcAft>
              <a:buFont typeface="Arial" panose="020B0604020202020204" pitchFamily="34" charset="0"/>
              <a:buChar char="•"/>
            </a:pPr>
            <a:r>
              <a:rPr lang="en-US" altLang="en-US" b="1" dirty="0"/>
              <a:t>Mobile App Version</a:t>
            </a:r>
            <a:r>
              <a:rPr lang="en-US" altLang="en-US" dirty="0"/>
              <a:t>  </a:t>
            </a:r>
          </a:p>
          <a:p>
            <a:pPr marL="285750" lvl="0" indent="-285750" algn="just" eaLnBrk="0" fontAlgn="base" hangingPunct="0">
              <a:spcBef>
                <a:spcPct val="0"/>
              </a:spcBef>
              <a:spcAft>
                <a:spcPct val="0"/>
              </a:spcAft>
              <a:buFont typeface="Arial" panose="020B0604020202020204" pitchFamily="34" charset="0"/>
              <a:buChar char="•"/>
            </a:pPr>
            <a:r>
              <a:rPr lang="en-US" altLang="en-US" b="1" dirty="0"/>
              <a:t>Chatbot-Based Symptom Input</a:t>
            </a:r>
            <a:r>
              <a:rPr lang="en-US" altLang="en-US" dirty="0"/>
              <a:t>  </a:t>
            </a:r>
          </a:p>
          <a:p>
            <a:pPr marL="285750" lvl="0" indent="-285750" algn="just" eaLnBrk="0" fontAlgn="base" hangingPunct="0">
              <a:spcBef>
                <a:spcPct val="0"/>
              </a:spcBef>
              <a:spcAft>
                <a:spcPct val="0"/>
              </a:spcAft>
              <a:buFont typeface="Arial" panose="020B0604020202020204" pitchFamily="34" charset="0"/>
              <a:buChar char="•"/>
            </a:pPr>
            <a:r>
              <a:rPr lang="en-US" altLang="en-US" b="1" dirty="0"/>
              <a:t>Admin Dashboard</a:t>
            </a:r>
            <a:r>
              <a:rPr lang="en-US" altLang="en-US" dirty="0"/>
              <a:t>  </a:t>
            </a:r>
          </a:p>
        </p:txBody>
      </p:sp>
    </p:spTree>
    <p:extLst>
      <p:ext uri="{BB962C8B-B14F-4D97-AF65-F5344CB8AC3E}">
        <p14:creationId xmlns:p14="http://schemas.microsoft.com/office/powerpoint/2010/main" val="12039258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489145-137D-CE1E-AD84-F389C6942C36}"/>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38B1D04B-743F-360D-4DED-44D719C4A807}"/>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A1BCA8A4-BF62-D8EC-8D76-09F6C4239E1E}"/>
              </a:ext>
            </a:extLst>
          </p:cNvPr>
          <p:cNvSpPr>
            <a:spLocks noGrp="1"/>
          </p:cNvSpPr>
          <p:nvPr>
            <p:ph type="sldNum" sz="quarter" idx="12"/>
          </p:nvPr>
        </p:nvSpPr>
        <p:spPr/>
        <p:txBody>
          <a:bodyPr/>
          <a:lstStyle/>
          <a:p>
            <a:fld id="{615D92F5-C6BD-4770-B93B-CCC7110BADD0}" type="slidenum">
              <a:rPr lang="en-US" smtClean="0"/>
              <a:pPr/>
              <a:t>42</a:t>
            </a:fld>
            <a:endParaRPr lang="en-US"/>
          </a:p>
        </p:txBody>
      </p:sp>
      <p:sp>
        <p:nvSpPr>
          <p:cNvPr id="5" name="TextBox 4">
            <a:extLst>
              <a:ext uri="{FF2B5EF4-FFF2-40B4-BE49-F238E27FC236}">
                <a16:creationId xmlns:a16="http://schemas.microsoft.com/office/drawing/2014/main" id="{E85A0140-E93D-07E9-4811-A1477C2E5E1B}"/>
              </a:ext>
            </a:extLst>
          </p:cNvPr>
          <p:cNvSpPr txBox="1"/>
          <p:nvPr/>
        </p:nvSpPr>
        <p:spPr>
          <a:xfrm>
            <a:off x="439271" y="349624"/>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12. Bibliography</a:t>
            </a:r>
          </a:p>
        </p:txBody>
      </p:sp>
      <p:sp>
        <p:nvSpPr>
          <p:cNvPr id="6" name="Rectangle 5">
            <a:extLst>
              <a:ext uri="{FF2B5EF4-FFF2-40B4-BE49-F238E27FC236}">
                <a16:creationId xmlns:a16="http://schemas.microsoft.com/office/drawing/2014/main" id="{C0D26209-5525-2316-1C73-C094F708F3A2}"/>
              </a:ext>
            </a:extLst>
          </p:cNvPr>
          <p:cNvSpPr>
            <a:spLocks noChangeArrowheads="1"/>
          </p:cNvSpPr>
          <p:nvPr/>
        </p:nvSpPr>
        <p:spPr bwMode="auto">
          <a:xfrm>
            <a:off x="439271" y="1052391"/>
            <a:ext cx="815171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buFont typeface="Arial" panose="020B0604020202020204" pitchFamily="34" charset="0"/>
              <a:buChar char="•"/>
            </a:pPr>
            <a:r>
              <a:rPr lang="en-IN" b="1" dirty="0"/>
              <a:t>Flask Documentation – A microframework for Python</a:t>
            </a:r>
            <a:br>
              <a:rPr lang="en-IN" dirty="0"/>
            </a:br>
            <a:r>
              <a:rPr lang="en-IN" dirty="0"/>
              <a:t>Official Documentation. Accessed from: </a:t>
            </a:r>
            <a:r>
              <a:rPr lang="en-IN" u="sng" dirty="0">
                <a:hlinkClick r:id="rId2"/>
              </a:rPr>
              <a:t>https://flask.palletsprojects.com/</a:t>
            </a:r>
            <a:br>
              <a:rPr lang="en-IN" dirty="0"/>
            </a:br>
            <a:r>
              <a:rPr lang="en-IN" i="1" dirty="0"/>
              <a:t>Description:</a:t>
            </a:r>
            <a:r>
              <a:rPr lang="en-IN" dirty="0"/>
              <a:t> Provides comprehensive information on Flask, a lightweight Python web framework used for building web applications and APIs.</a:t>
            </a:r>
          </a:p>
          <a:p>
            <a:pPr marL="285750" lvl="0" indent="-285750">
              <a:buFont typeface="Arial" panose="020B0604020202020204" pitchFamily="34" charset="0"/>
              <a:buChar char="•"/>
            </a:pPr>
            <a:r>
              <a:rPr lang="en-IN" b="1" dirty="0"/>
              <a:t>Scikit-learn – Machine Learning in Python</a:t>
            </a:r>
            <a:br>
              <a:rPr lang="en-IN" dirty="0"/>
            </a:br>
            <a:r>
              <a:rPr lang="en-IN" dirty="0"/>
              <a:t>Official Documentation. Accessed from: </a:t>
            </a:r>
            <a:r>
              <a:rPr lang="en-IN" u="sng" dirty="0">
                <a:hlinkClick r:id="rId3"/>
              </a:rPr>
              <a:t>https://scikit-learn.org/</a:t>
            </a:r>
            <a:br>
              <a:rPr lang="en-IN" dirty="0"/>
            </a:br>
            <a:r>
              <a:rPr lang="en-IN" i="1" dirty="0"/>
              <a:t>Description:</a:t>
            </a:r>
            <a:r>
              <a:rPr lang="en-IN" dirty="0"/>
              <a:t> Documentation for scikit-learn, a Python library for machine learning, including classification, regression, clustering, and model evaluation.</a:t>
            </a:r>
          </a:p>
          <a:p>
            <a:pPr marL="285750" lvl="0" indent="-285750">
              <a:buFont typeface="Arial" panose="020B0604020202020204" pitchFamily="34" charset="0"/>
              <a:buChar char="•"/>
            </a:pPr>
            <a:r>
              <a:rPr lang="en-IN" b="1" dirty="0"/>
              <a:t>Pandas – Python Data Analysis Library</a:t>
            </a:r>
            <a:br>
              <a:rPr lang="en-IN" dirty="0"/>
            </a:br>
            <a:r>
              <a:rPr lang="en-IN" dirty="0"/>
              <a:t>Official Documentation. Accessed from: </a:t>
            </a:r>
            <a:r>
              <a:rPr lang="en-IN" u="sng" dirty="0">
                <a:hlinkClick r:id="rId4"/>
              </a:rPr>
              <a:t>https://pandas.pydata.org/</a:t>
            </a:r>
            <a:br>
              <a:rPr lang="en-IN" dirty="0"/>
            </a:br>
            <a:r>
              <a:rPr lang="en-IN" i="1" dirty="0"/>
              <a:t>Description:</a:t>
            </a:r>
            <a:r>
              <a:rPr lang="en-IN" dirty="0"/>
              <a:t> Provides detailed guidance on using pandas for data manipulation, analysis, and handling structured data in Python.</a:t>
            </a:r>
          </a:p>
          <a:p>
            <a:pPr marL="285750" lvl="0" indent="-285750">
              <a:buFont typeface="Arial" panose="020B0604020202020204" pitchFamily="34" charset="0"/>
              <a:buChar char="•"/>
            </a:pPr>
            <a:r>
              <a:rPr lang="en-IN" b="1" dirty="0" err="1"/>
              <a:t>OpenFDA</a:t>
            </a:r>
            <a:r>
              <a:rPr lang="en-IN" b="1" dirty="0"/>
              <a:t> API Documentation</a:t>
            </a:r>
            <a:br>
              <a:rPr lang="en-IN" dirty="0"/>
            </a:br>
            <a:r>
              <a:rPr lang="en-IN" dirty="0"/>
              <a:t>U.S. Food &amp; Drug Administration. Accessed from: </a:t>
            </a:r>
            <a:r>
              <a:rPr lang="en-IN" u="sng" dirty="0">
                <a:hlinkClick r:id="rId5"/>
              </a:rPr>
              <a:t>https://open.fda.gov/apis/</a:t>
            </a:r>
            <a:br>
              <a:rPr lang="en-IN" dirty="0"/>
            </a:br>
            <a:r>
              <a:rPr lang="en-IN" i="1" dirty="0"/>
              <a:t>Description:</a:t>
            </a:r>
            <a:r>
              <a:rPr lang="en-IN" dirty="0"/>
              <a:t> Documentation for the </a:t>
            </a:r>
            <a:r>
              <a:rPr lang="en-IN" dirty="0" err="1"/>
              <a:t>OpenFDA</a:t>
            </a:r>
            <a:r>
              <a:rPr lang="en-IN" dirty="0"/>
              <a:t> API, which allows access to public FDA data including drugs, devices, and adverse events.</a:t>
            </a:r>
          </a:p>
        </p:txBody>
      </p:sp>
    </p:spTree>
    <p:extLst>
      <p:ext uri="{BB962C8B-B14F-4D97-AF65-F5344CB8AC3E}">
        <p14:creationId xmlns:p14="http://schemas.microsoft.com/office/powerpoint/2010/main" val="7696076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BBD0D-8EB7-91BD-B94F-A9EB7164AADB}"/>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4F5F137A-7597-B15B-4F21-F515E96ECF0F}"/>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42615E20-4F85-89A5-978C-6B36FA223A32}"/>
              </a:ext>
            </a:extLst>
          </p:cNvPr>
          <p:cNvSpPr>
            <a:spLocks noGrp="1"/>
          </p:cNvSpPr>
          <p:nvPr>
            <p:ph type="sldNum" sz="quarter" idx="12"/>
          </p:nvPr>
        </p:nvSpPr>
        <p:spPr/>
        <p:txBody>
          <a:bodyPr/>
          <a:lstStyle/>
          <a:p>
            <a:fld id="{615D92F5-C6BD-4770-B93B-CCC7110BADD0}" type="slidenum">
              <a:rPr lang="en-US" smtClean="0"/>
              <a:pPr/>
              <a:t>43</a:t>
            </a:fld>
            <a:endParaRPr lang="en-US"/>
          </a:p>
        </p:txBody>
      </p:sp>
      <p:sp>
        <p:nvSpPr>
          <p:cNvPr id="5" name="TextBox 4">
            <a:extLst>
              <a:ext uri="{FF2B5EF4-FFF2-40B4-BE49-F238E27FC236}">
                <a16:creationId xmlns:a16="http://schemas.microsoft.com/office/drawing/2014/main" id="{8B3B49EF-3D54-4296-540D-20A0953C0BAB}"/>
              </a:ext>
            </a:extLst>
          </p:cNvPr>
          <p:cNvSpPr txBox="1"/>
          <p:nvPr/>
        </p:nvSpPr>
        <p:spPr>
          <a:xfrm>
            <a:off x="439271" y="344993"/>
            <a:ext cx="8283388" cy="584775"/>
          </a:xfrm>
          <a:prstGeom prst="rect">
            <a:avLst/>
          </a:prstGeom>
          <a:noFill/>
        </p:spPr>
        <p:txBody>
          <a:bodyPr wrap="square" rtlCol="0">
            <a:spAutoFit/>
          </a:bodyPr>
          <a:lstStyle/>
          <a:p>
            <a:pPr fontAlgn="ctr">
              <a:buNone/>
            </a:pPr>
            <a:r>
              <a:rPr lang="en-IN" sz="3200" b="1" dirty="0">
                <a:solidFill>
                  <a:srgbClr val="000000"/>
                </a:solidFill>
                <a:latin typeface="Calibri" panose="020F0502020204030204" pitchFamily="34" charset="0"/>
              </a:rPr>
              <a:t>12. Bibliography</a:t>
            </a:r>
          </a:p>
        </p:txBody>
      </p:sp>
      <p:sp>
        <p:nvSpPr>
          <p:cNvPr id="6" name="Rectangle 5">
            <a:extLst>
              <a:ext uri="{FF2B5EF4-FFF2-40B4-BE49-F238E27FC236}">
                <a16:creationId xmlns:a16="http://schemas.microsoft.com/office/drawing/2014/main" id="{8D0FAE16-A6DE-E875-43A2-F2A88B9D30EF}"/>
              </a:ext>
            </a:extLst>
          </p:cNvPr>
          <p:cNvSpPr>
            <a:spLocks noChangeArrowheads="1"/>
          </p:cNvSpPr>
          <p:nvPr/>
        </p:nvSpPr>
        <p:spPr bwMode="auto">
          <a:xfrm>
            <a:off x="439271" y="1226751"/>
            <a:ext cx="815171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buFont typeface="Arial" panose="020B0604020202020204" pitchFamily="34" charset="0"/>
              <a:buChar char="•"/>
            </a:pPr>
            <a:r>
              <a:rPr lang="en-IN" b="1" dirty="0" err="1"/>
              <a:t>Geopy</a:t>
            </a:r>
            <a:r>
              <a:rPr lang="en-IN" b="1" dirty="0"/>
              <a:t> Documentation</a:t>
            </a:r>
            <a:br>
              <a:rPr lang="en-IN" dirty="0"/>
            </a:br>
            <a:r>
              <a:rPr lang="en-IN" dirty="0"/>
              <a:t>A Python Geocoding Toolbox. Accessed from: </a:t>
            </a:r>
            <a:r>
              <a:rPr lang="en-IN" u="sng" dirty="0">
                <a:hlinkClick r:id="rId2"/>
              </a:rPr>
              <a:t>https://geopy.readthedocs.io/</a:t>
            </a:r>
            <a:br>
              <a:rPr lang="en-IN" dirty="0"/>
            </a:br>
            <a:r>
              <a:rPr lang="en-IN" i="1" dirty="0"/>
              <a:t>Description:</a:t>
            </a:r>
            <a:r>
              <a:rPr lang="en-IN" dirty="0"/>
              <a:t> Provides instructions for using </a:t>
            </a:r>
            <a:r>
              <a:rPr lang="en-IN" dirty="0" err="1"/>
              <a:t>Geopy</a:t>
            </a:r>
            <a:r>
              <a:rPr lang="en-IN" dirty="0"/>
              <a:t>, a Python library for geocoding, reverse geocoding, and working with geographic coordinates.</a:t>
            </a:r>
          </a:p>
          <a:p>
            <a:pPr marL="285750" lvl="0" indent="-285750">
              <a:buFont typeface="Arial" panose="020B0604020202020204" pitchFamily="34" charset="0"/>
              <a:buChar char="•"/>
            </a:pPr>
            <a:r>
              <a:rPr lang="en-IN" b="1" dirty="0"/>
              <a:t>Flask-Babel Documentation</a:t>
            </a:r>
            <a:br>
              <a:rPr lang="en-IN" dirty="0"/>
            </a:br>
            <a:r>
              <a:rPr lang="en-IN" dirty="0"/>
              <a:t>Babel Extension for Flask. Accessed from: </a:t>
            </a:r>
            <a:r>
              <a:rPr lang="en-IN" u="sng" dirty="0">
                <a:hlinkClick r:id="rId3"/>
              </a:rPr>
              <a:t>https://pythonhosted.org/Flask-Babel/</a:t>
            </a:r>
            <a:br>
              <a:rPr lang="en-IN" dirty="0"/>
            </a:br>
            <a:r>
              <a:rPr lang="en-IN" i="1" dirty="0"/>
              <a:t>Description:</a:t>
            </a:r>
            <a:r>
              <a:rPr lang="en-IN" dirty="0"/>
              <a:t> Guides the implementation of internationalization (i18n) and localization (l10n) features in Flask applications.</a:t>
            </a:r>
          </a:p>
          <a:p>
            <a:pPr marL="285750" lvl="0" indent="-285750">
              <a:buFont typeface="Arial" panose="020B0604020202020204" pitchFamily="34" charset="0"/>
              <a:buChar char="•"/>
            </a:pPr>
            <a:r>
              <a:rPr lang="en-IN" b="1" dirty="0"/>
              <a:t>Pressman, Roger S.</a:t>
            </a:r>
            <a:r>
              <a:rPr lang="en-IN" dirty="0"/>
              <a:t> </a:t>
            </a:r>
            <a:r>
              <a:rPr lang="en-IN" i="1" dirty="0"/>
              <a:t>Software Engineering: A Practitioner’s Approach</a:t>
            </a:r>
            <a:r>
              <a:rPr lang="en-IN" dirty="0"/>
              <a:t>, McGraw-Hill.</a:t>
            </a:r>
            <a:br>
              <a:rPr lang="en-IN" dirty="0"/>
            </a:br>
            <a:r>
              <a:rPr lang="en-IN" i="1" dirty="0"/>
              <a:t>Description:</a:t>
            </a:r>
            <a:r>
              <a:rPr lang="en-IN" dirty="0"/>
              <a:t> A widely recognized textbook covering software engineering principles, methodologies, and best practices for application development.</a:t>
            </a:r>
          </a:p>
          <a:p>
            <a:pPr marL="285750" lvl="0" indent="-285750">
              <a:buFont typeface="Arial" panose="020B0604020202020204" pitchFamily="34" charset="0"/>
              <a:buChar char="•"/>
            </a:pPr>
            <a:r>
              <a:rPr lang="en-IN" b="1" dirty="0"/>
              <a:t>Sommerville, Ian.</a:t>
            </a:r>
            <a:r>
              <a:rPr lang="en-IN" dirty="0"/>
              <a:t> </a:t>
            </a:r>
            <a:r>
              <a:rPr lang="en-IN" i="1" dirty="0"/>
              <a:t>Software Engineering (10th Edition)</a:t>
            </a:r>
            <a:r>
              <a:rPr lang="en-IN" dirty="0"/>
              <a:t>, Pearson Education, 2015.</a:t>
            </a:r>
            <a:br>
              <a:rPr lang="en-IN" dirty="0"/>
            </a:br>
            <a:r>
              <a:rPr lang="en-IN" i="1" dirty="0"/>
              <a:t>Description:</a:t>
            </a:r>
            <a:r>
              <a:rPr lang="en-IN" dirty="0"/>
              <a:t> Comprehensive guide on software engineering processes, including software development life cycle, design, testing, and maintenance</a:t>
            </a:r>
          </a:p>
        </p:txBody>
      </p:sp>
    </p:spTree>
    <p:extLst>
      <p:ext uri="{BB962C8B-B14F-4D97-AF65-F5344CB8AC3E}">
        <p14:creationId xmlns:p14="http://schemas.microsoft.com/office/powerpoint/2010/main" val="31776427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536490-8EE2-E9D5-A392-EE05CBA5CAD7}"/>
              </a:ext>
            </a:extLst>
          </p:cNvPr>
          <p:cNvSpPr>
            <a:spLocks noGrp="1"/>
          </p:cNvSpPr>
          <p:nvPr>
            <p:ph type="dt" sz="half" idx="10"/>
          </p:nvPr>
        </p:nvSpPr>
        <p:spPr/>
        <p:txBody>
          <a:bodyPr/>
          <a:lstStyle/>
          <a:p>
            <a:r>
              <a:rPr lang="en-US"/>
              <a:t>11/22/2025</a:t>
            </a:r>
          </a:p>
        </p:txBody>
      </p:sp>
      <p:sp>
        <p:nvSpPr>
          <p:cNvPr id="3" name="Footer Placeholder 2">
            <a:extLst>
              <a:ext uri="{FF2B5EF4-FFF2-40B4-BE49-F238E27FC236}">
                <a16:creationId xmlns:a16="http://schemas.microsoft.com/office/drawing/2014/main" id="{82EE8C15-434D-9F53-3C19-4C4A4E1EC3FB}"/>
              </a:ext>
            </a:extLst>
          </p:cNvPr>
          <p:cNvSpPr>
            <a:spLocks noGrp="1"/>
          </p:cNvSpPr>
          <p:nvPr>
            <p:ph type="ftr" sz="quarter" idx="11"/>
          </p:nvPr>
        </p:nvSpPr>
        <p:spPr/>
        <p:txBody>
          <a:bodyPr/>
          <a:lstStyle/>
          <a:p>
            <a:r>
              <a:rPr lang="en-IN" dirty="0" err="1"/>
              <a:t>Diagnoguide</a:t>
            </a:r>
            <a:r>
              <a:rPr lang="en-IN" dirty="0"/>
              <a:t>: AI-Powered Medical Diagnosis &amp; Guidance System </a:t>
            </a:r>
            <a:endParaRPr lang="en-US" dirty="0"/>
          </a:p>
        </p:txBody>
      </p:sp>
      <p:sp>
        <p:nvSpPr>
          <p:cNvPr id="4" name="Slide Number Placeholder 3">
            <a:extLst>
              <a:ext uri="{FF2B5EF4-FFF2-40B4-BE49-F238E27FC236}">
                <a16:creationId xmlns:a16="http://schemas.microsoft.com/office/drawing/2014/main" id="{16FD5C7A-4754-A5C2-F00A-10E63C3AA415}"/>
              </a:ext>
            </a:extLst>
          </p:cNvPr>
          <p:cNvSpPr>
            <a:spLocks noGrp="1"/>
          </p:cNvSpPr>
          <p:nvPr>
            <p:ph type="sldNum" sz="quarter" idx="12"/>
          </p:nvPr>
        </p:nvSpPr>
        <p:spPr/>
        <p:txBody>
          <a:bodyPr/>
          <a:lstStyle/>
          <a:p>
            <a:fld id="{615D92F5-C6BD-4770-B93B-CCC7110BADD0}" type="slidenum">
              <a:rPr lang="en-US" smtClean="0"/>
              <a:pPr/>
              <a:t>44</a:t>
            </a:fld>
            <a:endParaRPr lang="en-US"/>
          </a:p>
        </p:txBody>
      </p:sp>
      <p:sp>
        <p:nvSpPr>
          <p:cNvPr id="5" name="TextBox 4">
            <a:extLst>
              <a:ext uri="{FF2B5EF4-FFF2-40B4-BE49-F238E27FC236}">
                <a16:creationId xmlns:a16="http://schemas.microsoft.com/office/drawing/2014/main" id="{3AD7A168-5E06-CBAA-A8F4-AB65B6047787}"/>
              </a:ext>
            </a:extLst>
          </p:cNvPr>
          <p:cNvSpPr txBox="1"/>
          <p:nvPr/>
        </p:nvSpPr>
        <p:spPr>
          <a:xfrm>
            <a:off x="2356705" y="1462015"/>
            <a:ext cx="5653954" cy="4401205"/>
          </a:xfrm>
          <a:prstGeom prst="rect">
            <a:avLst/>
          </a:prstGeom>
          <a:noFill/>
        </p:spPr>
        <p:txBody>
          <a:bodyPr wrap="square" rtlCol="0">
            <a:spAutoFit/>
          </a:bodyPr>
          <a:lstStyle/>
          <a:p>
            <a:pPr algn="just" fontAlgn="ctr">
              <a:buNone/>
            </a:pPr>
            <a:r>
              <a:rPr lang="en-US" sz="11000" b="1" dirty="0">
                <a:solidFill>
                  <a:srgbClr val="000000"/>
                </a:solidFill>
                <a:latin typeface="Calibri" panose="020F0502020204030204" pitchFamily="34" charset="0"/>
              </a:rPr>
              <a:t>T</a:t>
            </a:r>
            <a:r>
              <a:rPr lang="en-IN" sz="11000" b="1" dirty="0">
                <a:solidFill>
                  <a:srgbClr val="000000"/>
                </a:solidFill>
                <a:latin typeface="Calibri" panose="020F0502020204030204" pitchFamily="34" charset="0"/>
              </a:rPr>
              <a:t>HANK</a:t>
            </a:r>
          </a:p>
          <a:p>
            <a:pPr algn="just" fontAlgn="ctr">
              <a:buNone/>
            </a:pPr>
            <a:r>
              <a:rPr lang="en-IN" sz="11000" b="1" dirty="0">
                <a:solidFill>
                  <a:srgbClr val="000000"/>
                </a:solidFill>
                <a:latin typeface="Calibri" panose="020F0502020204030204" pitchFamily="34" charset="0"/>
              </a:rPr>
              <a:t>   YOU</a:t>
            </a:r>
          </a:p>
          <a:p>
            <a:pPr algn="just" fontAlgn="ctr">
              <a:buNone/>
            </a:pPr>
            <a:endParaRPr lang="en-IN" sz="60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826594226"/>
      </p:ext>
    </p:extLst>
  </p:cSld>
  <p:clrMapOvr>
    <a:masterClrMapping/>
  </p:clrMapOvr>
</p:sld>
</file>

<file path=ppt/theme/theme1.xml><?xml version="1.0" encoding="utf-8"?>
<a:theme xmlns:a="http://schemas.openxmlformats.org/drawingml/2006/main" name="Retrospec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473</TotalTime>
  <Words>4594</Words>
  <Application>Microsoft Office PowerPoint</Application>
  <PresentationFormat>On-screen Show (4:3)</PresentationFormat>
  <Paragraphs>636</Paragraphs>
  <Slides>44</Slides>
  <Notes>1</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Retrospect</vt:lpstr>
      <vt:lpstr>Diagnoguide: AI-Powered Medical Diagnosis &amp; Guidance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Mihir</dc:creator>
  <cp:lastModifiedBy>Parth Patel</cp:lastModifiedBy>
  <cp:revision>36</cp:revision>
  <dcterms:created xsi:type="dcterms:W3CDTF">2017-05-16T07:00:22Z</dcterms:created>
  <dcterms:modified xsi:type="dcterms:W3CDTF">2025-11-22T02:31:32Z</dcterms:modified>
</cp:coreProperties>
</file>